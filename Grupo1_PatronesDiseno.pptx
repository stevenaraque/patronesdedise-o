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39A900"/>
          </a:solidFill>
          <a:ln w="12700">
            <a:solidFill>
              <a:srgbClr val="39A900"/>
            </a:solidFill>
            <a:prstDash val="solid"/>
          </a:ln>
        </p:spPr>
      </p:sp>
      <p:sp>
        <p:nvSpPr>
          <p:cNvPr id="3" name="Shape 1"/>
          <p:cNvSpPr/>
          <p:nvPr/>
        </p:nvSpPr>
        <p:spPr>
          <a:xfrm>
            <a:off x="6858000" y="137160"/>
            <a:ext cx="2286000" cy="5006340"/>
          </a:xfrm>
          <a:prstGeom prst="rect">
            <a:avLst/>
          </a:prstGeom>
          <a:solidFill>
            <a:srgbClr val="071219"/>
          </a:solidFill>
          <a:ln w="12700">
            <a:solidFill>
              <a:srgbClr val="071219"/>
            </a:solidFill>
            <a:prstDash val="solid"/>
          </a:ln>
        </p:spPr>
      </p:sp>
      <p:sp>
        <p:nvSpPr>
          <p:cNvPr id="4" name="Shape 2"/>
          <p:cNvSpPr/>
          <p:nvPr/>
        </p:nvSpPr>
        <p:spPr>
          <a:xfrm>
            <a:off x="6967728" y="731520"/>
            <a:ext cx="54864" cy="3200400"/>
          </a:xfrm>
          <a:prstGeom prst="rect">
            <a:avLst/>
          </a:prstGeom>
          <a:solidFill>
            <a:srgbClr val="39A900"/>
          </a:solidFill>
          <a:ln w="12700">
            <a:solidFill>
              <a:srgbClr val="39A900"/>
            </a:solidFill>
            <a:prstDash val="solid"/>
          </a:ln>
        </p:spPr>
      </p:sp>
      <p:sp>
        <p:nvSpPr>
          <p:cNvPr id="5" name="Text 3"/>
          <p:cNvSpPr/>
          <p:nvPr/>
        </p:nvSpPr>
        <p:spPr>
          <a:xfrm>
            <a:off x="365760" y="457200"/>
            <a:ext cx="2743200" cy="548640"/>
          </a:xfrm>
          <a:prstGeom prst="rect">
            <a:avLst/>
          </a:prstGeom>
          <a:noFill/>
          <a:ln/>
        </p:spPr>
        <p:txBody>
          <a:bodyPr wrap="square" rtlCol="0" anchor="ctr"/>
          <a:lstStyle/>
          <a:p>
            <a:pPr indent="0" marL="0">
              <a:buNone/>
            </a:pPr>
            <a:r>
              <a:rPr lang="en-US" sz="2800" b="1" dirty="0">
                <a:solidFill>
                  <a:srgbClr val="39A900"/>
                </a:solidFill>
                <a:latin typeface="Calibri Black" pitchFamily="34" charset="0"/>
                <a:ea typeface="Calibri Black" pitchFamily="34" charset="-122"/>
                <a:cs typeface="Calibri Black" pitchFamily="34" charset="-120"/>
              </a:rPr>
              <a:t>SENA</a:t>
            </a:r>
            <a:endParaRPr lang="en-US" sz="2800" dirty="0"/>
          </a:p>
        </p:txBody>
      </p:sp>
      <p:sp>
        <p:nvSpPr>
          <p:cNvPr id="6" name="Text 4"/>
          <p:cNvSpPr/>
          <p:nvPr/>
        </p:nvSpPr>
        <p:spPr>
          <a:xfrm>
            <a:off x="365760" y="960120"/>
            <a:ext cx="4572000" cy="292608"/>
          </a:xfrm>
          <a:prstGeom prst="rect">
            <a:avLst/>
          </a:prstGeom>
          <a:noFill/>
          <a:ln/>
        </p:spPr>
        <p:txBody>
          <a:bodyPr wrap="square" rtlCol="0" anchor="ctr"/>
          <a:lstStyle/>
          <a:p>
            <a:pPr indent="0" marL="0">
              <a:buNone/>
            </a:pPr>
            <a:r>
              <a:rPr lang="en-US" sz="1300" dirty="0">
                <a:solidFill>
                  <a:srgbClr val="7A9CC0"/>
                </a:solidFill>
                <a:latin typeface="Calibri" pitchFamily="34" charset="0"/>
                <a:ea typeface="Calibri" pitchFamily="34" charset="-122"/>
                <a:cs typeface="Calibri" pitchFamily="34" charset="-120"/>
              </a:rPr>
              <a:t>Regional Boyacá – CIMM</a:t>
            </a:r>
            <a:endParaRPr lang="en-US" sz="1300" dirty="0"/>
          </a:p>
        </p:txBody>
      </p:sp>
      <p:sp>
        <p:nvSpPr>
          <p:cNvPr id="7" name="Shape 5"/>
          <p:cNvSpPr/>
          <p:nvPr/>
        </p:nvSpPr>
        <p:spPr>
          <a:xfrm>
            <a:off x="365760" y="1325880"/>
            <a:ext cx="6217920" cy="0"/>
          </a:xfrm>
          <a:prstGeom prst="line">
            <a:avLst/>
          </a:prstGeom>
          <a:noFill/>
          <a:ln w="25400">
            <a:solidFill>
              <a:srgbClr val="39A900"/>
            </a:solidFill>
            <a:prstDash val="solid"/>
          </a:ln>
        </p:spPr>
      </p:sp>
      <p:sp>
        <p:nvSpPr>
          <p:cNvPr id="8" name="Text 6"/>
          <p:cNvSpPr/>
          <p:nvPr/>
        </p:nvSpPr>
        <p:spPr>
          <a:xfrm>
            <a:off x="365760" y="1463040"/>
            <a:ext cx="6400800" cy="777240"/>
          </a:xfrm>
          <a:prstGeom prst="rect">
            <a:avLst/>
          </a:prstGeom>
          <a:noFill/>
          <a:ln/>
        </p:spPr>
        <p:txBody>
          <a:bodyPr wrap="square" rtlCol="0" anchor="ctr"/>
          <a:lstStyle/>
          <a:p>
            <a:pPr indent="0" marL="0">
              <a:buNone/>
            </a:pPr>
            <a:r>
              <a:rPr lang="en-US" sz="4000" b="1" dirty="0">
                <a:solidFill>
                  <a:srgbClr val="FFFFFF"/>
                </a:solidFill>
                <a:latin typeface="Calibri Black" pitchFamily="34" charset="0"/>
                <a:ea typeface="Calibri Black" pitchFamily="34" charset="-122"/>
                <a:cs typeface="Calibri Black" pitchFamily="34" charset="-120"/>
              </a:rPr>
              <a:t>Patrones de Diseño</a:t>
            </a:r>
            <a:endParaRPr lang="en-US" sz="4000" dirty="0"/>
          </a:p>
        </p:txBody>
      </p:sp>
      <p:sp>
        <p:nvSpPr>
          <p:cNvPr id="9" name="Text 7"/>
          <p:cNvSpPr/>
          <p:nvPr/>
        </p:nvSpPr>
        <p:spPr>
          <a:xfrm>
            <a:off x="365760" y="2194560"/>
            <a:ext cx="6400800" cy="685800"/>
          </a:xfrm>
          <a:prstGeom prst="rect">
            <a:avLst/>
          </a:prstGeom>
          <a:noFill/>
          <a:ln/>
        </p:spPr>
        <p:txBody>
          <a:bodyPr wrap="square" rtlCol="0" anchor="ctr"/>
          <a:lstStyle/>
          <a:p>
            <a:pPr indent="0" marL="0">
              <a:buNone/>
            </a:pPr>
            <a:r>
              <a:rPr lang="en-US" sz="4000" b="1" dirty="0">
                <a:solidFill>
                  <a:srgbClr val="39A900"/>
                </a:solidFill>
                <a:latin typeface="Calibri Black" pitchFamily="34" charset="0"/>
                <a:ea typeface="Calibri Black" pitchFamily="34" charset="-122"/>
                <a:cs typeface="Calibri Black" pitchFamily="34" charset="-120"/>
              </a:rPr>
              <a:t>en Java</a:t>
            </a:r>
            <a:endParaRPr lang="en-US" sz="4000" dirty="0"/>
          </a:p>
        </p:txBody>
      </p:sp>
      <p:sp>
        <p:nvSpPr>
          <p:cNvPr id="10" name="Text 8"/>
          <p:cNvSpPr/>
          <p:nvPr/>
        </p:nvSpPr>
        <p:spPr>
          <a:xfrm>
            <a:off x="365760" y="2971800"/>
            <a:ext cx="6400800" cy="365760"/>
          </a:xfrm>
          <a:prstGeom prst="rect">
            <a:avLst/>
          </a:prstGeom>
          <a:noFill/>
          <a:ln/>
        </p:spPr>
        <p:txBody>
          <a:bodyPr wrap="square" rtlCol="0" anchor="ctr"/>
          <a:lstStyle/>
          <a:p>
            <a:pPr indent="0" marL="0">
              <a:buNone/>
            </a:pPr>
            <a:r>
              <a:rPr lang="en-US" sz="1800" b="1" dirty="0">
                <a:solidFill>
                  <a:srgbClr val="F59E0B"/>
                </a:solidFill>
                <a:latin typeface="Calibri" pitchFamily="34" charset="0"/>
                <a:ea typeface="Calibri" pitchFamily="34" charset="-122"/>
                <a:cs typeface="Calibri" pitchFamily="34" charset="-120"/>
              </a:rPr>
              <a:t>Grupo 1</a:t>
            </a:r>
            <a:endParaRPr lang="en-US" sz="1800" dirty="0"/>
          </a:p>
        </p:txBody>
      </p:sp>
      <p:sp>
        <p:nvSpPr>
          <p:cNvPr id="11" name="Text 9"/>
          <p:cNvSpPr/>
          <p:nvPr/>
        </p:nvSpPr>
        <p:spPr>
          <a:xfrm>
            <a:off x="365760" y="3337560"/>
            <a:ext cx="6400800" cy="594360"/>
          </a:xfrm>
          <a:prstGeom prst="rect">
            <a:avLst/>
          </a:prstGeom>
          <a:noFill/>
          <a:ln/>
        </p:spPr>
        <p:txBody>
          <a:bodyPr wrap="square" rtlCol="0" anchor="ctr"/>
          <a:lstStyle/>
          <a:p>
            <a:pPr indent="0" marL="0">
              <a:buNone/>
            </a:pPr>
            <a:r>
              <a:rPr lang="en-US" sz="1300" dirty="0">
                <a:solidFill>
                  <a:srgbClr val="AABBCC"/>
                </a:solidFill>
                <a:latin typeface="Calibri" pitchFamily="34" charset="0"/>
                <a:ea typeface="Calibri" pitchFamily="34" charset="-122"/>
                <a:cs typeface="Calibri" pitchFamily="34" charset="-120"/>
              </a:rPr>
              <a:t>Reinaldo  •  Joan  •  Steven</a:t>
            </a:r>
            <a:endParaRPr lang="en-US" sz="1300" dirty="0"/>
          </a:p>
          <a:p>
            <a:pPr indent="0" marL="0">
              <a:buNone/>
            </a:pPr>
            <a:r>
              <a:rPr lang="en-US" sz="1300" dirty="0">
                <a:solidFill>
                  <a:srgbClr val="AABBCC"/>
                </a:solidFill>
                <a:latin typeface="Calibri" pitchFamily="34" charset="0"/>
                <a:ea typeface="Calibri" pitchFamily="34" charset="-122"/>
                <a:cs typeface="Calibri" pitchFamily="34" charset="-120"/>
              </a:rPr>
              <a:t>Tecnología ADSO  |  Ficha 3171062  |  Marzo 2026</a:t>
            </a:r>
            <a:endParaRPr lang="en-US" sz="1300" dirty="0"/>
          </a:p>
        </p:txBody>
      </p:sp>
      <p:sp>
        <p:nvSpPr>
          <p:cNvPr id="12" name="Text 10"/>
          <p:cNvSpPr/>
          <p:nvPr/>
        </p:nvSpPr>
        <p:spPr>
          <a:xfrm>
            <a:off x="7040880" y="1463040"/>
            <a:ext cx="1828800" cy="457200"/>
          </a:xfrm>
          <a:prstGeom prst="rect">
            <a:avLst/>
          </a:prstGeom>
          <a:noFill/>
          <a:ln/>
        </p:spPr>
        <p:txBody>
          <a:bodyPr wrap="square" rtlCol="0" anchor="ctr"/>
          <a:lstStyle/>
          <a:p>
            <a:pPr algn="ctr" indent="0" marL="0">
              <a:buNone/>
            </a:pPr>
            <a:r>
              <a:rPr lang="en-US" sz="2200" b="1" dirty="0">
                <a:solidFill>
                  <a:srgbClr val="39A900"/>
                </a:solidFill>
                <a:latin typeface="Calibri" pitchFamily="34" charset="0"/>
                <a:ea typeface="Calibri" pitchFamily="34" charset="-122"/>
                <a:cs typeface="Calibri" pitchFamily="34" charset="-120"/>
              </a:rPr>
              <a:t>5 Patrones</a:t>
            </a:r>
            <a:endParaRPr lang="en-US" sz="2200" dirty="0"/>
          </a:p>
        </p:txBody>
      </p:sp>
      <p:sp>
        <p:nvSpPr>
          <p:cNvPr id="13" name="Text 11"/>
          <p:cNvSpPr/>
          <p:nvPr/>
        </p:nvSpPr>
        <p:spPr>
          <a:xfrm>
            <a:off x="7022592" y="1965960"/>
            <a:ext cx="1920240" cy="420624"/>
          </a:xfrm>
          <a:prstGeom prst="rect">
            <a:avLst/>
          </a:prstGeom>
          <a:noFill/>
          <a:ln/>
        </p:spPr>
        <p:txBody>
          <a:bodyPr wrap="square" rtlCol="0" anchor="ctr"/>
          <a:lstStyle/>
          <a:p>
            <a:pPr algn="ctr" indent="0" marL="0">
              <a:buNone/>
            </a:pPr>
            <a:r>
              <a:rPr lang="en-US" sz="950" dirty="0">
                <a:solidFill>
                  <a:srgbClr val="AABBCC"/>
                </a:solidFill>
                <a:latin typeface="Calibri" pitchFamily="34" charset="0"/>
                <a:ea typeface="Calibri" pitchFamily="34" charset="-122"/>
                <a:cs typeface="Calibri" pitchFamily="34" charset="-120"/>
              </a:rPr>
              <a:t>Factory Method</a:t>
            </a:r>
            <a:endParaRPr lang="en-US" sz="950" dirty="0"/>
          </a:p>
        </p:txBody>
      </p:sp>
      <p:sp>
        <p:nvSpPr>
          <p:cNvPr id="14" name="Shape 12"/>
          <p:cNvSpPr/>
          <p:nvPr/>
        </p:nvSpPr>
        <p:spPr>
          <a:xfrm>
            <a:off x="7022592" y="1965960"/>
            <a:ext cx="1920240" cy="420624"/>
          </a:xfrm>
          <a:prstGeom prst="rect">
            <a:avLst/>
          </a:prstGeom>
          <a:solidFill>
            <a:srgbClr val="1F3864">
              <a:alpha val="70000"/>
            </a:srgbClr>
          </a:solidFill>
          <a:ln w="12700">
            <a:solidFill>
              <a:srgbClr val="2A4A6A"/>
            </a:solidFill>
            <a:prstDash val="solid"/>
          </a:ln>
        </p:spPr>
      </p:sp>
      <p:sp>
        <p:nvSpPr>
          <p:cNvPr id="15" name="Text 13"/>
          <p:cNvSpPr/>
          <p:nvPr/>
        </p:nvSpPr>
        <p:spPr>
          <a:xfrm>
            <a:off x="7022592" y="1965960"/>
            <a:ext cx="1920240" cy="420624"/>
          </a:xfrm>
          <a:prstGeom prst="rect">
            <a:avLst/>
          </a:prstGeom>
          <a:noFill/>
          <a:ln/>
        </p:spPr>
        <p:txBody>
          <a:bodyPr wrap="square" rtlCol="0" anchor="ctr"/>
          <a:lstStyle/>
          <a:p>
            <a:pPr algn="ctr" indent="0" marL="0">
              <a:buNone/>
            </a:pPr>
            <a:r>
              <a:rPr lang="en-US" sz="950" dirty="0">
                <a:solidFill>
                  <a:srgbClr val="AABBCC"/>
                </a:solidFill>
                <a:latin typeface="Calibri" pitchFamily="34" charset="0"/>
                <a:ea typeface="Calibri" pitchFamily="34" charset="-122"/>
                <a:cs typeface="Calibri" pitchFamily="34" charset="-120"/>
              </a:rPr>
              <a:t>Factory Method</a:t>
            </a:r>
            <a:endParaRPr lang="en-US" sz="950" dirty="0"/>
          </a:p>
        </p:txBody>
      </p:sp>
      <p:sp>
        <p:nvSpPr>
          <p:cNvPr id="16" name="Text 14"/>
          <p:cNvSpPr/>
          <p:nvPr/>
        </p:nvSpPr>
        <p:spPr>
          <a:xfrm>
            <a:off x="7022592" y="2441448"/>
            <a:ext cx="1920240" cy="420624"/>
          </a:xfrm>
          <a:prstGeom prst="rect">
            <a:avLst/>
          </a:prstGeom>
          <a:noFill/>
          <a:ln/>
        </p:spPr>
        <p:txBody>
          <a:bodyPr wrap="square" rtlCol="0" anchor="ctr"/>
          <a:lstStyle/>
          <a:p>
            <a:pPr algn="ctr" indent="0" marL="0">
              <a:buNone/>
            </a:pPr>
            <a:r>
              <a:rPr lang="en-US" sz="950" dirty="0">
                <a:solidFill>
                  <a:srgbClr val="AABBCC"/>
                </a:solidFill>
                <a:latin typeface="Calibri" pitchFamily="34" charset="0"/>
                <a:ea typeface="Calibri" pitchFamily="34" charset="-122"/>
                <a:cs typeface="Calibri" pitchFamily="34" charset="-120"/>
              </a:rPr>
              <a:t>Abstract Factory</a:t>
            </a:r>
            <a:endParaRPr lang="en-US" sz="950" dirty="0"/>
          </a:p>
        </p:txBody>
      </p:sp>
      <p:sp>
        <p:nvSpPr>
          <p:cNvPr id="17" name="Shape 15"/>
          <p:cNvSpPr/>
          <p:nvPr/>
        </p:nvSpPr>
        <p:spPr>
          <a:xfrm>
            <a:off x="7022592" y="2441448"/>
            <a:ext cx="1920240" cy="420624"/>
          </a:xfrm>
          <a:prstGeom prst="rect">
            <a:avLst/>
          </a:prstGeom>
          <a:solidFill>
            <a:srgbClr val="1F3864">
              <a:alpha val="70000"/>
            </a:srgbClr>
          </a:solidFill>
          <a:ln w="12700">
            <a:solidFill>
              <a:srgbClr val="2A4A6A"/>
            </a:solidFill>
            <a:prstDash val="solid"/>
          </a:ln>
        </p:spPr>
      </p:sp>
      <p:sp>
        <p:nvSpPr>
          <p:cNvPr id="18" name="Text 16"/>
          <p:cNvSpPr/>
          <p:nvPr/>
        </p:nvSpPr>
        <p:spPr>
          <a:xfrm>
            <a:off x="7022592" y="2441448"/>
            <a:ext cx="1920240" cy="420624"/>
          </a:xfrm>
          <a:prstGeom prst="rect">
            <a:avLst/>
          </a:prstGeom>
          <a:noFill/>
          <a:ln/>
        </p:spPr>
        <p:txBody>
          <a:bodyPr wrap="square" rtlCol="0" anchor="ctr"/>
          <a:lstStyle/>
          <a:p>
            <a:pPr algn="ctr" indent="0" marL="0">
              <a:buNone/>
            </a:pPr>
            <a:r>
              <a:rPr lang="en-US" sz="950" dirty="0">
                <a:solidFill>
                  <a:srgbClr val="AABBCC"/>
                </a:solidFill>
                <a:latin typeface="Calibri" pitchFamily="34" charset="0"/>
                <a:ea typeface="Calibri" pitchFamily="34" charset="-122"/>
                <a:cs typeface="Calibri" pitchFamily="34" charset="-120"/>
              </a:rPr>
              <a:t>Abstract Factory</a:t>
            </a:r>
            <a:endParaRPr lang="en-US" sz="950" dirty="0"/>
          </a:p>
        </p:txBody>
      </p:sp>
      <p:sp>
        <p:nvSpPr>
          <p:cNvPr id="19" name="Text 17"/>
          <p:cNvSpPr/>
          <p:nvPr/>
        </p:nvSpPr>
        <p:spPr>
          <a:xfrm>
            <a:off x="7022592" y="2916936"/>
            <a:ext cx="1920240" cy="420624"/>
          </a:xfrm>
          <a:prstGeom prst="rect">
            <a:avLst/>
          </a:prstGeom>
          <a:noFill/>
          <a:ln/>
        </p:spPr>
        <p:txBody>
          <a:bodyPr wrap="square" rtlCol="0" anchor="ctr"/>
          <a:lstStyle/>
          <a:p>
            <a:pPr algn="ctr" indent="0" marL="0">
              <a:buNone/>
            </a:pPr>
            <a:r>
              <a:rPr lang="en-US" sz="950" dirty="0">
                <a:solidFill>
                  <a:srgbClr val="AABBCC"/>
                </a:solidFill>
                <a:latin typeface="Calibri" pitchFamily="34" charset="0"/>
                <a:ea typeface="Calibri" pitchFamily="34" charset="-122"/>
                <a:cs typeface="Calibri" pitchFamily="34" charset="-120"/>
              </a:rPr>
              <a:t>Builder</a:t>
            </a:r>
            <a:endParaRPr lang="en-US" sz="950" dirty="0"/>
          </a:p>
        </p:txBody>
      </p:sp>
      <p:sp>
        <p:nvSpPr>
          <p:cNvPr id="20" name="Shape 18"/>
          <p:cNvSpPr/>
          <p:nvPr/>
        </p:nvSpPr>
        <p:spPr>
          <a:xfrm>
            <a:off x="7022592" y="2916936"/>
            <a:ext cx="1920240" cy="420624"/>
          </a:xfrm>
          <a:prstGeom prst="rect">
            <a:avLst/>
          </a:prstGeom>
          <a:solidFill>
            <a:srgbClr val="1F3864">
              <a:alpha val="70000"/>
            </a:srgbClr>
          </a:solidFill>
          <a:ln w="12700">
            <a:solidFill>
              <a:srgbClr val="2A4A6A"/>
            </a:solidFill>
            <a:prstDash val="solid"/>
          </a:ln>
        </p:spPr>
      </p:sp>
      <p:sp>
        <p:nvSpPr>
          <p:cNvPr id="21" name="Text 19"/>
          <p:cNvSpPr/>
          <p:nvPr/>
        </p:nvSpPr>
        <p:spPr>
          <a:xfrm>
            <a:off x="7022592" y="2916936"/>
            <a:ext cx="1920240" cy="420624"/>
          </a:xfrm>
          <a:prstGeom prst="rect">
            <a:avLst/>
          </a:prstGeom>
          <a:noFill/>
          <a:ln/>
        </p:spPr>
        <p:txBody>
          <a:bodyPr wrap="square" rtlCol="0" anchor="ctr"/>
          <a:lstStyle/>
          <a:p>
            <a:pPr algn="ctr" indent="0" marL="0">
              <a:buNone/>
            </a:pPr>
            <a:r>
              <a:rPr lang="en-US" sz="950" dirty="0">
                <a:solidFill>
                  <a:srgbClr val="AABBCC"/>
                </a:solidFill>
                <a:latin typeface="Calibri" pitchFamily="34" charset="0"/>
                <a:ea typeface="Calibri" pitchFamily="34" charset="-122"/>
                <a:cs typeface="Calibri" pitchFamily="34" charset="-120"/>
              </a:rPr>
              <a:t>Builder</a:t>
            </a:r>
            <a:endParaRPr lang="en-US" sz="950" dirty="0"/>
          </a:p>
        </p:txBody>
      </p:sp>
      <p:sp>
        <p:nvSpPr>
          <p:cNvPr id="22" name="Text 20"/>
          <p:cNvSpPr/>
          <p:nvPr/>
        </p:nvSpPr>
        <p:spPr>
          <a:xfrm>
            <a:off x="7022592" y="3392424"/>
            <a:ext cx="1920240" cy="420624"/>
          </a:xfrm>
          <a:prstGeom prst="rect">
            <a:avLst/>
          </a:prstGeom>
          <a:noFill/>
          <a:ln/>
        </p:spPr>
        <p:txBody>
          <a:bodyPr wrap="square" rtlCol="0" anchor="ctr"/>
          <a:lstStyle/>
          <a:p>
            <a:pPr algn="ctr" indent="0" marL="0">
              <a:buNone/>
            </a:pPr>
            <a:r>
              <a:rPr lang="en-US" sz="950" dirty="0">
                <a:solidFill>
                  <a:srgbClr val="AABBCC"/>
                </a:solidFill>
                <a:latin typeface="Calibri" pitchFamily="34" charset="0"/>
                <a:ea typeface="Calibri" pitchFamily="34" charset="-122"/>
                <a:cs typeface="Calibri" pitchFamily="34" charset="-120"/>
              </a:rPr>
              <a:t>Singleton</a:t>
            </a:r>
            <a:endParaRPr lang="en-US" sz="950" dirty="0"/>
          </a:p>
        </p:txBody>
      </p:sp>
      <p:sp>
        <p:nvSpPr>
          <p:cNvPr id="23" name="Shape 21"/>
          <p:cNvSpPr/>
          <p:nvPr/>
        </p:nvSpPr>
        <p:spPr>
          <a:xfrm>
            <a:off x="7022592" y="3392424"/>
            <a:ext cx="1920240" cy="420624"/>
          </a:xfrm>
          <a:prstGeom prst="rect">
            <a:avLst/>
          </a:prstGeom>
          <a:solidFill>
            <a:srgbClr val="1F3864">
              <a:alpha val="70000"/>
            </a:srgbClr>
          </a:solidFill>
          <a:ln w="12700">
            <a:solidFill>
              <a:srgbClr val="2A4A6A"/>
            </a:solidFill>
            <a:prstDash val="solid"/>
          </a:ln>
        </p:spPr>
      </p:sp>
      <p:sp>
        <p:nvSpPr>
          <p:cNvPr id="24" name="Text 22"/>
          <p:cNvSpPr/>
          <p:nvPr/>
        </p:nvSpPr>
        <p:spPr>
          <a:xfrm>
            <a:off x="7022592" y="3392424"/>
            <a:ext cx="1920240" cy="420624"/>
          </a:xfrm>
          <a:prstGeom prst="rect">
            <a:avLst/>
          </a:prstGeom>
          <a:noFill/>
          <a:ln/>
        </p:spPr>
        <p:txBody>
          <a:bodyPr wrap="square" rtlCol="0" anchor="ctr"/>
          <a:lstStyle/>
          <a:p>
            <a:pPr algn="ctr" indent="0" marL="0">
              <a:buNone/>
            </a:pPr>
            <a:r>
              <a:rPr lang="en-US" sz="950" dirty="0">
                <a:solidFill>
                  <a:srgbClr val="AABBCC"/>
                </a:solidFill>
                <a:latin typeface="Calibri" pitchFamily="34" charset="0"/>
                <a:ea typeface="Calibri" pitchFamily="34" charset="-122"/>
                <a:cs typeface="Calibri" pitchFamily="34" charset="-120"/>
              </a:rPr>
              <a:t>Singleton</a:t>
            </a:r>
            <a:endParaRPr lang="en-US" sz="950" dirty="0"/>
          </a:p>
        </p:txBody>
      </p:sp>
      <p:sp>
        <p:nvSpPr>
          <p:cNvPr id="25" name="Text 23"/>
          <p:cNvSpPr/>
          <p:nvPr/>
        </p:nvSpPr>
        <p:spPr>
          <a:xfrm>
            <a:off x="7022592" y="3867912"/>
            <a:ext cx="1920240" cy="420624"/>
          </a:xfrm>
          <a:prstGeom prst="rect">
            <a:avLst/>
          </a:prstGeom>
          <a:noFill/>
          <a:ln/>
        </p:spPr>
        <p:txBody>
          <a:bodyPr wrap="square" rtlCol="0" anchor="ctr"/>
          <a:lstStyle/>
          <a:p>
            <a:pPr algn="ctr" indent="0" marL="0">
              <a:buNone/>
            </a:pPr>
            <a:r>
              <a:rPr lang="en-US" sz="950" dirty="0">
                <a:solidFill>
                  <a:srgbClr val="AABBCC"/>
                </a:solidFill>
                <a:latin typeface="Calibri" pitchFamily="34" charset="0"/>
                <a:ea typeface="Calibri" pitchFamily="34" charset="-122"/>
                <a:cs typeface="Calibri" pitchFamily="34" charset="-120"/>
              </a:rPr>
              <a:t>MVC</a:t>
            </a:r>
            <a:endParaRPr lang="en-US" sz="950" dirty="0"/>
          </a:p>
        </p:txBody>
      </p:sp>
      <p:sp>
        <p:nvSpPr>
          <p:cNvPr id="26" name="Shape 24"/>
          <p:cNvSpPr/>
          <p:nvPr/>
        </p:nvSpPr>
        <p:spPr>
          <a:xfrm>
            <a:off x="7022592" y="3867912"/>
            <a:ext cx="1920240" cy="420624"/>
          </a:xfrm>
          <a:prstGeom prst="rect">
            <a:avLst/>
          </a:prstGeom>
          <a:solidFill>
            <a:srgbClr val="1F3864">
              <a:alpha val="70000"/>
            </a:srgbClr>
          </a:solidFill>
          <a:ln w="12700">
            <a:solidFill>
              <a:srgbClr val="2A4A6A"/>
            </a:solidFill>
            <a:prstDash val="solid"/>
          </a:ln>
        </p:spPr>
      </p:sp>
      <p:sp>
        <p:nvSpPr>
          <p:cNvPr id="27" name="Text 25"/>
          <p:cNvSpPr/>
          <p:nvPr/>
        </p:nvSpPr>
        <p:spPr>
          <a:xfrm>
            <a:off x="7022592" y="3867912"/>
            <a:ext cx="1920240" cy="420624"/>
          </a:xfrm>
          <a:prstGeom prst="rect">
            <a:avLst/>
          </a:prstGeom>
          <a:noFill/>
          <a:ln/>
        </p:spPr>
        <p:txBody>
          <a:bodyPr wrap="square" rtlCol="0" anchor="ctr"/>
          <a:lstStyle/>
          <a:p>
            <a:pPr algn="ctr" indent="0" marL="0">
              <a:buNone/>
            </a:pPr>
            <a:r>
              <a:rPr lang="en-US" sz="950" dirty="0">
                <a:solidFill>
                  <a:srgbClr val="AABBCC"/>
                </a:solidFill>
                <a:latin typeface="Calibri" pitchFamily="34" charset="0"/>
                <a:ea typeface="Calibri" pitchFamily="34" charset="-122"/>
                <a:cs typeface="Calibri" pitchFamily="34" charset="-120"/>
              </a:rPr>
              <a:t>MVC</a:t>
            </a:r>
            <a:endParaRPr lang="en-US" sz="950" dirty="0"/>
          </a:p>
        </p:txBody>
      </p:sp>
      <p:sp>
        <p:nvSpPr>
          <p:cNvPr id="28" name="Shape 26"/>
          <p:cNvSpPr/>
          <p:nvPr/>
        </p:nvSpPr>
        <p:spPr>
          <a:xfrm>
            <a:off x="0" y="4846320"/>
            <a:ext cx="9144000" cy="297180"/>
          </a:xfrm>
          <a:prstGeom prst="rect">
            <a:avLst/>
          </a:prstGeom>
          <a:solidFill>
            <a:srgbClr val="1F3864"/>
          </a:solidFill>
          <a:ln w="12700">
            <a:solidFill>
              <a:srgbClr val="1F3864"/>
            </a:solidFill>
            <a:prstDash val="solid"/>
          </a:ln>
        </p:spPr>
      </p:sp>
      <p:sp>
        <p:nvSpPr>
          <p:cNvPr id="29" name="Text 27"/>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30" name="Text 28"/>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1/32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39A900"/>
          </a:solidFill>
          <a:ln w="12700">
            <a:solidFill>
              <a:srgbClr val="39A900"/>
            </a:solidFill>
            <a:prstDash val="solid"/>
          </a:ln>
        </p:spPr>
      </p:sp>
      <p:sp>
        <p:nvSpPr>
          <p:cNvPr id="3" name="Shape 1"/>
          <p:cNvSpPr/>
          <p:nvPr/>
        </p:nvSpPr>
        <p:spPr>
          <a:xfrm>
            <a:off x="0" y="109728"/>
            <a:ext cx="73152" cy="5033772"/>
          </a:xfrm>
          <a:prstGeom prst="rect">
            <a:avLst/>
          </a:prstGeom>
          <a:solidFill>
            <a:srgbClr val="39A900"/>
          </a:solidFill>
          <a:ln w="12700">
            <a:solidFill>
              <a:srgbClr val="39A900"/>
            </a:solidFill>
            <a:prstDash val="solid"/>
          </a:ln>
        </p:spPr>
      </p:sp>
      <p:sp>
        <p:nvSpPr>
          <p:cNvPr id="4" name="Text 2"/>
          <p:cNvSpPr/>
          <p:nvPr/>
        </p:nvSpPr>
        <p:spPr>
          <a:xfrm>
            <a:off x="274320" y="182880"/>
            <a:ext cx="8595360" cy="548640"/>
          </a:xfrm>
          <a:prstGeom prst="rect">
            <a:avLst/>
          </a:prstGeom>
          <a:noFill/>
          <a:ln/>
        </p:spPr>
        <p:txBody>
          <a:bodyPr wrap="square" rtlCol="0" anchor="ctr"/>
          <a:lstStyle/>
          <a:p>
            <a:pPr indent="0" marL="0">
              <a:buNone/>
            </a:pPr>
            <a:r>
              <a:rPr lang="en-US" sz="2800" b="1" dirty="0">
                <a:solidFill>
                  <a:srgbClr val="1F3864"/>
                </a:solidFill>
                <a:latin typeface="Calibri Black" pitchFamily="34" charset="0"/>
                <a:ea typeface="Calibri Black" pitchFamily="34" charset="-122"/>
                <a:cs typeface="Calibri Black" pitchFamily="34" charset="-120"/>
              </a:rPr>
              <a:t>Agenda de la Exposición</a:t>
            </a:r>
            <a:endParaRPr lang="en-US" sz="2800" dirty="0"/>
          </a:p>
        </p:txBody>
      </p:sp>
      <p:sp>
        <p:nvSpPr>
          <p:cNvPr id="5" name="Shape 3"/>
          <p:cNvSpPr/>
          <p:nvPr/>
        </p:nvSpPr>
        <p:spPr>
          <a:xfrm>
            <a:off x="228600" y="914400"/>
            <a:ext cx="4206240" cy="11704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6" name="Shape 4"/>
          <p:cNvSpPr/>
          <p:nvPr/>
        </p:nvSpPr>
        <p:spPr>
          <a:xfrm>
            <a:off x="228600" y="914400"/>
            <a:ext cx="475488" cy="1170432"/>
          </a:xfrm>
          <a:prstGeom prst="rect">
            <a:avLst/>
          </a:prstGeom>
          <a:solidFill>
            <a:srgbClr val="2D8200"/>
          </a:solidFill>
          <a:ln w="12700">
            <a:solidFill>
              <a:srgbClr val="1F3864"/>
            </a:solidFill>
            <a:prstDash val="solid"/>
          </a:ln>
        </p:spPr>
      </p:sp>
      <p:sp>
        <p:nvSpPr>
          <p:cNvPr id="7" name="Text 5"/>
          <p:cNvSpPr/>
          <p:nvPr/>
        </p:nvSpPr>
        <p:spPr>
          <a:xfrm>
            <a:off x="228600" y="914400"/>
            <a:ext cx="475488" cy="117043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8" name="Text 6"/>
          <p:cNvSpPr/>
          <p:nvPr/>
        </p:nvSpPr>
        <p:spPr>
          <a:xfrm>
            <a:off x="777240" y="1005840"/>
            <a:ext cx="3520440" cy="320040"/>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Conceptos Generales</a:t>
            </a:r>
            <a:endParaRPr lang="en-US" sz="1300" dirty="0"/>
          </a:p>
        </p:txBody>
      </p:sp>
      <p:sp>
        <p:nvSpPr>
          <p:cNvPr id="9" name="Text 7"/>
          <p:cNvSpPr/>
          <p:nvPr/>
        </p:nvSpPr>
        <p:spPr>
          <a:xfrm>
            <a:off x="777240" y="1316736"/>
            <a:ext cx="3520440" cy="68580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¿Qué es un patrón? Clasificación. Historia GoF. Ejemplos en Boyacá.</a:t>
            </a:r>
            <a:endParaRPr lang="en-US" sz="1000" dirty="0"/>
          </a:p>
        </p:txBody>
      </p:sp>
      <p:sp>
        <p:nvSpPr>
          <p:cNvPr id="10" name="Shape 8"/>
          <p:cNvSpPr/>
          <p:nvPr/>
        </p:nvSpPr>
        <p:spPr>
          <a:xfrm>
            <a:off x="4709160" y="914400"/>
            <a:ext cx="4206240" cy="11704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1" name="Shape 9"/>
          <p:cNvSpPr/>
          <p:nvPr/>
        </p:nvSpPr>
        <p:spPr>
          <a:xfrm>
            <a:off x="4709160" y="914400"/>
            <a:ext cx="475488" cy="1170432"/>
          </a:xfrm>
          <a:prstGeom prst="rect">
            <a:avLst/>
          </a:prstGeom>
          <a:solidFill>
            <a:srgbClr val="1F3864"/>
          </a:solidFill>
          <a:ln w="12700">
            <a:solidFill>
              <a:srgbClr val="1F3864"/>
            </a:solidFill>
            <a:prstDash val="solid"/>
          </a:ln>
        </p:spPr>
      </p:sp>
      <p:sp>
        <p:nvSpPr>
          <p:cNvPr id="12" name="Text 10"/>
          <p:cNvSpPr/>
          <p:nvPr/>
        </p:nvSpPr>
        <p:spPr>
          <a:xfrm>
            <a:off x="4709160" y="914400"/>
            <a:ext cx="475488" cy="117043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3" name="Text 11"/>
          <p:cNvSpPr/>
          <p:nvPr/>
        </p:nvSpPr>
        <p:spPr>
          <a:xfrm>
            <a:off x="5257800" y="1005840"/>
            <a:ext cx="3520440" cy="320040"/>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Factory Method</a:t>
            </a:r>
            <a:endParaRPr lang="en-US" sz="1300" dirty="0"/>
          </a:p>
        </p:txBody>
      </p:sp>
      <p:sp>
        <p:nvSpPr>
          <p:cNvPr id="14" name="Text 12"/>
          <p:cNvSpPr/>
          <p:nvPr/>
        </p:nvSpPr>
        <p:spPr>
          <a:xfrm>
            <a:off x="5257800" y="1316736"/>
            <a:ext cx="3520440" cy="68580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Creación de prendas sin acoplar el sistema al tipo específico.</a:t>
            </a:r>
            <a:endParaRPr lang="en-US" sz="1000" dirty="0"/>
          </a:p>
        </p:txBody>
      </p:sp>
      <p:sp>
        <p:nvSpPr>
          <p:cNvPr id="15" name="Shape 13"/>
          <p:cNvSpPr/>
          <p:nvPr/>
        </p:nvSpPr>
        <p:spPr>
          <a:xfrm>
            <a:off x="228600" y="2212848"/>
            <a:ext cx="4206240" cy="11704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6" name="Shape 14"/>
          <p:cNvSpPr/>
          <p:nvPr/>
        </p:nvSpPr>
        <p:spPr>
          <a:xfrm>
            <a:off x="228600" y="2212848"/>
            <a:ext cx="475488" cy="1170432"/>
          </a:xfrm>
          <a:prstGeom prst="rect">
            <a:avLst/>
          </a:prstGeom>
          <a:solidFill>
            <a:srgbClr val="1F3864"/>
          </a:solidFill>
          <a:ln w="12700">
            <a:solidFill>
              <a:srgbClr val="1F3864"/>
            </a:solidFill>
            <a:prstDash val="solid"/>
          </a:ln>
        </p:spPr>
      </p:sp>
      <p:sp>
        <p:nvSpPr>
          <p:cNvPr id="17" name="Text 15"/>
          <p:cNvSpPr/>
          <p:nvPr/>
        </p:nvSpPr>
        <p:spPr>
          <a:xfrm>
            <a:off x="228600" y="2212848"/>
            <a:ext cx="475488" cy="117043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8" name="Text 16"/>
          <p:cNvSpPr/>
          <p:nvPr/>
        </p:nvSpPr>
        <p:spPr>
          <a:xfrm>
            <a:off x="777240" y="2304288"/>
            <a:ext cx="3520440" cy="320040"/>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Abstract Factory</a:t>
            </a:r>
            <a:endParaRPr lang="en-US" sz="1300" dirty="0"/>
          </a:p>
        </p:txBody>
      </p:sp>
      <p:sp>
        <p:nvSpPr>
          <p:cNvPr id="19" name="Text 17"/>
          <p:cNvSpPr/>
          <p:nvPr/>
        </p:nvSpPr>
        <p:spPr>
          <a:xfrm>
            <a:off x="777240" y="2615184"/>
            <a:ext cx="3520440" cy="68580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Familias de ropa por temporada (fría / cálida).</a:t>
            </a:r>
            <a:endParaRPr lang="en-US" sz="1000" dirty="0"/>
          </a:p>
        </p:txBody>
      </p:sp>
      <p:sp>
        <p:nvSpPr>
          <p:cNvPr id="20" name="Shape 18"/>
          <p:cNvSpPr/>
          <p:nvPr/>
        </p:nvSpPr>
        <p:spPr>
          <a:xfrm>
            <a:off x="4709160" y="2212848"/>
            <a:ext cx="4206240" cy="11704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21" name="Shape 19"/>
          <p:cNvSpPr/>
          <p:nvPr/>
        </p:nvSpPr>
        <p:spPr>
          <a:xfrm>
            <a:off x="4709160" y="2212848"/>
            <a:ext cx="475488" cy="1170432"/>
          </a:xfrm>
          <a:prstGeom prst="rect">
            <a:avLst/>
          </a:prstGeom>
          <a:solidFill>
            <a:srgbClr val="1F3864"/>
          </a:solidFill>
          <a:ln w="12700">
            <a:solidFill>
              <a:srgbClr val="1F3864"/>
            </a:solidFill>
            <a:prstDash val="solid"/>
          </a:ln>
        </p:spPr>
      </p:sp>
      <p:sp>
        <p:nvSpPr>
          <p:cNvPr id="22" name="Text 20"/>
          <p:cNvSpPr/>
          <p:nvPr/>
        </p:nvSpPr>
        <p:spPr>
          <a:xfrm>
            <a:off x="4709160" y="2212848"/>
            <a:ext cx="475488" cy="117043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3" name="Text 21"/>
          <p:cNvSpPr/>
          <p:nvPr/>
        </p:nvSpPr>
        <p:spPr>
          <a:xfrm>
            <a:off x="5257800" y="2304288"/>
            <a:ext cx="3520440" cy="320040"/>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Builder</a:t>
            </a:r>
            <a:endParaRPr lang="en-US" sz="1300" dirty="0"/>
          </a:p>
        </p:txBody>
      </p:sp>
      <p:sp>
        <p:nvSpPr>
          <p:cNvPr id="24" name="Text 22"/>
          <p:cNvSpPr/>
          <p:nvPr/>
        </p:nvSpPr>
        <p:spPr>
          <a:xfrm>
            <a:off x="5257800" y="2615184"/>
            <a:ext cx="3520440" cy="68580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Construcción de pedidos personalizados paso a paso.</a:t>
            </a:r>
            <a:endParaRPr lang="en-US" sz="1000" dirty="0"/>
          </a:p>
        </p:txBody>
      </p:sp>
      <p:sp>
        <p:nvSpPr>
          <p:cNvPr id="25" name="Shape 23"/>
          <p:cNvSpPr/>
          <p:nvPr/>
        </p:nvSpPr>
        <p:spPr>
          <a:xfrm>
            <a:off x="228600" y="3511296"/>
            <a:ext cx="4206240" cy="11704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26" name="Shape 24"/>
          <p:cNvSpPr/>
          <p:nvPr/>
        </p:nvSpPr>
        <p:spPr>
          <a:xfrm>
            <a:off x="228600" y="3511296"/>
            <a:ext cx="475488" cy="1170432"/>
          </a:xfrm>
          <a:prstGeom prst="rect">
            <a:avLst/>
          </a:prstGeom>
          <a:solidFill>
            <a:srgbClr val="1F3864"/>
          </a:solidFill>
          <a:ln w="12700">
            <a:solidFill>
              <a:srgbClr val="1F3864"/>
            </a:solidFill>
            <a:prstDash val="solid"/>
          </a:ln>
        </p:spPr>
      </p:sp>
      <p:sp>
        <p:nvSpPr>
          <p:cNvPr id="27" name="Text 25"/>
          <p:cNvSpPr/>
          <p:nvPr/>
        </p:nvSpPr>
        <p:spPr>
          <a:xfrm>
            <a:off x="228600" y="3511296"/>
            <a:ext cx="475488" cy="117043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05</a:t>
            </a:r>
            <a:endParaRPr lang="en-US" sz="1800" dirty="0"/>
          </a:p>
        </p:txBody>
      </p:sp>
      <p:sp>
        <p:nvSpPr>
          <p:cNvPr id="28" name="Text 26"/>
          <p:cNvSpPr/>
          <p:nvPr/>
        </p:nvSpPr>
        <p:spPr>
          <a:xfrm>
            <a:off x="777240" y="3602736"/>
            <a:ext cx="3520440" cy="320040"/>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Singleton</a:t>
            </a:r>
            <a:endParaRPr lang="en-US" sz="1300" dirty="0"/>
          </a:p>
        </p:txBody>
      </p:sp>
      <p:sp>
        <p:nvSpPr>
          <p:cNvPr id="29" name="Text 27"/>
          <p:cNvSpPr/>
          <p:nvPr/>
        </p:nvSpPr>
        <p:spPr>
          <a:xfrm>
            <a:off x="777240" y="3913632"/>
            <a:ext cx="3520440" cy="68580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Un único inventario compartido por toda la tienda.</a:t>
            </a:r>
            <a:endParaRPr lang="en-US" sz="1000" dirty="0"/>
          </a:p>
        </p:txBody>
      </p:sp>
      <p:sp>
        <p:nvSpPr>
          <p:cNvPr id="30" name="Shape 28"/>
          <p:cNvSpPr/>
          <p:nvPr/>
        </p:nvSpPr>
        <p:spPr>
          <a:xfrm>
            <a:off x="4709160" y="3511296"/>
            <a:ext cx="4206240" cy="11704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31" name="Shape 29"/>
          <p:cNvSpPr/>
          <p:nvPr/>
        </p:nvSpPr>
        <p:spPr>
          <a:xfrm>
            <a:off x="4709160" y="3511296"/>
            <a:ext cx="475488" cy="1170432"/>
          </a:xfrm>
          <a:prstGeom prst="rect">
            <a:avLst/>
          </a:prstGeom>
          <a:solidFill>
            <a:srgbClr val="1F3864"/>
          </a:solidFill>
          <a:ln w="12700">
            <a:solidFill>
              <a:srgbClr val="1F3864"/>
            </a:solidFill>
            <a:prstDash val="solid"/>
          </a:ln>
        </p:spPr>
      </p:sp>
      <p:sp>
        <p:nvSpPr>
          <p:cNvPr id="32" name="Text 30"/>
          <p:cNvSpPr/>
          <p:nvPr/>
        </p:nvSpPr>
        <p:spPr>
          <a:xfrm>
            <a:off x="4709160" y="3511296"/>
            <a:ext cx="475488" cy="117043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06</a:t>
            </a:r>
            <a:endParaRPr lang="en-US" sz="1800" dirty="0"/>
          </a:p>
        </p:txBody>
      </p:sp>
      <p:sp>
        <p:nvSpPr>
          <p:cNvPr id="33" name="Text 31"/>
          <p:cNvSpPr/>
          <p:nvPr/>
        </p:nvSpPr>
        <p:spPr>
          <a:xfrm>
            <a:off x="5257800" y="3602736"/>
            <a:ext cx="3520440" cy="320040"/>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MVC</a:t>
            </a:r>
            <a:endParaRPr lang="en-US" sz="1300" dirty="0"/>
          </a:p>
        </p:txBody>
      </p:sp>
      <p:sp>
        <p:nvSpPr>
          <p:cNvPr id="34" name="Text 32"/>
          <p:cNvSpPr/>
          <p:nvPr/>
        </p:nvSpPr>
        <p:spPr>
          <a:xfrm>
            <a:off x="5257800" y="3913632"/>
            <a:ext cx="3520440" cy="68580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Modelo–Vista–Controlador aplicado con JSP y Servlets.</a:t>
            </a:r>
            <a:endParaRPr lang="en-US" sz="1000" dirty="0"/>
          </a:p>
        </p:txBody>
      </p:sp>
      <p:sp>
        <p:nvSpPr>
          <p:cNvPr id="35" name="Shape 33"/>
          <p:cNvSpPr/>
          <p:nvPr/>
        </p:nvSpPr>
        <p:spPr>
          <a:xfrm>
            <a:off x="0" y="4846320"/>
            <a:ext cx="9144000" cy="297180"/>
          </a:xfrm>
          <a:prstGeom prst="rect">
            <a:avLst/>
          </a:prstGeom>
          <a:solidFill>
            <a:srgbClr val="1F3864"/>
          </a:solidFill>
          <a:ln w="12700">
            <a:solidFill>
              <a:srgbClr val="1F3864"/>
            </a:solidFill>
            <a:prstDash val="solid"/>
          </a:ln>
        </p:spPr>
      </p:sp>
      <p:sp>
        <p:nvSpPr>
          <p:cNvPr id="36" name="Text 34"/>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37" name="Text 35"/>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2/32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39A900"/>
          </a:solidFill>
          <a:ln w="12700">
            <a:solidFill>
              <a:srgbClr val="39A900"/>
            </a:solidFill>
            <a:prstDash val="solid"/>
          </a:ln>
        </p:spPr>
      </p:sp>
      <p:sp>
        <p:nvSpPr>
          <p:cNvPr id="3" name="Shape 1"/>
          <p:cNvSpPr/>
          <p:nvPr/>
        </p:nvSpPr>
        <p:spPr>
          <a:xfrm>
            <a:off x="0" y="109728"/>
            <a:ext cx="73152" cy="5033772"/>
          </a:xfrm>
          <a:prstGeom prst="rect">
            <a:avLst/>
          </a:prstGeom>
          <a:solidFill>
            <a:srgbClr val="39A900"/>
          </a:solidFill>
          <a:ln w="12700">
            <a:solidFill>
              <a:srgbClr val="39A900"/>
            </a:solidFill>
            <a:prstDash val="solid"/>
          </a:ln>
        </p:spPr>
      </p:sp>
      <p:sp>
        <p:nvSpPr>
          <p:cNvPr id="4" name="Text 2"/>
          <p:cNvSpPr/>
          <p:nvPr/>
        </p:nvSpPr>
        <p:spPr>
          <a:xfrm>
            <a:off x="274320" y="182880"/>
            <a:ext cx="8595360" cy="548640"/>
          </a:xfrm>
          <a:prstGeom prst="rect">
            <a:avLst/>
          </a:prstGeom>
          <a:noFill/>
          <a:ln/>
        </p:spPr>
        <p:txBody>
          <a:bodyPr wrap="square" rtlCol="0" anchor="ctr"/>
          <a:lstStyle/>
          <a:p>
            <a:pPr indent="0" marL="0">
              <a:buNone/>
            </a:pPr>
            <a:r>
              <a:rPr lang="en-US" sz="2600" b="1" dirty="0">
                <a:solidFill>
                  <a:srgbClr val="1F3864"/>
                </a:solidFill>
                <a:latin typeface="Calibri Black" pitchFamily="34" charset="0"/>
                <a:ea typeface="Calibri Black" pitchFamily="34" charset="-122"/>
                <a:cs typeface="Calibri Black" pitchFamily="34" charset="-120"/>
              </a:rPr>
              <a:t>1. ¿Qué es un Patrón de Diseño?</a:t>
            </a:r>
            <a:endParaRPr lang="en-US" sz="2600" dirty="0"/>
          </a:p>
        </p:txBody>
      </p:sp>
      <p:sp>
        <p:nvSpPr>
          <p:cNvPr id="5" name="Shape 3"/>
          <p:cNvSpPr/>
          <p:nvPr/>
        </p:nvSpPr>
        <p:spPr>
          <a:xfrm>
            <a:off x="228600" y="868680"/>
            <a:ext cx="5303520" cy="1920240"/>
          </a:xfrm>
          <a:prstGeom prst="rect">
            <a:avLst/>
          </a:prstGeom>
          <a:solidFill>
            <a:srgbClr val="1F3864"/>
          </a:solidFill>
          <a:ln w="12700">
            <a:solidFill>
              <a:srgbClr val="1F3864"/>
            </a:solidFill>
            <a:prstDash val="solid"/>
          </a:ln>
          <a:effectLst>
            <a:outerShdw sx="100000" sy="100000" kx="0" ky="0" algn="bl" rotWithShape="0" blurRad="101600" dist="38100" dir="8100000">
              <a:srgbClr val="000000">
                <a:alpha val="15000"/>
              </a:srgbClr>
            </a:outerShdw>
          </a:effectLst>
        </p:spPr>
      </p:sp>
      <p:sp>
        <p:nvSpPr>
          <p:cNvPr id="6" name="Text 4"/>
          <p:cNvSpPr/>
          <p:nvPr/>
        </p:nvSpPr>
        <p:spPr>
          <a:xfrm>
            <a:off x="411480" y="960120"/>
            <a:ext cx="4937760" cy="1737360"/>
          </a:xfrm>
          <a:prstGeom prst="rect">
            <a:avLst/>
          </a:prstGeom>
          <a:noFill/>
          <a:ln/>
        </p:spPr>
        <p:txBody>
          <a:bodyPr wrap="square" rtlCol="0" anchor="t"/>
          <a:lstStyle/>
          <a:p>
            <a:pPr indent="0" marL="0">
              <a:buNone/>
            </a:pPr>
            <a:r>
              <a:rPr lang="en-US" sz="4800" b="1" dirty="0">
                <a:solidFill>
                  <a:srgbClr val="39A900"/>
                </a:solidFill>
                <a:latin typeface="Calibri" pitchFamily="34" charset="0"/>
                <a:ea typeface="Calibri" pitchFamily="34" charset="-122"/>
                <a:cs typeface="Calibri" pitchFamily="34" charset="-120"/>
              </a:rPr>
              <a:t>"</a:t>
            </a:r>
            <a:pPr indent="0" marL="0">
              <a:buNone/>
            </a:pPr>
            <a:r>
              <a:rPr lang="en-US" sz="1300" i="1" dirty="0">
                <a:solidFill>
                  <a:srgbClr val="FFFFFF"/>
                </a:solidFill>
                <a:latin typeface="Calibri" pitchFamily="34" charset="0"/>
                <a:ea typeface="Calibri" pitchFamily="34" charset="-122"/>
                <a:cs typeface="Calibri" pitchFamily="34" charset="-120"/>
              </a:rPr>
              <a:t>Una solución probada y reutilizable para un problema recurrente en el diseño de software. No es código listo; es una guía o plantilla que describe cómo estructurar clases y objetos de forma elegante.</a:t>
            </a:r>
            <a:pPr indent="0" marL="0">
              <a:buNone/>
            </a:pPr>
            <a:r>
              <a:rPr lang="en-US" sz="4800" b="1" dirty="0">
                <a:solidFill>
                  <a:srgbClr val="39A900"/>
                </a:solidFill>
                <a:latin typeface="Calibri" pitchFamily="34" charset="0"/>
                <a:ea typeface="Calibri" pitchFamily="34" charset="-122"/>
                <a:cs typeface="Calibri" pitchFamily="34" charset="-120"/>
              </a:rPr>
              <a:t>"</a:t>
            </a:r>
            <a:endParaRPr lang="en-US" sz="4800" dirty="0"/>
          </a:p>
        </p:txBody>
      </p:sp>
      <p:sp>
        <p:nvSpPr>
          <p:cNvPr id="7" name="Shape 5"/>
          <p:cNvSpPr/>
          <p:nvPr/>
        </p:nvSpPr>
        <p:spPr>
          <a:xfrm>
            <a:off x="228600" y="2834640"/>
            <a:ext cx="5303520" cy="1572768"/>
          </a:xfrm>
          <a:prstGeom prst="rect">
            <a:avLst/>
          </a:prstGeom>
          <a:solidFill>
            <a:srgbClr val="E8F5E9"/>
          </a:solidFill>
          <a:ln w="12700">
            <a:solidFill>
              <a:srgbClr val="39A900"/>
            </a:solidFill>
            <a:prstDash val="solid"/>
          </a:ln>
        </p:spPr>
      </p:sp>
      <p:sp>
        <p:nvSpPr>
          <p:cNvPr id="8" name="Text 6"/>
          <p:cNvSpPr/>
          <p:nvPr/>
        </p:nvSpPr>
        <p:spPr>
          <a:xfrm>
            <a:off x="365760" y="2907792"/>
            <a:ext cx="5029200" cy="292608"/>
          </a:xfrm>
          <a:prstGeom prst="rect">
            <a:avLst/>
          </a:prstGeom>
          <a:noFill/>
          <a:ln/>
        </p:spPr>
        <p:txBody>
          <a:bodyPr wrap="square" rtlCol="0" anchor="ctr"/>
          <a:lstStyle/>
          <a:p>
            <a:pPr indent="0" marL="0">
              <a:buNone/>
            </a:pPr>
            <a:r>
              <a:rPr lang="en-US" sz="1200" b="1" dirty="0">
                <a:solidFill>
                  <a:srgbClr val="2D8200"/>
                </a:solidFill>
                <a:latin typeface="Calibri" pitchFamily="34" charset="0"/>
                <a:ea typeface="Calibri" pitchFamily="34" charset="-122"/>
                <a:cs typeface="Calibri" pitchFamily="34" charset="-120"/>
              </a:rPr>
              <a:t>🌿  Analogía Boyacense</a:t>
            </a:r>
            <a:endParaRPr lang="en-US" sz="1200" dirty="0"/>
          </a:p>
        </p:txBody>
      </p:sp>
      <p:sp>
        <p:nvSpPr>
          <p:cNvPr id="9" name="Text 7"/>
          <p:cNvSpPr/>
          <p:nvPr/>
        </p:nvSpPr>
        <p:spPr>
          <a:xfrm>
            <a:off x="365760" y="3200400"/>
            <a:ext cx="5029200" cy="107899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Como una receta de la cocina boyacense: no dice exactamente qué ingredientes usar en tu caso, pero describe el proceso que ha funcionado muchas veces. El patrón orienta sin imponer.</a:t>
            </a:r>
            <a:endParaRPr lang="en-US" sz="1100" dirty="0"/>
          </a:p>
        </p:txBody>
      </p:sp>
      <p:sp>
        <p:nvSpPr>
          <p:cNvPr id="10" name="Shape 8"/>
          <p:cNvSpPr/>
          <p:nvPr/>
        </p:nvSpPr>
        <p:spPr>
          <a:xfrm>
            <a:off x="5760720" y="868680"/>
            <a:ext cx="3154680" cy="353872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1" name="Text 9"/>
          <p:cNvSpPr/>
          <p:nvPr/>
        </p:nvSpPr>
        <p:spPr>
          <a:xfrm>
            <a:off x="5852160" y="960120"/>
            <a:ext cx="2926080" cy="320040"/>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Características clave</a:t>
            </a:r>
            <a:endParaRPr lang="en-US" sz="1300" dirty="0"/>
          </a:p>
        </p:txBody>
      </p:sp>
      <p:sp>
        <p:nvSpPr>
          <p:cNvPr id="12" name="Shape 10"/>
          <p:cNvSpPr/>
          <p:nvPr/>
        </p:nvSpPr>
        <p:spPr>
          <a:xfrm>
            <a:off x="5852160" y="1298448"/>
            <a:ext cx="2834640" cy="0"/>
          </a:xfrm>
          <a:prstGeom prst="line">
            <a:avLst/>
          </a:prstGeom>
          <a:noFill/>
          <a:ln w="12700">
            <a:solidFill>
              <a:srgbClr val="39A900"/>
            </a:solidFill>
            <a:prstDash val="solid"/>
          </a:ln>
        </p:spPr>
      </p:sp>
      <p:sp>
        <p:nvSpPr>
          <p:cNvPr id="13" name="Text 11"/>
          <p:cNvSpPr/>
          <p:nvPr/>
        </p:nvSpPr>
        <p:spPr>
          <a:xfrm>
            <a:off x="5852160" y="1417320"/>
            <a:ext cx="2926080" cy="2834640"/>
          </a:xfrm>
          <a:prstGeom prst="rect">
            <a:avLst/>
          </a:prstGeom>
          <a:noFill/>
          <a:ln/>
        </p:spPr>
        <p:txBody>
          <a:bodyPr wrap="square" rtlCol="0" anchor="ctr"/>
          <a:lstStyle/>
          <a:p>
            <a:pPr marL="342900" indent="-342900">
              <a:buSzPct val="100000"/>
              <a:buChar char="•"/>
            </a:pPr>
            <a:r>
              <a:rPr lang="en-US" sz="1050" dirty="0">
                <a:solidFill>
                  <a:srgbClr val="64748B"/>
                </a:solidFill>
                <a:latin typeface="Calibri" pitchFamily="34" charset="0"/>
                <a:ea typeface="Calibri" pitchFamily="34" charset="-122"/>
                <a:cs typeface="Calibri" pitchFamily="34" charset="-120"/>
              </a:rPr>
              <a:t>Reutilizable en distintos proyectos</a:t>
            </a:r>
            <a:endParaRPr lang="en-US" sz="1050" dirty="0"/>
          </a:p>
          <a:p>
            <a:pPr marL="342900" indent="-342900">
              <a:buSzPct val="100000"/>
              <a:buChar char="•"/>
            </a:pPr>
            <a:r>
              <a:rPr lang="en-US" sz="1050" dirty="0">
                <a:solidFill>
                  <a:srgbClr val="64748B"/>
                </a:solidFill>
                <a:latin typeface="Calibri" pitchFamily="34" charset="0"/>
                <a:ea typeface="Calibri" pitchFamily="34" charset="-122"/>
                <a:cs typeface="Calibri" pitchFamily="34" charset="-120"/>
              </a:rPr>
              <a:t>No es código, es una guía conceptual</a:t>
            </a:r>
            <a:endParaRPr lang="en-US" sz="1050" dirty="0"/>
          </a:p>
          <a:p>
            <a:pPr marL="342900" indent="-342900">
              <a:buSzPct val="100000"/>
              <a:buChar char="•"/>
            </a:pPr>
            <a:r>
              <a:rPr lang="en-US" sz="1050" dirty="0">
                <a:solidFill>
                  <a:srgbClr val="64748B"/>
                </a:solidFill>
                <a:latin typeface="Calibri" pitchFamily="34" charset="0"/>
                <a:ea typeface="Calibri" pitchFamily="34" charset="-122"/>
                <a:cs typeface="Calibri" pitchFamily="34" charset="-120"/>
              </a:rPr>
              <a:t>Representa experiencia acumulada</a:t>
            </a:r>
            <a:endParaRPr lang="en-US" sz="1050" dirty="0"/>
          </a:p>
          <a:p>
            <a:pPr marL="342900" indent="-342900">
              <a:buSzPct val="100000"/>
              <a:buChar char="•"/>
            </a:pPr>
            <a:r>
              <a:rPr lang="en-US" sz="1050" dirty="0">
                <a:solidFill>
                  <a:srgbClr val="64748B"/>
                </a:solidFill>
                <a:latin typeface="Calibri" pitchFamily="34" charset="0"/>
                <a:ea typeface="Calibri" pitchFamily="34" charset="-122"/>
                <a:cs typeface="Calibri" pitchFamily="34" charset="-120"/>
              </a:rPr>
              <a:t>Mejora la comunicación del equipo</a:t>
            </a:r>
            <a:endParaRPr lang="en-US" sz="1050" dirty="0"/>
          </a:p>
          <a:p>
            <a:pPr marL="342900" indent="-342900">
              <a:buSzPct val="100000"/>
              <a:buChar char="•"/>
            </a:pPr>
            <a:r>
              <a:rPr lang="en-US" sz="1050" dirty="0">
                <a:solidFill>
                  <a:srgbClr val="64748B"/>
                </a:solidFill>
                <a:latin typeface="Calibri" pitchFamily="34" charset="0"/>
                <a:ea typeface="Calibri" pitchFamily="34" charset="-122"/>
                <a:cs typeface="Calibri" pitchFamily="34" charset="-120"/>
              </a:rPr>
              <a:t>Independiente del lenguaje (aplicable en Java, Python, etc.)</a:t>
            </a:r>
            <a:endParaRPr lang="en-US" sz="1050" dirty="0"/>
          </a:p>
        </p:txBody>
      </p:sp>
      <p:sp>
        <p:nvSpPr>
          <p:cNvPr id="14" name="Shape 12"/>
          <p:cNvSpPr/>
          <p:nvPr/>
        </p:nvSpPr>
        <p:spPr>
          <a:xfrm>
            <a:off x="0" y="4846320"/>
            <a:ext cx="9144000" cy="297180"/>
          </a:xfrm>
          <a:prstGeom prst="rect">
            <a:avLst/>
          </a:prstGeom>
          <a:solidFill>
            <a:srgbClr val="1F3864"/>
          </a:solidFill>
          <a:ln w="12700">
            <a:solidFill>
              <a:srgbClr val="1F3864"/>
            </a:solidFill>
            <a:prstDash val="solid"/>
          </a:ln>
        </p:spPr>
      </p:sp>
      <p:sp>
        <p:nvSpPr>
          <p:cNvPr id="15" name="Text 13"/>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16" name="Text 14"/>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3/32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39A900"/>
          </a:solidFill>
          <a:ln w="12700">
            <a:solidFill>
              <a:srgbClr val="39A900"/>
            </a:solidFill>
            <a:prstDash val="solid"/>
          </a:ln>
        </p:spPr>
      </p:sp>
      <p:sp>
        <p:nvSpPr>
          <p:cNvPr id="3" name="Shape 1"/>
          <p:cNvSpPr/>
          <p:nvPr/>
        </p:nvSpPr>
        <p:spPr>
          <a:xfrm>
            <a:off x="0" y="109728"/>
            <a:ext cx="73152" cy="5033772"/>
          </a:xfrm>
          <a:prstGeom prst="rect">
            <a:avLst/>
          </a:prstGeom>
          <a:solidFill>
            <a:srgbClr val="39A900"/>
          </a:solidFill>
          <a:ln w="12700">
            <a:solidFill>
              <a:srgbClr val="39A900"/>
            </a:solidFill>
            <a:prstDash val="solid"/>
          </a:ln>
        </p:spPr>
      </p:sp>
      <p:sp>
        <p:nvSpPr>
          <p:cNvPr id="4" name="Text 2"/>
          <p:cNvSpPr/>
          <p:nvPr/>
        </p:nvSpPr>
        <p:spPr>
          <a:xfrm>
            <a:off x="274320" y="182880"/>
            <a:ext cx="8595360" cy="548640"/>
          </a:xfrm>
          <a:prstGeom prst="rect">
            <a:avLst/>
          </a:prstGeom>
          <a:noFill/>
          <a:ln/>
        </p:spPr>
        <p:txBody>
          <a:bodyPr wrap="square" rtlCol="0" anchor="ctr"/>
          <a:lstStyle/>
          <a:p>
            <a:pPr indent="0" marL="0">
              <a:buNone/>
            </a:pPr>
            <a:r>
              <a:rPr lang="en-US" sz="2400" b="1" dirty="0">
                <a:solidFill>
                  <a:srgbClr val="1F3864"/>
                </a:solidFill>
                <a:latin typeface="Calibri Black" pitchFamily="34" charset="0"/>
                <a:ea typeface="Calibri Black" pitchFamily="34" charset="-122"/>
                <a:cs typeface="Calibri Black" pitchFamily="34" charset="-120"/>
              </a:rPr>
              <a:t>2. Clasificación de los Patrones de Diseño</a:t>
            </a:r>
            <a:endParaRPr lang="en-US" sz="2400" dirty="0"/>
          </a:p>
        </p:txBody>
      </p:sp>
      <p:sp>
        <p:nvSpPr>
          <p:cNvPr id="5" name="Shape 3"/>
          <p:cNvSpPr/>
          <p:nvPr/>
        </p:nvSpPr>
        <p:spPr>
          <a:xfrm>
            <a:off x="228600" y="868680"/>
            <a:ext cx="2834640" cy="502920"/>
          </a:xfrm>
          <a:prstGeom prst="rect">
            <a:avLst/>
          </a:prstGeom>
          <a:solidFill>
            <a:srgbClr val="1F3864"/>
          </a:solidFill>
          <a:ln w="12700">
            <a:solidFill>
              <a:srgbClr val="1F3864"/>
            </a:solidFill>
            <a:prstDash val="solid"/>
          </a:ln>
        </p:spPr>
      </p:sp>
      <p:sp>
        <p:nvSpPr>
          <p:cNvPr id="6" name="Text 4"/>
          <p:cNvSpPr/>
          <p:nvPr/>
        </p:nvSpPr>
        <p:spPr>
          <a:xfrm>
            <a:off x="228600" y="868680"/>
            <a:ext cx="283464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CREACIONALES</a:t>
            </a:r>
            <a:endParaRPr lang="en-US" sz="1200" dirty="0"/>
          </a:p>
        </p:txBody>
      </p:sp>
      <p:sp>
        <p:nvSpPr>
          <p:cNvPr id="7" name="Shape 5"/>
          <p:cNvSpPr/>
          <p:nvPr/>
        </p:nvSpPr>
        <p:spPr>
          <a:xfrm>
            <a:off x="228600" y="1371600"/>
            <a:ext cx="2834640" cy="502920"/>
          </a:xfrm>
          <a:prstGeom prst="rect">
            <a:avLst/>
          </a:prstGeom>
          <a:solidFill>
            <a:srgbClr val="D6E4F0"/>
          </a:solidFill>
          <a:ln w="12700">
            <a:solidFill>
              <a:srgbClr val="E2E8F0"/>
            </a:solidFill>
            <a:prstDash val="solid"/>
          </a:ln>
        </p:spPr>
      </p:sp>
      <p:sp>
        <p:nvSpPr>
          <p:cNvPr id="8" name="Text 6"/>
          <p:cNvSpPr/>
          <p:nvPr/>
        </p:nvSpPr>
        <p:spPr>
          <a:xfrm>
            <a:off x="320040" y="1371600"/>
            <a:ext cx="2651760" cy="502920"/>
          </a:xfrm>
          <a:prstGeom prst="rect">
            <a:avLst/>
          </a:prstGeom>
          <a:noFill/>
          <a:ln/>
        </p:spPr>
        <p:txBody>
          <a:bodyPr wrap="square" rtlCol="0" anchor="ctr"/>
          <a:lstStyle/>
          <a:p>
            <a:pPr indent="0" marL="0">
              <a:buNone/>
            </a:pPr>
            <a:r>
              <a:rPr lang="en-US" sz="1000" i="1" dirty="0">
                <a:solidFill>
                  <a:srgbClr val="1F3864"/>
                </a:solidFill>
                <a:latin typeface="Calibri" pitchFamily="34" charset="0"/>
                <a:ea typeface="Calibri" pitchFamily="34" charset="-122"/>
                <a:cs typeface="Calibri" pitchFamily="34" charset="-120"/>
              </a:rPr>
              <a:t>Controlan cómo se crean los objetos</a:t>
            </a:r>
            <a:endParaRPr lang="en-US" sz="1000" dirty="0"/>
          </a:p>
        </p:txBody>
      </p:sp>
      <p:sp>
        <p:nvSpPr>
          <p:cNvPr id="9" name="Shape 7"/>
          <p:cNvSpPr/>
          <p:nvPr/>
        </p:nvSpPr>
        <p:spPr>
          <a:xfrm>
            <a:off x="228600" y="1874520"/>
            <a:ext cx="2834640" cy="2240280"/>
          </a:xfrm>
          <a:prstGeom prst="rect">
            <a:avLst/>
          </a:prstGeom>
          <a:solidFill>
            <a:srgbClr val="FFFFFF"/>
          </a:solidFill>
          <a:ln w="12700">
            <a:solidFill>
              <a:srgbClr val="E2E8F0"/>
            </a:solidFill>
            <a:prstDash val="solid"/>
          </a:ln>
        </p:spPr>
      </p:sp>
      <p:sp>
        <p:nvSpPr>
          <p:cNvPr id="10" name="Shape 8"/>
          <p:cNvSpPr/>
          <p:nvPr/>
        </p:nvSpPr>
        <p:spPr>
          <a:xfrm>
            <a:off x="301752" y="1965960"/>
            <a:ext cx="2688336" cy="365760"/>
          </a:xfrm>
          <a:prstGeom prst="rect">
            <a:avLst/>
          </a:prstGeom>
          <a:solidFill>
            <a:srgbClr val="FFF3CD"/>
          </a:solidFill>
          <a:ln w="19050">
            <a:solidFill>
              <a:srgbClr val="F59E0B"/>
            </a:solidFill>
            <a:prstDash val="solid"/>
          </a:ln>
        </p:spPr>
      </p:sp>
      <p:sp>
        <p:nvSpPr>
          <p:cNvPr id="11" name="Text 9"/>
          <p:cNvSpPr/>
          <p:nvPr/>
        </p:nvSpPr>
        <p:spPr>
          <a:xfrm>
            <a:off x="338328" y="1965960"/>
            <a:ext cx="2615184" cy="365760"/>
          </a:xfrm>
          <a:prstGeom prst="rect">
            <a:avLst/>
          </a:prstGeom>
          <a:noFill/>
          <a:ln/>
        </p:spPr>
        <p:txBody>
          <a:bodyPr wrap="square" rtlCol="0" anchor="ctr"/>
          <a:lstStyle/>
          <a:p>
            <a:pPr indent="0" marL="0">
              <a:buNone/>
            </a:pPr>
            <a:r>
              <a:rPr lang="en-US" sz="1050" b="1" dirty="0">
                <a:solidFill>
                  <a:srgbClr val="2D8200"/>
                </a:solidFill>
                <a:latin typeface="Calibri" pitchFamily="34" charset="0"/>
                <a:ea typeface="Calibri" pitchFamily="34" charset="-122"/>
                <a:cs typeface="Calibri" pitchFamily="34" charset="-120"/>
              </a:rPr>
              <a:t>★  Factory Method</a:t>
            </a:r>
            <a:endParaRPr lang="en-US" sz="1050" dirty="0"/>
          </a:p>
        </p:txBody>
      </p:sp>
      <p:sp>
        <p:nvSpPr>
          <p:cNvPr id="12" name="Shape 10"/>
          <p:cNvSpPr/>
          <p:nvPr/>
        </p:nvSpPr>
        <p:spPr>
          <a:xfrm>
            <a:off x="301752" y="2377440"/>
            <a:ext cx="2688336" cy="365760"/>
          </a:xfrm>
          <a:prstGeom prst="rect">
            <a:avLst/>
          </a:prstGeom>
          <a:solidFill>
            <a:srgbClr val="FFF3CD"/>
          </a:solidFill>
          <a:ln w="19050">
            <a:solidFill>
              <a:srgbClr val="F59E0B"/>
            </a:solidFill>
            <a:prstDash val="solid"/>
          </a:ln>
        </p:spPr>
      </p:sp>
      <p:sp>
        <p:nvSpPr>
          <p:cNvPr id="13" name="Text 11"/>
          <p:cNvSpPr/>
          <p:nvPr/>
        </p:nvSpPr>
        <p:spPr>
          <a:xfrm>
            <a:off x="338328" y="2377440"/>
            <a:ext cx="2615184" cy="365760"/>
          </a:xfrm>
          <a:prstGeom prst="rect">
            <a:avLst/>
          </a:prstGeom>
          <a:noFill/>
          <a:ln/>
        </p:spPr>
        <p:txBody>
          <a:bodyPr wrap="square" rtlCol="0" anchor="ctr"/>
          <a:lstStyle/>
          <a:p>
            <a:pPr indent="0" marL="0">
              <a:buNone/>
            </a:pPr>
            <a:r>
              <a:rPr lang="en-US" sz="1050" b="1" dirty="0">
                <a:solidFill>
                  <a:srgbClr val="2D8200"/>
                </a:solidFill>
                <a:latin typeface="Calibri" pitchFamily="34" charset="0"/>
                <a:ea typeface="Calibri" pitchFamily="34" charset="-122"/>
                <a:cs typeface="Calibri" pitchFamily="34" charset="-120"/>
              </a:rPr>
              <a:t>★  Abstract Factory</a:t>
            </a:r>
            <a:endParaRPr lang="en-US" sz="1050" dirty="0"/>
          </a:p>
        </p:txBody>
      </p:sp>
      <p:sp>
        <p:nvSpPr>
          <p:cNvPr id="14" name="Shape 12"/>
          <p:cNvSpPr/>
          <p:nvPr/>
        </p:nvSpPr>
        <p:spPr>
          <a:xfrm>
            <a:off x="301752" y="2788920"/>
            <a:ext cx="2688336" cy="365760"/>
          </a:xfrm>
          <a:prstGeom prst="rect">
            <a:avLst/>
          </a:prstGeom>
          <a:solidFill>
            <a:srgbClr val="FFF3CD"/>
          </a:solidFill>
          <a:ln w="19050">
            <a:solidFill>
              <a:srgbClr val="F59E0B"/>
            </a:solidFill>
            <a:prstDash val="solid"/>
          </a:ln>
        </p:spPr>
      </p:sp>
      <p:sp>
        <p:nvSpPr>
          <p:cNvPr id="15" name="Text 13"/>
          <p:cNvSpPr/>
          <p:nvPr/>
        </p:nvSpPr>
        <p:spPr>
          <a:xfrm>
            <a:off x="338328" y="2788920"/>
            <a:ext cx="2615184" cy="365760"/>
          </a:xfrm>
          <a:prstGeom prst="rect">
            <a:avLst/>
          </a:prstGeom>
          <a:noFill/>
          <a:ln/>
        </p:spPr>
        <p:txBody>
          <a:bodyPr wrap="square" rtlCol="0" anchor="ctr"/>
          <a:lstStyle/>
          <a:p>
            <a:pPr indent="0" marL="0">
              <a:buNone/>
            </a:pPr>
            <a:r>
              <a:rPr lang="en-US" sz="1050" b="1" dirty="0">
                <a:solidFill>
                  <a:srgbClr val="2D8200"/>
                </a:solidFill>
                <a:latin typeface="Calibri" pitchFamily="34" charset="0"/>
                <a:ea typeface="Calibri" pitchFamily="34" charset="-122"/>
                <a:cs typeface="Calibri" pitchFamily="34" charset="-120"/>
              </a:rPr>
              <a:t>★  Builder</a:t>
            </a:r>
            <a:endParaRPr lang="en-US" sz="1050" dirty="0"/>
          </a:p>
        </p:txBody>
      </p:sp>
      <p:sp>
        <p:nvSpPr>
          <p:cNvPr id="16" name="Shape 14"/>
          <p:cNvSpPr/>
          <p:nvPr/>
        </p:nvSpPr>
        <p:spPr>
          <a:xfrm>
            <a:off x="301752" y="3200400"/>
            <a:ext cx="2688336" cy="365760"/>
          </a:xfrm>
          <a:prstGeom prst="rect">
            <a:avLst/>
          </a:prstGeom>
          <a:solidFill>
            <a:srgbClr val="FFF3CD"/>
          </a:solidFill>
          <a:ln w="19050">
            <a:solidFill>
              <a:srgbClr val="F59E0B"/>
            </a:solidFill>
            <a:prstDash val="solid"/>
          </a:ln>
        </p:spPr>
      </p:sp>
      <p:sp>
        <p:nvSpPr>
          <p:cNvPr id="17" name="Text 15"/>
          <p:cNvSpPr/>
          <p:nvPr/>
        </p:nvSpPr>
        <p:spPr>
          <a:xfrm>
            <a:off x="338328" y="3200400"/>
            <a:ext cx="2615184" cy="365760"/>
          </a:xfrm>
          <a:prstGeom prst="rect">
            <a:avLst/>
          </a:prstGeom>
          <a:noFill/>
          <a:ln/>
        </p:spPr>
        <p:txBody>
          <a:bodyPr wrap="square" rtlCol="0" anchor="ctr"/>
          <a:lstStyle/>
          <a:p>
            <a:pPr indent="0" marL="0">
              <a:buNone/>
            </a:pPr>
            <a:r>
              <a:rPr lang="en-US" sz="1050" b="1" dirty="0">
                <a:solidFill>
                  <a:srgbClr val="2D8200"/>
                </a:solidFill>
                <a:latin typeface="Calibri" pitchFamily="34" charset="0"/>
                <a:ea typeface="Calibri" pitchFamily="34" charset="-122"/>
                <a:cs typeface="Calibri" pitchFamily="34" charset="-120"/>
              </a:rPr>
              <a:t>★  Singleton</a:t>
            </a:r>
            <a:endParaRPr lang="en-US" sz="1050" dirty="0"/>
          </a:p>
        </p:txBody>
      </p:sp>
      <p:sp>
        <p:nvSpPr>
          <p:cNvPr id="18" name="Shape 16"/>
          <p:cNvSpPr/>
          <p:nvPr/>
        </p:nvSpPr>
        <p:spPr>
          <a:xfrm>
            <a:off x="301752" y="3611880"/>
            <a:ext cx="2688336" cy="365760"/>
          </a:xfrm>
          <a:prstGeom prst="rect">
            <a:avLst/>
          </a:prstGeom>
          <a:solidFill>
            <a:srgbClr val="F4F6F8"/>
          </a:solidFill>
          <a:ln w="12700">
            <a:solidFill>
              <a:srgbClr val="E2E8F0"/>
            </a:solidFill>
            <a:prstDash val="solid"/>
          </a:ln>
        </p:spPr>
      </p:sp>
      <p:sp>
        <p:nvSpPr>
          <p:cNvPr id="19" name="Text 17"/>
          <p:cNvSpPr/>
          <p:nvPr/>
        </p:nvSpPr>
        <p:spPr>
          <a:xfrm>
            <a:off x="338328" y="3611880"/>
            <a:ext cx="2615184" cy="36576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Prototype</a:t>
            </a:r>
            <a:endParaRPr lang="en-US" sz="950" dirty="0"/>
          </a:p>
        </p:txBody>
      </p:sp>
      <p:sp>
        <p:nvSpPr>
          <p:cNvPr id="20" name="Shape 18"/>
          <p:cNvSpPr/>
          <p:nvPr/>
        </p:nvSpPr>
        <p:spPr>
          <a:xfrm>
            <a:off x="3200400" y="868680"/>
            <a:ext cx="2834640" cy="502920"/>
          </a:xfrm>
          <a:prstGeom prst="rect">
            <a:avLst/>
          </a:prstGeom>
          <a:solidFill>
            <a:srgbClr val="2D8200"/>
          </a:solidFill>
          <a:ln w="12700">
            <a:solidFill>
              <a:srgbClr val="2D8200"/>
            </a:solidFill>
            <a:prstDash val="solid"/>
          </a:ln>
        </p:spPr>
      </p:sp>
      <p:sp>
        <p:nvSpPr>
          <p:cNvPr id="21" name="Text 19"/>
          <p:cNvSpPr/>
          <p:nvPr/>
        </p:nvSpPr>
        <p:spPr>
          <a:xfrm>
            <a:off x="3200400" y="868680"/>
            <a:ext cx="283464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ESTRUCTURALES</a:t>
            </a:r>
            <a:endParaRPr lang="en-US" sz="1200" dirty="0"/>
          </a:p>
        </p:txBody>
      </p:sp>
      <p:sp>
        <p:nvSpPr>
          <p:cNvPr id="22" name="Shape 20"/>
          <p:cNvSpPr/>
          <p:nvPr/>
        </p:nvSpPr>
        <p:spPr>
          <a:xfrm>
            <a:off x="3200400" y="1371600"/>
            <a:ext cx="2834640" cy="502920"/>
          </a:xfrm>
          <a:prstGeom prst="rect">
            <a:avLst/>
          </a:prstGeom>
          <a:solidFill>
            <a:srgbClr val="D6E4F0"/>
          </a:solidFill>
          <a:ln w="12700">
            <a:solidFill>
              <a:srgbClr val="E2E8F0"/>
            </a:solidFill>
            <a:prstDash val="solid"/>
          </a:ln>
        </p:spPr>
      </p:sp>
      <p:sp>
        <p:nvSpPr>
          <p:cNvPr id="23" name="Text 21"/>
          <p:cNvSpPr/>
          <p:nvPr/>
        </p:nvSpPr>
        <p:spPr>
          <a:xfrm>
            <a:off x="3291840" y="1371600"/>
            <a:ext cx="2651760" cy="502920"/>
          </a:xfrm>
          <a:prstGeom prst="rect">
            <a:avLst/>
          </a:prstGeom>
          <a:noFill/>
          <a:ln/>
        </p:spPr>
        <p:txBody>
          <a:bodyPr wrap="square" rtlCol="0" anchor="ctr"/>
          <a:lstStyle/>
          <a:p>
            <a:pPr indent="0" marL="0">
              <a:buNone/>
            </a:pPr>
            <a:r>
              <a:rPr lang="en-US" sz="1000" i="1" dirty="0">
                <a:solidFill>
                  <a:srgbClr val="1F3864"/>
                </a:solidFill>
                <a:latin typeface="Calibri" pitchFamily="34" charset="0"/>
                <a:ea typeface="Calibri" pitchFamily="34" charset="-122"/>
                <a:cs typeface="Calibri" pitchFamily="34" charset="-120"/>
              </a:rPr>
              <a:t>Organizan la composición de clases</a:t>
            </a:r>
            <a:endParaRPr lang="en-US" sz="1000" dirty="0"/>
          </a:p>
        </p:txBody>
      </p:sp>
      <p:sp>
        <p:nvSpPr>
          <p:cNvPr id="24" name="Shape 22"/>
          <p:cNvSpPr/>
          <p:nvPr/>
        </p:nvSpPr>
        <p:spPr>
          <a:xfrm>
            <a:off x="3200400" y="1874520"/>
            <a:ext cx="2834640" cy="3063240"/>
          </a:xfrm>
          <a:prstGeom prst="rect">
            <a:avLst/>
          </a:prstGeom>
          <a:solidFill>
            <a:srgbClr val="FFFFFF"/>
          </a:solidFill>
          <a:ln w="12700">
            <a:solidFill>
              <a:srgbClr val="E2E8F0"/>
            </a:solidFill>
            <a:prstDash val="solid"/>
          </a:ln>
        </p:spPr>
      </p:sp>
      <p:sp>
        <p:nvSpPr>
          <p:cNvPr id="25" name="Shape 23"/>
          <p:cNvSpPr/>
          <p:nvPr/>
        </p:nvSpPr>
        <p:spPr>
          <a:xfrm>
            <a:off x="3273552" y="1965960"/>
            <a:ext cx="2688336" cy="365760"/>
          </a:xfrm>
          <a:prstGeom prst="rect">
            <a:avLst/>
          </a:prstGeom>
          <a:solidFill>
            <a:srgbClr val="F4F6F8"/>
          </a:solidFill>
          <a:ln w="12700">
            <a:solidFill>
              <a:srgbClr val="E2E8F0"/>
            </a:solidFill>
            <a:prstDash val="solid"/>
          </a:ln>
        </p:spPr>
      </p:sp>
      <p:sp>
        <p:nvSpPr>
          <p:cNvPr id="26" name="Text 24"/>
          <p:cNvSpPr/>
          <p:nvPr/>
        </p:nvSpPr>
        <p:spPr>
          <a:xfrm>
            <a:off x="3310128" y="1965960"/>
            <a:ext cx="2615184" cy="36576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Adapter</a:t>
            </a:r>
            <a:endParaRPr lang="en-US" sz="950" dirty="0"/>
          </a:p>
        </p:txBody>
      </p:sp>
      <p:sp>
        <p:nvSpPr>
          <p:cNvPr id="27" name="Shape 25"/>
          <p:cNvSpPr/>
          <p:nvPr/>
        </p:nvSpPr>
        <p:spPr>
          <a:xfrm>
            <a:off x="3273552" y="2377440"/>
            <a:ext cx="2688336" cy="365760"/>
          </a:xfrm>
          <a:prstGeom prst="rect">
            <a:avLst/>
          </a:prstGeom>
          <a:solidFill>
            <a:srgbClr val="F4F6F8"/>
          </a:solidFill>
          <a:ln w="12700">
            <a:solidFill>
              <a:srgbClr val="E2E8F0"/>
            </a:solidFill>
            <a:prstDash val="solid"/>
          </a:ln>
        </p:spPr>
      </p:sp>
      <p:sp>
        <p:nvSpPr>
          <p:cNvPr id="28" name="Text 26"/>
          <p:cNvSpPr/>
          <p:nvPr/>
        </p:nvSpPr>
        <p:spPr>
          <a:xfrm>
            <a:off x="3310128" y="2377440"/>
            <a:ext cx="2615184" cy="36576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Bridge</a:t>
            </a:r>
            <a:endParaRPr lang="en-US" sz="950" dirty="0"/>
          </a:p>
        </p:txBody>
      </p:sp>
      <p:sp>
        <p:nvSpPr>
          <p:cNvPr id="29" name="Shape 27"/>
          <p:cNvSpPr/>
          <p:nvPr/>
        </p:nvSpPr>
        <p:spPr>
          <a:xfrm>
            <a:off x="3273552" y="2788920"/>
            <a:ext cx="2688336" cy="365760"/>
          </a:xfrm>
          <a:prstGeom prst="rect">
            <a:avLst/>
          </a:prstGeom>
          <a:solidFill>
            <a:srgbClr val="F4F6F8"/>
          </a:solidFill>
          <a:ln w="12700">
            <a:solidFill>
              <a:srgbClr val="E2E8F0"/>
            </a:solidFill>
            <a:prstDash val="solid"/>
          </a:ln>
        </p:spPr>
      </p:sp>
      <p:sp>
        <p:nvSpPr>
          <p:cNvPr id="30" name="Text 28"/>
          <p:cNvSpPr/>
          <p:nvPr/>
        </p:nvSpPr>
        <p:spPr>
          <a:xfrm>
            <a:off x="3310128" y="2788920"/>
            <a:ext cx="2615184" cy="36576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Composite</a:t>
            </a:r>
            <a:endParaRPr lang="en-US" sz="950" dirty="0"/>
          </a:p>
        </p:txBody>
      </p:sp>
      <p:sp>
        <p:nvSpPr>
          <p:cNvPr id="31" name="Shape 29"/>
          <p:cNvSpPr/>
          <p:nvPr/>
        </p:nvSpPr>
        <p:spPr>
          <a:xfrm>
            <a:off x="3273552" y="3200400"/>
            <a:ext cx="2688336" cy="365760"/>
          </a:xfrm>
          <a:prstGeom prst="rect">
            <a:avLst/>
          </a:prstGeom>
          <a:solidFill>
            <a:srgbClr val="F4F6F8"/>
          </a:solidFill>
          <a:ln w="12700">
            <a:solidFill>
              <a:srgbClr val="E2E8F0"/>
            </a:solidFill>
            <a:prstDash val="solid"/>
          </a:ln>
        </p:spPr>
      </p:sp>
      <p:sp>
        <p:nvSpPr>
          <p:cNvPr id="32" name="Text 30"/>
          <p:cNvSpPr/>
          <p:nvPr/>
        </p:nvSpPr>
        <p:spPr>
          <a:xfrm>
            <a:off x="3310128" y="3200400"/>
            <a:ext cx="2615184" cy="36576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Decorator</a:t>
            </a:r>
            <a:endParaRPr lang="en-US" sz="950" dirty="0"/>
          </a:p>
        </p:txBody>
      </p:sp>
      <p:sp>
        <p:nvSpPr>
          <p:cNvPr id="33" name="Shape 31"/>
          <p:cNvSpPr/>
          <p:nvPr/>
        </p:nvSpPr>
        <p:spPr>
          <a:xfrm>
            <a:off x="3273552" y="3611880"/>
            <a:ext cx="2688336" cy="365760"/>
          </a:xfrm>
          <a:prstGeom prst="rect">
            <a:avLst/>
          </a:prstGeom>
          <a:solidFill>
            <a:srgbClr val="F4F6F8"/>
          </a:solidFill>
          <a:ln w="12700">
            <a:solidFill>
              <a:srgbClr val="E2E8F0"/>
            </a:solidFill>
            <a:prstDash val="solid"/>
          </a:ln>
        </p:spPr>
      </p:sp>
      <p:sp>
        <p:nvSpPr>
          <p:cNvPr id="34" name="Text 32"/>
          <p:cNvSpPr/>
          <p:nvPr/>
        </p:nvSpPr>
        <p:spPr>
          <a:xfrm>
            <a:off x="3310128" y="3611880"/>
            <a:ext cx="2615184" cy="36576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Facade</a:t>
            </a:r>
            <a:endParaRPr lang="en-US" sz="950" dirty="0"/>
          </a:p>
        </p:txBody>
      </p:sp>
      <p:sp>
        <p:nvSpPr>
          <p:cNvPr id="35" name="Shape 33"/>
          <p:cNvSpPr/>
          <p:nvPr/>
        </p:nvSpPr>
        <p:spPr>
          <a:xfrm>
            <a:off x="3273552" y="4023360"/>
            <a:ext cx="2688336" cy="365760"/>
          </a:xfrm>
          <a:prstGeom prst="rect">
            <a:avLst/>
          </a:prstGeom>
          <a:solidFill>
            <a:srgbClr val="F4F6F8"/>
          </a:solidFill>
          <a:ln w="12700">
            <a:solidFill>
              <a:srgbClr val="E2E8F0"/>
            </a:solidFill>
            <a:prstDash val="solid"/>
          </a:ln>
        </p:spPr>
      </p:sp>
      <p:sp>
        <p:nvSpPr>
          <p:cNvPr id="36" name="Text 34"/>
          <p:cNvSpPr/>
          <p:nvPr/>
        </p:nvSpPr>
        <p:spPr>
          <a:xfrm>
            <a:off x="3310128" y="4023360"/>
            <a:ext cx="2615184" cy="36576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Proxy</a:t>
            </a:r>
            <a:endParaRPr lang="en-US" sz="950" dirty="0"/>
          </a:p>
        </p:txBody>
      </p:sp>
      <p:sp>
        <p:nvSpPr>
          <p:cNvPr id="37" name="Shape 35"/>
          <p:cNvSpPr/>
          <p:nvPr/>
        </p:nvSpPr>
        <p:spPr>
          <a:xfrm>
            <a:off x="3273552" y="4434840"/>
            <a:ext cx="2688336" cy="365760"/>
          </a:xfrm>
          <a:prstGeom prst="rect">
            <a:avLst/>
          </a:prstGeom>
          <a:solidFill>
            <a:srgbClr val="F4F6F8"/>
          </a:solidFill>
          <a:ln w="12700">
            <a:solidFill>
              <a:srgbClr val="E2E8F0"/>
            </a:solidFill>
            <a:prstDash val="solid"/>
          </a:ln>
        </p:spPr>
      </p:sp>
      <p:sp>
        <p:nvSpPr>
          <p:cNvPr id="38" name="Text 36"/>
          <p:cNvSpPr/>
          <p:nvPr/>
        </p:nvSpPr>
        <p:spPr>
          <a:xfrm>
            <a:off x="3310128" y="4434840"/>
            <a:ext cx="2615184" cy="36576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Flyweight</a:t>
            </a:r>
            <a:endParaRPr lang="en-US" sz="950" dirty="0"/>
          </a:p>
        </p:txBody>
      </p:sp>
      <p:sp>
        <p:nvSpPr>
          <p:cNvPr id="39" name="Shape 37"/>
          <p:cNvSpPr/>
          <p:nvPr/>
        </p:nvSpPr>
        <p:spPr>
          <a:xfrm>
            <a:off x="6172200" y="868680"/>
            <a:ext cx="2834640" cy="502920"/>
          </a:xfrm>
          <a:prstGeom prst="rect">
            <a:avLst/>
          </a:prstGeom>
          <a:solidFill>
            <a:srgbClr val="7B2D8B"/>
          </a:solidFill>
          <a:ln w="12700">
            <a:solidFill>
              <a:srgbClr val="7B2D8B"/>
            </a:solidFill>
            <a:prstDash val="solid"/>
          </a:ln>
        </p:spPr>
      </p:sp>
      <p:sp>
        <p:nvSpPr>
          <p:cNvPr id="40" name="Text 38"/>
          <p:cNvSpPr/>
          <p:nvPr/>
        </p:nvSpPr>
        <p:spPr>
          <a:xfrm>
            <a:off x="6172200" y="868680"/>
            <a:ext cx="283464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COMPORTAMENTALES</a:t>
            </a:r>
            <a:endParaRPr lang="en-US" sz="1200" dirty="0"/>
          </a:p>
        </p:txBody>
      </p:sp>
      <p:sp>
        <p:nvSpPr>
          <p:cNvPr id="41" name="Shape 39"/>
          <p:cNvSpPr/>
          <p:nvPr/>
        </p:nvSpPr>
        <p:spPr>
          <a:xfrm>
            <a:off x="6172200" y="1371600"/>
            <a:ext cx="2834640" cy="502920"/>
          </a:xfrm>
          <a:prstGeom prst="rect">
            <a:avLst/>
          </a:prstGeom>
          <a:solidFill>
            <a:srgbClr val="D6E4F0"/>
          </a:solidFill>
          <a:ln w="12700">
            <a:solidFill>
              <a:srgbClr val="E2E8F0"/>
            </a:solidFill>
            <a:prstDash val="solid"/>
          </a:ln>
        </p:spPr>
      </p:sp>
      <p:sp>
        <p:nvSpPr>
          <p:cNvPr id="42" name="Text 40"/>
          <p:cNvSpPr/>
          <p:nvPr/>
        </p:nvSpPr>
        <p:spPr>
          <a:xfrm>
            <a:off x="6263640" y="1371600"/>
            <a:ext cx="2651760" cy="502920"/>
          </a:xfrm>
          <a:prstGeom prst="rect">
            <a:avLst/>
          </a:prstGeom>
          <a:noFill/>
          <a:ln/>
        </p:spPr>
        <p:txBody>
          <a:bodyPr wrap="square" rtlCol="0" anchor="ctr"/>
          <a:lstStyle/>
          <a:p>
            <a:pPr indent="0" marL="0">
              <a:buNone/>
            </a:pPr>
            <a:r>
              <a:rPr lang="en-US" sz="1000" i="1" dirty="0">
                <a:solidFill>
                  <a:srgbClr val="1F3864"/>
                </a:solidFill>
                <a:latin typeface="Calibri" pitchFamily="34" charset="0"/>
                <a:ea typeface="Calibri" pitchFamily="34" charset="-122"/>
                <a:cs typeface="Calibri" pitchFamily="34" charset="-120"/>
              </a:rPr>
              <a:t>Gestionan la comunicación entre objetos</a:t>
            </a:r>
            <a:endParaRPr lang="en-US" sz="1000" dirty="0"/>
          </a:p>
        </p:txBody>
      </p:sp>
      <p:sp>
        <p:nvSpPr>
          <p:cNvPr id="43" name="Shape 41"/>
          <p:cNvSpPr/>
          <p:nvPr/>
        </p:nvSpPr>
        <p:spPr>
          <a:xfrm>
            <a:off x="6172200" y="1874520"/>
            <a:ext cx="2834640" cy="3063240"/>
          </a:xfrm>
          <a:prstGeom prst="rect">
            <a:avLst/>
          </a:prstGeom>
          <a:solidFill>
            <a:srgbClr val="FFFFFF"/>
          </a:solidFill>
          <a:ln w="12700">
            <a:solidFill>
              <a:srgbClr val="E2E8F0"/>
            </a:solidFill>
            <a:prstDash val="solid"/>
          </a:ln>
        </p:spPr>
      </p:sp>
      <p:sp>
        <p:nvSpPr>
          <p:cNvPr id="44" name="Shape 42"/>
          <p:cNvSpPr/>
          <p:nvPr/>
        </p:nvSpPr>
        <p:spPr>
          <a:xfrm>
            <a:off x="6245352" y="1965960"/>
            <a:ext cx="2688336" cy="365760"/>
          </a:xfrm>
          <a:prstGeom prst="rect">
            <a:avLst/>
          </a:prstGeom>
          <a:solidFill>
            <a:srgbClr val="F4F6F8"/>
          </a:solidFill>
          <a:ln w="12700">
            <a:solidFill>
              <a:srgbClr val="E2E8F0"/>
            </a:solidFill>
            <a:prstDash val="solid"/>
          </a:ln>
        </p:spPr>
      </p:sp>
      <p:sp>
        <p:nvSpPr>
          <p:cNvPr id="45" name="Text 43"/>
          <p:cNvSpPr/>
          <p:nvPr/>
        </p:nvSpPr>
        <p:spPr>
          <a:xfrm>
            <a:off x="6281928" y="1965960"/>
            <a:ext cx="2615184" cy="36576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Observer</a:t>
            </a:r>
            <a:endParaRPr lang="en-US" sz="950" dirty="0"/>
          </a:p>
        </p:txBody>
      </p:sp>
      <p:sp>
        <p:nvSpPr>
          <p:cNvPr id="46" name="Shape 44"/>
          <p:cNvSpPr/>
          <p:nvPr/>
        </p:nvSpPr>
        <p:spPr>
          <a:xfrm>
            <a:off x="6245352" y="2377440"/>
            <a:ext cx="2688336" cy="365760"/>
          </a:xfrm>
          <a:prstGeom prst="rect">
            <a:avLst/>
          </a:prstGeom>
          <a:solidFill>
            <a:srgbClr val="F4F6F8"/>
          </a:solidFill>
          <a:ln w="12700">
            <a:solidFill>
              <a:srgbClr val="E2E8F0"/>
            </a:solidFill>
            <a:prstDash val="solid"/>
          </a:ln>
        </p:spPr>
      </p:sp>
      <p:sp>
        <p:nvSpPr>
          <p:cNvPr id="47" name="Text 45"/>
          <p:cNvSpPr/>
          <p:nvPr/>
        </p:nvSpPr>
        <p:spPr>
          <a:xfrm>
            <a:off x="6281928" y="2377440"/>
            <a:ext cx="2615184" cy="36576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Strategy</a:t>
            </a:r>
            <a:endParaRPr lang="en-US" sz="950" dirty="0"/>
          </a:p>
        </p:txBody>
      </p:sp>
      <p:sp>
        <p:nvSpPr>
          <p:cNvPr id="48" name="Shape 46"/>
          <p:cNvSpPr/>
          <p:nvPr/>
        </p:nvSpPr>
        <p:spPr>
          <a:xfrm>
            <a:off x="6245352" y="2788920"/>
            <a:ext cx="2688336" cy="365760"/>
          </a:xfrm>
          <a:prstGeom prst="rect">
            <a:avLst/>
          </a:prstGeom>
          <a:solidFill>
            <a:srgbClr val="F4F6F8"/>
          </a:solidFill>
          <a:ln w="12700">
            <a:solidFill>
              <a:srgbClr val="E2E8F0"/>
            </a:solidFill>
            <a:prstDash val="solid"/>
          </a:ln>
        </p:spPr>
      </p:sp>
      <p:sp>
        <p:nvSpPr>
          <p:cNvPr id="49" name="Text 47"/>
          <p:cNvSpPr/>
          <p:nvPr/>
        </p:nvSpPr>
        <p:spPr>
          <a:xfrm>
            <a:off x="6281928" y="2788920"/>
            <a:ext cx="2615184" cy="36576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Command</a:t>
            </a:r>
            <a:endParaRPr lang="en-US" sz="950" dirty="0"/>
          </a:p>
        </p:txBody>
      </p:sp>
      <p:sp>
        <p:nvSpPr>
          <p:cNvPr id="50" name="Shape 48"/>
          <p:cNvSpPr/>
          <p:nvPr/>
        </p:nvSpPr>
        <p:spPr>
          <a:xfrm>
            <a:off x="6245352" y="3200400"/>
            <a:ext cx="2688336" cy="365760"/>
          </a:xfrm>
          <a:prstGeom prst="rect">
            <a:avLst/>
          </a:prstGeom>
          <a:solidFill>
            <a:srgbClr val="F4F6F8"/>
          </a:solidFill>
          <a:ln w="12700">
            <a:solidFill>
              <a:srgbClr val="E2E8F0"/>
            </a:solidFill>
            <a:prstDash val="solid"/>
          </a:ln>
        </p:spPr>
      </p:sp>
      <p:sp>
        <p:nvSpPr>
          <p:cNvPr id="51" name="Text 49"/>
          <p:cNvSpPr/>
          <p:nvPr/>
        </p:nvSpPr>
        <p:spPr>
          <a:xfrm>
            <a:off x="6281928" y="3200400"/>
            <a:ext cx="2615184" cy="36576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Iterator</a:t>
            </a:r>
            <a:endParaRPr lang="en-US" sz="950" dirty="0"/>
          </a:p>
        </p:txBody>
      </p:sp>
      <p:sp>
        <p:nvSpPr>
          <p:cNvPr id="52" name="Shape 50"/>
          <p:cNvSpPr/>
          <p:nvPr/>
        </p:nvSpPr>
        <p:spPr>
          <a:xfrm>
            <a:off x="6245352" y="3611880"/>
            <a:ext cx="2688336" cy="365760"/>
          </a:xfrm>
          <a:prstGeom prst="rect">
            <a:avLst/>
          </a:prstGeom>
          <a:solidFill>
            <a:srgbClr val="F4F6F8"/>
          </a:solidFill>
          <a:ln w="12700">
            <a:solidFill>
              <a:srgbClr val="E2E8F0"/>
            </a:solidFill>
            <a:prstDash val="solid"/>
          </a:ln>
        </p:spPr>
      </p:sp>
      <p:sp>
        <p:nvSpPr>
          <p:cNvPr id="53" name="Text 51"/>
          <p:cNvSpPr/>
          <p:nvPr/>
        </p:nvSpPr>
        <p:spPr>
          <a:xfrm>
            <a:off x="6281928" y="3611880"/>
            <a:ext cx="2615184" cy="36576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Template Method</a:t>
            </a:r>
            <a:endParaRPr lang="en-US" sz="950" dirty="0"/>
          </a:p>
        </p:txBody>
      </p:sp>
      <p:sp>
        <p:nvSpPr>
          <p:cNvPr id="54" name="Shape 52"/>
          <p:cNvSpPr/>
          <p:nvPr/>
        </p:nvSpPr>
        <p:spPr>
          <a:xfrm>
            <a:off x="6245352" y="4023360"/>
            <a:ext cx="2688336" cy="365760"/>
          </a:xfrm>
          <a:prstGeom prst="rect">
            <a:avLst/>
          </a:prstGeom>
          <a:solidFill>
            <a:srgbClr val="F4F6F8"/>
          </a:solidFill>
          <a:ln w="12700">
            <a:solidFill>
              <a:srgbClr val="E2E8F0"/>
            </a:solidFill>
            <a:prstDash val="solid"/>
          </a:ln>
        </p:spPr>
      </p:sp>
      <p:sp>
        <p:nvSpPr>
          <p:cNvPr id="55" name="Text 53"/>
          <p:cNvSpPr/>
          <p:nvPr/>
        </p:nvSpPr>
        <p:spPr>
          <a:xfrm>
            <a:off x="6281928" y="4023360"/>
            <a:ext cx="2615184" cy="36576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State</a:t>
            </a:r>
            <a:endParaRPr lang="en-US" sz="950" dirty="0"/>
          </a:p>
        </p:txBody>
      </p:sp>
      <p:sp>
        <p:nvSpPr>
          <p:cNvPr id="56" name="Shape 54"/>
          <p:cNvSpPr/>
          <p:nvPr/>
        </p:nvSpPr>
        <p:spPr>
          <a:xfrm>
            <a:off x="6245352" y="4434840"/>
            <a:ext cx="2688336" cy="365760"/>
          </a:xfrm>
          <a:prstGeom prst="rect">
            <a:avLst/>
          </a:prstGeom>
          <a:solidFill>
            <a:srgbClr val="F4F6F8"/>
          </a:solidFill>
          <a:ln w="12700">
            <a:solidFill>
              <a:srgbClr val="E2E8F0"/>
            </a:solidFill>
            <a:prstDash val="solid"/>
          </a:ln>
        </p:spPr>
      </p:sp>
      <p:sp>
        <p:nvSpPr>
          <p:cNvPr id="57" name="Text 55"/>
          <p:cNvSpPr/>
          <p:nvPr/>
        </p:nvSpPr>
        <p:spPr>
          <a:xfrm>
            <a:off x="6281928" y="4434840"/>
            <a:ext cx="2615184" cy="36576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Visitor</a:t>
            </a:r>
            <a:endParaRPr lang="en-US" sz="950" dirty="0"/>
          </a:p>
        </p:txBody>
      </p:sp>
      <p:sp>
        <p:nvSpPr>
          <p:cNvPr id="58" name="Shape 56"/>
          <p:cNvSpPr/>
          <p:nvPr/>
        </p:nvSpPr>
        <p:spPr>
          <a:xfrm>
            <a:off x="228600" y="4343400"/>
            <a:ext cx="8686800" cy="411480"/>
          </a:xfrm>
          <a:prstGeom prst="rect">
            <a:avLst/>
          </a:prstGeom>
          <a:solidFill>
            <a:srgbClr val="FFF3CD"/>
          </a:solidFill>
          <a:ln w="19050">
            <a:solidFill>
              <a:srgbClr val="F59E0B"/>
            </a:solidFill>
            <a:prstDash val="solid"/>
          </a:ln>
        </p:spPr>
      </p:sp>
      <p:sp>
        <p:nvSpPr>
          <p:cNvPr id="59" name="Text 57"/>
          <p:cNvSpPr/>
          <p:nvPr/>
        </p:nvSpPr>
        <p:spPr>
          <a:xfrm>
            <a:off x="365760" y="4343400"/>
            <a:ext cx="8321040" cy="411480"/>
          </a:xfrm>
          <a:prstGeom prst="rect">
            <a:avLst/>
          </a:prstGeom>
          <a:noFill/>
          <a:ln/>
        </p:spPr>
        <p:txBody>
          <a:bodyPr wrap="square" rtlCol="0" anchor="ctr"/>
          <a:lstStyle/>
          <a:p>
            <a:pPr indent="0" marL="0">
              <a:buNone/>
            </a:pPr>
            <a:r>
              <a:rPr lang="en-US" sz="1100" b="1" dirty="0">
                <a:solidFill>
                  <a:srgbClr val="2D8200"/>
                </a:solidFill>
                <a:latin typeface="Calibri" pitchFamily="34" charset="0"/>
                <a:ea typeface="Calibri" pitchFamily="34" charset="-122"/>
                <a:cs typeface="Calibri" pitchFamily="34" charset="-120"/>
              </a:rPr>
              <a:t>★  MVC (Modelo-Vista-Controlador)  —  Patrón Arquitectónico también asignado al Grupo 1</a:t>
            </a:r>
            <a:endParaRPr lang="en-US" sz="1100" dirty="0"/>
          </a:p>
        </p:txBody>
      </p:sp>
      <p:sp>
        <p:nvSpPr>
          <p:cNvPr id="60" name="Shape 58"/>
          <p:cNvSpPr/>
          <p:nvPr/>
        </p:nvSpPr>
        <p:spPr>
          <a:xfrm>
            <a:off x="0" y="4846320"/>
            <a:ext cx="9144000" cy="297180"/>
          </a:xfrm>
          <a:prstGeom prst="rect">
            <a:avLst/>
          </a:prstGeom>
          <a:solidFill>
            <a:srgbClr val="1F3864"/>
          </a:solidFill>
          <a:ln w="12700">
            <a:solidFill>
              <a:srgbClr val="1F3864"/>
            </a:solidFill>
            <a:prstDash val="solid"/>
          </a:ln>
        </p:spPr>
      </p:sp>
      <p:sp>
        <p:nvSpPr>
          <p:cNvPr id="61" name="Text 59"/>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62" name="Text 60"/>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4/32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39A900"/>
          </a:solidFill>
          <a:ln w="12700">
            <a:solidFill>
              <a:srgbClr val="39A900"/>
            </a:solidFill>
            <a:prstDash val="solid"/>
          </a:ln>
        </p:spPr>
      </p:sp>
      <p:sp>
        <p:nvSpPr>
          <p:cNvPr id="3" name="Shape 1"/>
          <p:cNvSpPr/>
          <p:nvPr/>
        </p:nvSpPr>
        <p:spPr>
          <a:xfrm>
            <a:off x="0" y="109728"/>
            <a:ext cx="73152" cy="5033772"/>
          </a:xfrm>
          <a:prstGeom prst="rect">
            <a:avLst/>
          </a:prstGeom>
          <a:solidFill>
            <a:srgbClr val="39A900"/>
          </a:solidFill>
          <a:ln w="12700">
            <a:solidFill>
              <a:srgbClr val="39A900"/>
            </a:solidFill>
            <a:prstDash val="solid"/>
          </a:ln>
        </p:spPr>
      </p:sp>
      <p:sp>
        <p:nvSpPr>
          <p:cNvPr id="4" name="Text 2"/>
          <p:cNvSpPr/>
          <p:nvPr/>
        </p:nvSpPr>
        <p:spPr>
          <a:xfrm>
            <a:off x="274320" y="182880"/>
            <a:ext cx="8595360" cy="548640"/>
          </a:xfrm>
          <a:prstGeom prst="rect">
            <a:avLst/>
          </a:prstGeom>
          <a:noFill/>
          <a:ln/>
        </p:spPr>
        <p:txBody>
          <a:bodyPr wrap="square" rtlCol="0" anchor="ctr"/>
          <a:lstStyle/>
          <a:p>
            <a:pPr indent="0" marL="0">
              <a:buNone/>
            </a:pPr>
            <a:r>
              <a:rPr lang="en-US" sz="2400" b="1" dirty="0">
                <a:solidFill>
                  <a:srgbClr val="1F3864"/>
                </a:solidFill>
                <a:latin typeface="Calibri Black" pitchFamily="34" charset="0"/>
                <a:ea typeface="Calibri Black" pitchFamily="34" charset="-122"/>
                <a:cs typeface="Calibri Black" pitchFamily="34" charset="-120"/>
              </a:rPr>
              <a:t>3 &amp; 5. Historia y Patrones en Boyacá</a:t>
            </a:r>
            <a:endParaRPr lang="en-US" sz="2400" dirty="0"/>
          </a:p>
        </p:txBody>
      </p:sp>
      <p:sp>
        <p:nvSpPr>
          <p:cNvPr id="5" name="Shape 3"/>
          <p:cNvSpPr/>
          <p:nvPr/>
        </p:nvSpPr>
        <p:spPr>
          <a:xfrm>
            <a:off x="228600" y="868680"/>
            <a:ext cx="5029200" cy="14173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6" name="Shape 4"/>
          <p:cNvSpPr/>
          <p:nvPr/>
        </p:nvSpPr>
        <p:spPr>
          <a:xfrm>
            <a:off x="228600" y="868680"/>
            <a:ext cx="64008" cy="1417320"/>
          </a:xfrm>
          <a:prstGeom prst="rect">
            <a:avLst/>
          </a:prstGeom>
          <a:solidFill>
            <a:srgbClr val="39A900"/>
          </a:solidFill>
          <a:ln w="12700">
            <a:solidFill>
              <a:srgbClr val="39A900"/>
            </a:solidFill>
            <a:prstDash val="solid"/>
          </a:ln>
        </p:spPr>
      </p:sp>
      <p:sp>
        <p:nvSpPr>
          <p:cNvPr id="7" name="Text 5"/>
          <p:cNvSpPr/>
          <p:nvPr/>
        </p:nvSpPr>
        <p:spPr>
          <a:xfrm>
            <a:off x="365760" y="960120"/>
            <a:ext cx="484632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¿Quién inventó los patrones?</a:t>
            </a:r>
            <a:endParaRPr lang="en-US" sz="1100" dirty="0"/>
          </a:p>
        </p:txBody>
      </p:sp>
      <p:sp>
        <p:nvSpPr>
          <p:cNvPr id="8" name="Text 6"/>
          <p:cNvSpPr/>
          <p:nvPr/>
        </p:nvSpPr>
        <p:spPr>
          <a:xfrm>
            <a:off x="365760" y="1197864"/>
            <a:ext cx="4846320" cy="1014984"/>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El concepto viene del arquitecto Christopher Alexander (1977). En software, la 'Gang of Four' (Gamma, Helm, Johnson, Vlissides) publicó en 1994 el libro definitivo con 23 patrones, durante el auge de la programación orientada a objetos.</a:t>
            </a:r>
            <a:endParaRPr lang="en-US" sz="1000" dirty="0"/>
          </a:p>
        </p:txBody>
      </p:sp>
      <p:sp>
        <p:nvSpPr>
          <p:cNvPr id="9" name="Shape 7"/>
          <p:cNvSpPr/>
          <p:nvPr/>
        </p:nvSpPr>
        <p:spPr>
          <a:xfrm>
            <a:off x="228600" y="2359152"/>
            <a:ext cx="5029200" cy="111556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0" name="Shape 8"/>
          <p:cNvSpPr/>
          <p:nvPr/>
        </p:nvSpPr>
        <p:spPr>
          <a:xfrm>
            <a:off x="228600" y="2359152"/>
            <a:ext cx="64008" cy="1115568"/>
          </a:xfrm>
          <a:prstGeom prst="rect">
            <a:avLst/>
          </a:prstGeom>
          <a:solidFill>
            <a:srgbClr val="39A900"/>
          </a:solidFill>
          <a:ln w="12700">
            <a:solidFill>
              <a:srgbClr val="39A900"/>
            </a:solidFill>
            <a:prstDash val="solid"/>
          </a:ln>
        </p:spPr>
      </p:sp>
      <p:sp>
        <p:nvSpPr>
          <p:cNvPr id="11" name="Text 9"/>
          <p:cNvSpPr/>
          <p:nvPr/>
        </p:nvSpPr>
        <p:spPr>
          <a:xfrm>
            <a:off x="365760" y="2450592"/>
            <a:ext cx="484632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La Gang of Four (GoF)</a:t>
            </a:r>
            <a:endParaRPr lang="en-US" sz="1100" dirty="0"/>
          </a:p>
        </p:txBody>
      </p:sp>
      <p:sp>
        <p:nvSpPr>
          <p:cNvPr id="12" name="Text 10"/>
          <p:cNvSpPr/>
          <p:nvPr/>
        </p:nvSpPr>
        <p:spPr>
          <a:xfrm>
            <a:off x="365760" y="2688336"/>
            <a:ext cx="4846320" cy="713232"/>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Erich Gamma  •  Richard Helm  •  Ralph Johnson  •  John Vlissides</a:t>
            </a:r>
            <a:endParaRPr lang="en-US" sz="1000" dirty="0"/>
          </a:p>
          <a:p>
            <a:pPr indent="0" marL="0">
              <a:buNone/>
            </a:pP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"Design Patterns: Elements of Reusable Object-Oriented Software" (1994)</a:t>
            </a:r>
            <a:endParaRPr lang="en-US" sz="1000" dirty="0"/>
          </a:p>
        </p:txBody>
      </p:sp>
      <p:sp>
        <p:nvSpPr>
          <p:cNvPr id="13" name="Shape 11"/>
          <p:cNvSpPr/>
          <p:nvPr/>
        </p:nvSpPr>
        <p:spPr>
          <a:xfrm>
            <a:off x="5440680" y="868680"/>
            <a:ext cx="3474720" cy="26060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4" name="Text 12"/>
          <p:cNvSpPr/>
          <p:nvPr/>
        </p:nvSpPr>
        <p:spPr>
          <a:xfrm>
            <a:off x="5532120" y="914400"/>
            <a:ext cx="3291840" cy="320040"/>
          </a:xfrm>
          <a:prstGeom prst="rect">
            <a:avLst/>
          </a:prstGeom>
          <a:noFill/>
          <a:ln/>
        </p:spPr>
        <p:txBody>
          <a:bodyPr wrap="square"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Patrones en la vida boyacense</a:t>
            </a:r>
            <a:endParaRPr lang="en-US" sz="1200" dirty="0"/>
          </a:p>
        </p:txBody>
      </p:sp>
      <p:sp>
        <p:nvSpPr>
          <p:cNvPr id="15" name="Shape 13"/>
          <p:cNvSpPr/>
          <p:nvPr/>
        </p:nvSpPr>
        <p:spPr>
          <a:xfrm>
            <a:off x="5440680" y="1280160"/>
            <a:ext cx="3474720" cy="676656"/>
          </a:xfrm>
          <a:prstGeom prst="rect">
            <a:avLst/>
          </a:prstGeom>
          <a:solidFill>
            <a:srgbClr val="D6E4F0"/>
          </a:solidFill>
          <a:ln w="12700">
            <a:solidFill>
              <a:srgbClr val="E2E8F0"/>
            </a:solidFill>
            <a:prstDash val="solid"/>
          </a:ln>
        </p:spPr>
      </p:sp>
      <p:sp>
        <p:nvSpPr>
          <p:cNvPr id="16" name="Text 14"/>
          <p:cNvSpPr/>
          <p:nvPr/>
        </p:nvSpPr>
        <p:spPr>
          <a:xfrm>
            <a:off x="5532120" y="1298448"/>
            <a:ext cx="1005840" cy="292608"/>
          </a:xfrm>
          <a:prstGeom prst="rect">
            <a:avLst/>
          </a:prstGeom>
          <a:noFill/>
          <a:ln/>
        </p:spPr>
        <p:txBody>
          <a:bodyPr wrap="square" rtlCol="0" anchor="ctr"/>
          <a:lstStyle/>
          <a:p>
            <a:pPr indent="0" marL="0">
              <a:buNone/>
            </a:pPr>
            <a:r>
              <a:rPr lang="en-US" sz="1000" b="1" dirty="0">
                <a:solidFill>
                  <a:srgbClr val="1F3864"/>
                </a:solidFill>
                <a:latin typeface="Calibri" pitchFamily="34" charset="0"/>
                <a:ea typeface="Calibri" pitchFamily="34" charset="-122"/>
                <a:cs typeface="Calibri" pitchFamily="34" charset="-120"/>
              </a:rPr>
              <a:t>Singleton</a:t>
            </a:r>
            <a:endParaRPr lang="en-US" sz="1000" dirty="0"/>
          </a:p>
        </p:txBody>
      </p:sp>
      <p:sp>
        <p:nvSpPr>
          <p:cNvPr id="17" name="Text 15"/>
          <p:cNvSpPr/>
          <p:nvPr/>
        </p:nvSpPr>
        <p:spPr>
          <a:xfrm>
            <a:off x="5532120" y="1572768"/>
            <a:ext cx="3291840" cy="347472"/>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La Alcaldía de Tunja: una sola institución para todos.</a:t>
            </a:r>
            <a:endParaRPr lang="en-US" sz="900" dirty="0"/>
          </a:p>
        </p:txBody>
      </p:sp>
      <p:sp>
        <p:nvSpPr>
          <p:cNvPr id="18" name="Shape 16"/>
          <p:cNvSpPr/>
          <p:nvPr/>
        </p:nvSpPr>
        <p:spPr>
          <a:xfrm>
            <a:off x="5440680" y="1993392"/>
            <a:ext cx="3474720" cy="676656"/>
          </a:xfrm>
          <a:prstGeom prst="rect">
            <a:avLst/>
          </a:prstGeom>
          <a:solidFill>
            <a:srgbClr val="F4F6F8"/>
          </a:solidFill>
          <a:ln w="12700">
            <a:solidFill>
              <a:srgbClr val="E2E8F0"/>
            </a:solidFill>
            <a:prstDash val="solid"/>
          </a:ln>
        </p:spPr>
      </p:sp>
      <p:sp>
        <p:nvSpPr>
          <p:cNvPr id="19" name="Text 17"/>
          <p:cNvSpPr/>
          <p:nvPr/>
        </p:nvSpPr>
        <p:spPr>
          <a:xfrm>
            <a:off x="5532120" y="2011680"/>
            <a:ext cx="1005840" cy="292608"/>
          </a:xfrm>
          <a:prstGeom prst="rect">
            <a:avLst/>
          </a:prstGeom>
          <a:noFill/>
          <a:ln/>
        </p:spPr>
        <p:txBody>
          <a:bodyPr wrap="square" rtlCol="0" anchor="ctr"/>
          <a:lstStyle/>
          <a:p>
            <a:pPr indent="0" marL="0">
              <a:buNone/>
            </a:pPr>
            <a:r>
              <a:rPr lang="en-US" sz="1000" b="1" dirty="0">
                <a:solidFill>
                  <a:srgbClr val="1F3864"/>
                </a:solidFill>
                <a:latin typeface="Calibri" pitchFamily="34" charset="0"/>
                <a:ea typeface="Calibri" pitchFamily="34" charset="-122"/>
                <a:cs typeface="Calibri" pitchFamily="34" charset="-120"/>
              </a:rPr>
              <a:t>Factory</a:t>
            </a:r>
            <a:endParaRPr lang="en-US" sz="1000" dirty="0"/>
          </a:p>
        </p:txBody>
      </p:sp>
      <p:sp>
        <p:nvSpPr>
          <p:cNvPr id="20" name="Text 18"/>
          <p:cNvSpPr/>
          <p:nvPr/>
        </p:nvSpPr>
        <p:spPr>
          <a:xfrm>
            <a:off x="5532120" y="2286000"/>
            <a:ext cx="3291840" cy="347472"/>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Tejedores de Nobsa: crean la ruana sin revelar el proceso.</a:t>
            </a:r>
            <a:endParaRPr lang="en-US" sz="900" dirty="0"/>
          </a:p>
        </p:txBody>
      </p:sp>
      <p:sp>
        <p:nvSpPr>
          <p:cNvPr id="21" name="Shape 19"/>
          <p:cNvSpPr/>
          <p:nvPr/>
        </p:nvSpPr>
        <p:spPr>
          <a:xfrm>
            <a:off x="5440680" y="2706624"/>
            <a:ext cx="3474720" cy="676656"/>
          </a:xfrm>
          <a:prstGeom prst="rect">
            <a:avLst/>
          </a:prstGeom>
          <a:solidFill>
            <a:srgbClr val="D6E4F0"/>
          </a:solidFill>
          <a:ln w="12700">
            <a:solidFill>
              <a:srgbClr val="E2E8F0"/>
            </a:solidFill>
            <a:prstDash val="solid"/>
          </a:ln>
        </p:spPr>
      </p:sp>
      <p:sp>
        <p:nvSpPr>
          <p:cNvPr id="22" name="Text 20"/>
          <p:cNvSpPr/>
          <p:nvPr/>
        </p:nvSpPr>
        <p:spPr>
          <a:xfrm>
            <a:off x="5532120" y="2724912"/>
            <a:ext cx="1005840" cy="292608"/>
          </a:xfrm>
          <a:prstGeom prst="rect">
            <a:avLst/>
          </a:prstGeom>
          <a:noFill/>
          <a:ln/>
        </p:spPr>
        <p:txBody>
          <a:bodyPr wrap="square" rtlCol="0" anchor="ctr"/>
          <a:lstStyle/>
          <a:p>
            <a:pPr indent="0" marL="0">
              <a:buNone/>
            </a:pPr>
            <a:r>
              <a:rPr lang="en-US" sz="1000" b="1" dirty="0">
                <a:solidFill>
                  <a:srgbClr val="1F3864"/>
                </a:solidFill>
                <a:latin typeface="Calibri" pitchFamily="34" charset="0"/>
                <a:ea typeface="Calibri" pitchFamily="34" charset="-122"/>
                <a:cs typeface="Calibri" pitchFamily="34" charset="-120"/>
              </a:rPr>
              <a:t>Observer</a:t>
            </a:r>
            <a:endParaRPr lang="en-US" sz="1000" dirty="0"/>
          </a:p>
        </p:txBody>
      </p:sp>
      <p:sp>
        <p:nvSpPr>
          <p:cNvPr id="23" name="Text 21"/>
          <p:cNvSpPr/>
          <p:nvPr/>
        </p:nvSpPr>
        <p:spPr>
          <a:xfrm>
            <a:off x="5532120" y="2999232"/>
            <a:ext cx="3291840" cy="347472"/>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La campana de la iglesia de Villa de Leyva: un sonido, todos reaccionan.</a:t>
            </a:r>
            <a:endParaRPr lang="en-US" sz="900" dirty="0"/>
          </a:p>
        </p:txBody>
      </p:sp>
      <p:sp>
        <p:nvSpPr>
          <p:cNvPr id="24" name="Shape 22"/>
          <p:cNvSpPr/>
          <p:nvPr/>
        </p:nvSpPr>
        <p:spPr>
          <a:xfrm>
            <a:off x="228600" y="3529584"/>
            <a:ext cx="8686800" cy="950976"/>
          </a:xfrm>
          <a:prstGeom prst="rect">
            <a:avLst/>
          </a:prstGeom>
          <a:solidFill>
            <a:srgbClr val="1F3864"/>
          </a:solidFill>
          <a:ln w="12700">
            <a:solidFill>
              <a:srgbClr val="1F3864"/>
            </a:solidFill>
            <a:prstDash val="solid"/>
          </a:ln>
        </p:spPr>
      </p:sp>
      <p:sp>
        <p:nvSpPr>
          <p:cNvPr id="25" name="Text 23"/>
          <p:cNvSpPr/>
          <p:nvPr/>
        </p:nvSpPr>
        <p:spPr>
          <a:xfrm>
            <a:off x="365760" y="3566160"/>
            <a:ext cx="2743200" cy="292608"/>
          </a:xfrm>
          <a:prstGeom prst="rect">
            <a:avLst/>
          </a:prstGeom>
          <a:noFill/>
          <a:ln/>
        </p:spPr>
        <p:txBody>
          <a:bodyPr wrap="square" rtlCol="0" anchor="ctr"/>
          <a:lstStyle/>
          <a:p>
            <a:pPr indent="0" marL="0">
              <a:buNone/>
            </a:pPr>
            <a:r>
              <a:rPr lang="en-US" sz="1100" b="1" dirty="0">
                <a:solidFill>
                  <a:srgbClr val="39A900"/>
                </a:solidFill>
                <a:latin typeface="Calibri" pitchFamily="34" charset="0"/>
                <a:ea typeface="Calibri" pitchFamily="34" charset="-122"/>
                <a:cs typeface="Calibri" pitchFamily="34" charset="-120"/>
              </a:rPr>
              <a:t>4 Ventajas de usar patrones en Java:</a:t>
            </a:r>
            <a:endParaRPr lang="en-US" sz="1100" dirty="0"/>
          </a:p>
        </p:txBody>
      </p:sp>
      <p:sp>
        <p:nvSpPr>
          <p:cNvPr id="26" name="Shape 24"/>
          <p:cNvSpPr/>
          <p:nvPr/>
        </p:nvSpPr>
        <p:spPr>
          <a:xfrm>
            <a:off x="274320" y="3886200"/>
            <a:ext cx="2029968" cy="475488"/>
          </a:xfrm>
          <a:prstGeom prst="rect">
            <a:avLst/>
          </a:prstGeom>
          <a:solidFill>
            <a:srgbClr val="1A2E45"/>
          </a:solidFill>
          <a:ln w="12700">
            <a:solidFill>
              <a:srgbClr val="39A900"/>
            </a:solidFill>
            <a:prstDash val="solid"/>
          </a:ln>
        </p:spPr>
      </p:sp>
      <p:sp>
        <p:nvSpPr>
          <p:cNvPr id="27" name="Text 25"/>
          <p:cNvSpPr/>
          <p:nvPr/>
        </p:nvSpPr>
        <p:spPr>
          <a:xfrm>
            <a:off x="274320" y="3886200"/>
            <a:ext cx="2029968" cy="47548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Código reutilizable</a:t>
            </a:r>
            <a:endParaRPr lang="en-US" sz="1000" dirty="0"/>
          </a:p>
        </p:txBody>
      </p:sp>
      <p:sp>
        <p:nvSpPr>
          <p:cNvPr id="28" name="Shape 26"/>
          <p:cNvSpPr/>
          <p:nvPr/>
        </p:nvSpPr>
        <p:spPr>
          <a:xfrm>
            <a:off x="2441448" y="3886200"/>
            <a:ext cx="2029968" cy="475488"/>
          </a:xfrm>
          <a:prstGeom prst="rect">
            <a:avLst/>
          </a:prstGeom>
          <a:solidFill>
            <a:srgbClr val="1A2E45"/>
          </a:solidFill>
          <a:ln w="12700">
            <a:solidFill>
              <a:srgbClr val="39A900"/>
            </a:solidFill>
            <a:prstDash val="solid"/>
          </a:ln>
        </p:spPr>
      </p:sp>
      <p:sp>
        <p:nvSpPr>
          <p:cNvPr id="29" name="Text 27"/>
          <p:cNvSpPr/>
          <p:nvPr/>
        </p:nvSpPr>
        <p:spPr>
          <a:xfrm>
            <a:off x="2441448" y="3886200"/>
            <a:ext cx="2029968" cy="47548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Mayor mantenibilidad</a:t>
            </a:r>
            <a:endParaRPr lang="en-US" sz="1000" dirty="0"/>
          </a:p>
        </p:txBody>
      </p:sp>
      <p:sp>
        <p:nvSpPr>
          <p:cNvPr id="30" name="Shape 28"/>
          <p:cNvSpPr/>
          <p:nvPr/>
        </p:nvSpPr>
        <p:spPr>
          <a:xfrm>
            <a:off x="4608576" y="3886200"/>
            <a:ext cx="2029968" cy="475488"/>
          </a:xfrm>
          <a:prstGeom prst="rect">
            <a:avLst/>
          </a:prstGeom>
          <a:solidFill>
            <a:srgbClr val="1A2E45"/>
          </a:solidFill>
          <a:ln w="12700">
            <a:solidFill>
              <a:srgbClr val="39A900"/>
            </a:solidFill>
            <a:prstDash val="solid"/>
          </a:ln>
        </p:spPr>
      </p:sp>
      <p:sp>
        <p:nvSpPr>
          <p:cNvPr id="31" name="Text 29"/>
          <p:cNvSpPr/>
          <p:nvPr/>
        </p:nvSpPr>
        <p:spPr>
          <a:xfrm>
            <a:off x="4608576" y="3886200"/>
            <a:ext cx="2029968" cy="47548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Reducción de errores</a:t>
            </a:r>
            <a:endParaRPr lang="en-US" sz="1000" dirty="0"/>
          </a:p>
        </p:txBody>
      </p:sp>
      <p:sp>
        <p:nvSpPr>
          <p:cNvPr id="32" name="Shape 30"/>
          <p:cNvSpPr/>
          <p:nvPr/>
        </p:nvSpPr>
        <p:spPr>
          <a:xfrm>
            <a:off x="6775704" y="3886200"/>
            <a:ext cx="2029968" cy="475488"/>
          </a:xfrm>
          <a:prstGeom prst="rect">
            <a:avLst/>
          </a:prstGeom>
          <a:solidFill>
            <a:srgbClr val="1A2E45"/>
          </a:solidFill>
          <a:ln w="12700">
            <a:solidFill>
              <a:srgbClr val="39A900"/>
            </a:solidFill>
            <a:prstDash val="solid"/>
          </a:ln>
        </p:spPr>
      </p:sp>
      <p:sp>
        <p:nvSpPr>
          <p:cNvPr id="33" name="Text 31"/>
          <p:cNvSpPr/>
          <p:nvPr/>
        </p:nvSpPr>
        <p:spPr>
          <a:xfrm>
            <a:off x="6775704" y="3886200"/>
            <a:ext cx="2029968" cy="475488"/>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Comunicación en equipo</a:t>
            </a:r>
            <a:endParaRPr lang="en-US" sz="1000" dirty="0"/>
          </a:p>
        </p:txBody>
      </p:sp>
      <p:sp>
        <p:nvSpPr>
          <p:cNvPr id="34" name="Shape 32"/>
          <p:cNvSpPr/>
          <p:nvPr/>
        </p:nvSpPr>
        <p:spPr>
          <a:xfrm>
            <a:off x="0" y="4846320"/>
            <a:ext cx="9144000" cy="297180"/>
          </a:xfrm>
          <a:prstGeom prst="rect">
            <a:avLst/>
          </a:prstGeom>
          <a:solidFill>
            <a:srgbClr val="1F3864"/>
          </a:solidFill>
          <a:ln w="12700">
            <a:solidFill>
              <a:srgbClr val="1F3864"/>
            </a:solidFill>
            <a:prstDash val="solid"/>
          </a:ln>
        </p:spPr>
      </p:sp>
      <p:sp>
        <p:nvSpPr>
          <p:cNvPr id="35" name="Text 33"/>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36" name="Text 34"/>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5/32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6583680" y="-457200"/>
            <a:ext cx="3200400" cy="6400800"/>
          </a:xfrm>
          <a:prstGeom prst="rect">
            <a:avLst/>
          </a:prstGeom>
          <a:solidFill>
            <a:srgbClr val="39A900">
              <a:alpha val="15000"/>
            </a:srgbClr>
          </a:solidFill>
          <a:ln w="12700">
            <a:solidFill>
              <a:srgbClr val="39A900"/>
            </a:solidFill>
            <a:prstDash val="solid"/>
          </a:ln>
        </p:spPr>
      </p:sp>
      <p:sp>
        <p:nvSpPr>
          <p:cNvPr id="3" name="Shape 1"/>
          <p:cNvSpPr/>
          <p:nvPr/>
        </p:nvSpPr>
        <p:spPr>
          <a:xfrm>
            <a:off x="7772400" y="-457200"/>
            <a:ext cx="1828800" cy="6400800"/>
          </a:xfrm>
          <a:prstGeom prst="rect">
            <a:avLst/>
          </a:prstGeom>
          <a:solidFill>
            <a:srgbClr val="39A900">
              <a:alpha val="30000"/>
            </a:srgbClr>
          </a:solidFill>
          <a:ln w="12700">
            <a:solidFill>
              <a:srgbClr val="39A900"/>
            </a:solidFill>
            <a:prstDash val="solid"/>
          </a:ln>
        </p:spPr>
      </p:sp>
      <p:sp>
        <p:nvSpPr>
          <p:cNvPr id="4" name="Shape 2"/>
          <p:cNvSpPr/>
          <p:nvPr/>
        </p:nvSpPr>
        <p:spPr>
          <a:xfrm>
            <a:off x="457200" y="822960"/>
            <a:ext cx="2194560" cy="347472"/>
          </a:xfrm>
          <a:prstGeom prst="roundRect">
            <a:avLst>
              <a:gd name="adj" fmla="val 26316"/>
            </a:avLst>
          </a:prstGeom>
          <a:solidFill>
            <a:srgbClr val="39A900"/>
          </a:solidFill>
          <a:ln w="12700">
            <a:solidFill>
              <a:srgbClr val="39A900"/>
            </a:solidFill>
            <a:prstDash val="solid"/>
          </a:ln>
        </p:spPr>
      </p:sp>
      <p:sp>
        <p:nvSpPr>
          <p:cNvPr id="5" name="Text 3"/>
          <p:cNvSpPr/>
          <p:nvPr/>
        </p:nvSpPr>
        <p:spPr>
          <a:xfrm>
            <a:off x="457200" y="822960"/>
            <a:ext cx="219456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PATRÓN CREACIONAL</a:t>
            </a:r>
            <a:endParaRPr lang="en-US" sz="1000" dirty="0"/>
          </a:p>
        </p:txBody>
      </p:sp>
      <p:sp>
        <p:nvSpPr>
          <p:cNvPr id="6" name="Text 4"/>
          <p:cNvSpPr/>
          <p:nvPr/>
        </p:nvSpPr>
        <p:spPr>
          <a:xfrm>
            <a:off x="457200" y="1280160"/>
            <a:ext cx="7315200" cy="1280160"/>
          </a:xfrm>
          <a:prstGeom prst="rect">
            <a:avLst/>
          </a:prstGeom>
          <a:noFill/>
          <a:ln/>
        </p:spPr>
        <p:txBody>
          <a:bodyPr wrap="square" rtlCol="0" anchor="ctr"/>
          <a:lstStyle/>
          <a:p>
            <a:pPr indent="0" marL="0">
              <a:buNone/>
            </a:pPr>
            <a:r>
              <a:rPr lang="en-US" sz="4400" b="1" dirty="0">
                <a:solidFill>
                  <a:srgbClr val="FFFFFF"/>
                </a:solidFill>
                <a:latin typeface="Calibri Black" pitchFamily="34" charset="0"/>
                <a:ea typeface="Calibri Black" pitchFamily="34" charset="-122"/>
                <a:cs typeface="Calibri Black" pitchFamily="34" charset="-120"/>
              </a:rPr>
              <a:t>Factory Method</a:t>
            </a:r>
            <a:endParaRPr lang="en-US" sz="4400" dirty="0"/>
          </a:p>
        </p:txBody>
      </p:sp>
      <p:sp>
        <p:nvSpPr>
          <p:cNvPr id="7" name="Text 5"/>
          <p:cNvSpPr/>
          <p:nvPr/>
        </p:nvSpPr>
        <p:spPr>
          <a:xfrm>
            <a:off x="457200" y="2606040"/>
            <a:ext cx="6400800" cy="822960"/>
          </a:xfrm>
          <a:prstGeom prst="rect">
            <a:avLst/>
          </a:prstGeom>
          <a:noFill/>
          <a:ln/>
        </p:spPr>
        <p:txBody>
          <a:bodyPr wrap="square" rtlCol="0" anchor="ctr"/>
          <a:lstStyle/>
          <a:p>
            <a:pPr indent="0" marL="0">
              <a:buNone/>
            </a:pPr>
            <a:r>
              <a:rPr lang="en-US" sz="1600" i="1" dirty="0">
                <a:solidFill>
                  <a:srgbClr val="AABBCC"/>
                </a:solidFill>
                <a:latin typeface="Calibri" pitchFamily="34" charset="0"/>
                <a:ea typeface="Calibri" pitchFamily="34" charset="-122"/>
                <a:cs typeface="Calibri" pitchFamily="34" charset="-120"/>
              </a:rPr>
              <a:t>Define una interfaz para crear objetos, delegando a las subclases</a:t>
            </a:r>
            <a:endParaRPr lang="en-US" sz="1600" dirty="0"/>
          </a:p>
          <a:p>
            <a:pPr indent="0" marL="0">
              <a:buNone/>
            </a:pPr>
            <a:r>
              <a:rPr lang="en-US" sz="1600" i="1" dirty="0">
                <a:solidFill>
                  <a:srgbClr val="AABBCC"/>
                </a:solidFill>
                <a:latin typeface="Calibri" pitchFamily="34" charset="0"/>
                <a:ea typeface="Calibri" pitchFamily="34" charset="-122"/>
                <a:cs typeface="Calibri" pitchFamily="34" charset="-120"/>
              </a:rPr>
              <a:t>la decisión de qué clase concreta instanciar.</a:t>
            </a:r>
            <a:endParaRPr lang="en-US" sz="1600" dirty="0"/>
          </a:p>
        </p:txBody>
      </p:sp>
      <p:sp>
        <p:nvSpPr>
          <p:cNvPr id="8" name="Shape 6"/>
          <p:cNvSpPr/>
          <p:nvPr/>
        </p:nvSpPr>
        <p:spPr>
          <a:xfrm>
            <a:off x="457200" y="3493008"/>
            <a:ext cx="5943600" cy="0"/>
          </a:xfrm>
          <a:prstGeom prst="line">
            <a:avLst/>
          </a:prstGeom>
          <a:noFill/>
          <a:ln w="25400">
            <a:solidFill>
              <a:srgbClr val="39A900"/>
            </a:solidFill>
            <a:prstDash val="solid"/>
          </a:ln>
        </p:spPr>
      </p:sp>
      <p:sp>
        <p:nvSpPr>
          <p:cNvPr id="9" name="Text 7"/>
          <p:cNvSpPr/>
          <p:nvPr/>
        </p:nvSpPr>
        <p:spPr>
          <a:xfrm>
            <a:off x="457200" y="3639312"/>
            <a:ext cx="7315200" cy="320040"/>
          </a:xfrm>
          <a:prstGeom prst="rect">
            <a:avLst/>
          </a:prstGeom>
          <a:noFill/>
          <a:ln/>
        </p:spPr>
        <p:txBody>
          <a:bodyPr wrap="square" rtlCol="0" anchor="ctr"/>
          <a:lstStyle/>
          <a:p>
            <a:pPr indent="0" marL="0">
              <a:buNone/>
            </a:pPr>
            <a:r>
              <a:rPr lang="en-US" sz="1200" dirty="0">
                <a:solidFill>
                  <a:srgbClr val="7A9CC0"/>
                </a:solidFill>
                <a:latin typeface="Calibri" pitchFamily="34" charset="0"/>
                <a:ea typeface="Calibri" pitchFamily="34" charset="-122"/>
                <a:cs typeface="Calibri" pitchFamily="34" charset="-120"/>
              </a:rPr>
              <a:t>Almacén Don José de Chiquinquirá  •  Boyacá, Colombia</a:t>
            </a:r>
            <a:endParaRPr lang="en-US" sz="1200" dirty="0"/>
          </a:p>
        </p:txBody>
      </p:sp>
      <p:sp>
        <p:nvSpPr>
          <p:cNvPr id="10" name="Shape 8"/>
          <p:cNvSpPr/>
          <p:nvPr/>
        </p:nvSpPr>
        <p:spPr>
          <a:xfrm>
            <a:off x="0" y="4846320"/>
            <a:ext cx="9144000" cy="297180"/>
          </a:xfrm>
          <a:prstGeom prst="rect">
            <a:avLst/>
          </a:prstGeom>
          <a:solidFill>
            <a:srgbClr val="1F3864"/>
          </a:solidFill>
          <a:ln w="12700">
            <a:solidFill>
              <a:srgbClr val="1F3864"/>
            </a:solidFill>
            <a:prstDash val="solid"/>
          </a:ln>
        </p:spPr>
      </p:sp>
      <p:sp>
        <p:nvSpPr>
          <p:cNvPr id="11" name="Text 9"/>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12" name="Text 10"/>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6/32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F3864"/>
          </a:solidFill>
          <a:ln w="12700">
            <a:solidFill>
              <a:srgbClr val="1F3864"/>
            </a:solidFill>
            <a:prstDash val="solid"/>
          </a:ln>
        </p:spPr>
      </p:sp>
      <p:sp>
        <p:nvSpPr>
          <p:cNvPr id="3" name="Shape 1"/>
          <p:cNvSpPr/>
          <p:nvPr/>
        </p:nvSpPr>
        <p:spPr>
          <a:xfrm>
            <a:off x="0" y="109728"/>
            <a:ext cx="73152" cy="5033772"/>
          </a:xfrm>
          <a:prstGeom prst="rect">
            <a:avLst/>
          </a:prstGeom>
          <a:solidFill>
            <a:srgbClr val="1F3864"/>
          </a:solidFill>
          <a:ln w="12700">
            <a:solidFill>
              <a:srgbClr val="1F3864"/>
            </a:solidFill>
            <a:prstDash val="solid"/>
          </a:ln>
        </p:spPr>
      </p:sp>
      <p:sp>
        <p:nvSpPr>
          <p:cNvPr id="4" name="Text 2"/>
          <p:cNvSpPr/>
          <p:nvPr/>
        </p:nvSpPr>
        <p:spPr>
          <a:xfrm>
            <a:off x="274320" y="182880"/>
            <a:ext cx="8595360" cy="530352"/>
          </a:xfrm>
          <a:prstGeom prst="rect">
            <a:avLst/>
          </a:prstGeom>
          <a:noFill/>
          <a:ln/>
        </p:spPr>
        <p:txBody>
          <a:bodyPr wrap="square" rtlCol="0" anchor="ctr"/>
          <a:lstStyle/>
          <a:p>
            <a:pPr indent="0" marL="0">
              <a:buNone/>
            </a:pPr>
            <a:r>
              <a:rPr lang="en-US" sz="2200" b="1" dirty="0">
                <a:solidFill>
                  <a:srgbClr val="1F3864"/>
                </a:solidFill>
                <a:latin typeface="Calibri Black" pitchFamily="34" charset="0"/>
                <a:ea typeface="Calibri Black" pitchFamily="34" charset="-122"/>
                <a:cs typeface="Calibri Black" pitchFamily="34" charset="-120"/>
              </a:rPr>
              <a:t>Factory Method — Definición y Propósito</a:t>
            </a:r>
            <a:endParaRPr lang="en-US" sz="2200" dirty="0"/>
          </a:p>
        </p:txBody>
      </p:sp>
      <p:sp>
        <p:nvSpPr>
          <p:cNvPr id="5" name="Shape 3"/>
          <p:cNvSpPr/>
          <p:nvPr/>
        </p:nvSpPr>
        <p:spPr>
          <a:xfrm>
            <a:off x="228600" y="822960"/>
            <a:ext cx="4297680" cy="14630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6" name="Shape 4"/>
          <p:cNvSpPr/>
          <p:nvPr/>
        </p:nvSpPr>
        <p:spPr>
          <a:xfrm>
            <a:off x="228600" y="822960"/>
            <a:ext cx="64008" cy="1463040"/>
          </a:xfrm>
          <a:prstGeom prst="rect">
            <a:avLst/>
          </a:prstGeom>
          <a:solidFill>
            <a:srgbClr val="39A900"/>
          </a:solidFill>
          <a:ln w="12700">
            <a:solidFill>
              <a:srgbClr val="39A900"/>
            </a:solidFill>
            <a:prstDash val="solid"/>
          </a:ln>
        </p:spPr>
      </p:sp>
      <p:sp>
        <p:nvSpPr>
          <p:cNvPr id="7" name="Text 5"/>
          <p:cNvSpPr/>
          <p:nvPr/>
        </p:nvSpPr>
        <p:spPr>
          <a:xfrm>
            <a:off x="365760" y="914400"/>
            <a:ext cx="411480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¿Qué es?</a:t>
            </a:r>
            <a:endParaRPr lang="en-US" sz="1100" dirty="0"/>
          </a:p>
        </p:txBody>
      </p:sp>
      <p:sp>
        <p:nvSpPr>
          <p:cNvPr id="8" name="Text 6"/>
          <p:cNvSpPr/>
          <p:nvPr/>
        </p:nvSpPr>
        <p:spPr>
          <a:xfrm>
            <a:off x="365760" y="1152144"/>
            <a:ext cx="4114800" cy="1060704"/>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Define un método (crearPrenda) en una clase base que las subclases implementan para decidir qué objeto crear. El código que usa el objeto solo conoce la interfaz común, no el tipo concreto.</a:t>
            </a:r>
            <a:endParaRPr lang="en-US" sz="1000" dirty="0"/>
          </a:p>
        </p:txBody>
      </p:sp>
      <p:sp>
        <p:nvSpPr>
          <p:cNvPr id="9" name="Shape 7"/>
          <p:cNvSpPr/>
          <p:nvPr/>
        </p:nvSpPr>
        <p:spPr>
          <a:xfrm>
            <a:off x="228600" y="2340864"/>
            <a:ext cx="4297680" cy="144475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0" name="Shape 8"/>
          <p:cNvSpPr/>
          <p:nvPr/>
        </p:nvSpPr>
        <p:spPr>
          <a:xfrm>
            <a:off x="228600" y="2340864"/>
            <a:ext cx="64008" cy="1444752"/>
          </a:xfrm>
          <a:prstGeom prst="rect">
            <a:avLst/>
          </a:prstGeom>
          <a:solidFill>
            <a:srgbClr val="39A900"/>
          </a:solidFill>
          <a:ln w="12700">
            <a:solidFill>
              <a:srgbClr val="39A900"/>
            </a:solidFill>
            <a:prstDash val="solid"/>
          </a:ln>
        </p:spPr>
      </p:sp>
      <p:sp>
        <p:nvSpPr>
          <p:cNvPr id="11" name="Text 9"/>
          <p:cNvSpPr/>
          <p:nvPr/>
        </p:nvSpPr>
        <p:spPr>
          <a:xfrm>
            <a:off x="365760" y="2432304"/>
            <a:ext cx="411480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¿Para qué sirve?</a:t>
            </a:r>
            <a:endParaRPr lang="en-US" sz="1100" dirty="0"/>
          </a:p>
        </p:txBody>
      </p:sp>
      <p:sp>
        <p:nvSpPr>
          <p:cNvPr id="12" name="Text 10"/>
          <p:cNvSpPr/>
          <p:nvPr/>
        </p:nvSpPr>
        <p:spPr>
          <a:xfrm>
            <a:off x="365760" y="2670048"/>
            <a:ext cx="4114800" cy="1042416"/>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Desacoplar el código de creación del código de uso. Si mañana se agrega una nueva prenda (Poncho Wayuu), solo se crea una nueva clase — no se modifica el código existente. Principio Open/Closed.</a:t>
            </a:r>
            <a:endParaRPr lang="en-US" sz="1000" dirty="0"/>
          </a:p>
        </p:txBody>
      </p:sp>
      <p:sp>
        <p:nvSpPr>
          <p:cNvPr id="13" name="Shape 11"/>
          <p:cNvSpPr/>
          <p:nvPr/>
        </p:nvSpPr>
        <p:spPr>
          <a:xfrm>
            <a:off x="4754880" y="822960"/>
            <a:ext cx="4160520" cy="2962656"/>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4" name="Text 12"/>
          <p:cNvSpPr/>
          <p:nvPr/>
        </p:nvSpPr>
        <p:spPr>
          <a:xfrm>
            <a:off x="4846320" y="868680"/>
            <a:ext cx="3931920" cy="292608"/>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Estructura simplificada</a:t>
            </a:r>
            <a:endParaRPr lang="en-US" sz="1100" dirty="0"/>
          </a:p>
        </p:txBody>
      </p:sp>
      <p:sp>
        <p:nvSpPr>
          <p:cNvPr id="15" name="Shape 13"/>
          <p:cNvSpPr/>
          <p:nvPr/>
        </p:nvSpPr>
        <p:spPr>
          <a:xfrm>
            <a:off x="5486400" y="1234440"/>
            <a:ext cx="2560320" cy="594360"/>
          </a:xfrm>
          <a:prstGeom prst="rect">
            <a:avLst/>
          </a:prstGeom>
          <a:solidFill>
            <a:srgbClr val="1F3864"/>
          </a:solidFill>
          <a:ln w="12700">
            <a:solidFill>
              <a:srgbClr val="E2E8F0"/>
            </a:solidFill>
            <a:prstDash val="solid"/>
          </a:ln>
        </p:spPr>
      </p:sp>
      <p:sp>
        <p:nvSpPr>
          <p:cNvPr id="16" name="Text 14"/>
          <p:cNvSpPr/>
          <p:nvPr/>
        </p:nvSpPr>
        <p:spPr>
          <a:xfrm>
            <a:off x="5486400" y="1234440"/>
            <a:ext cx="2560320" cy="5943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«abstract»</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TiendaRopa</a:t>
            </a:r>
            <a:endParaRPr lang="en-US" sz="1000" dirty="0"/>
          </a:p>
        </p:txBody>
      </p:sp>
      <p:sp>
        <p:nvSpPr>
          <p:cNvPr id="17" name="Shape 15"/>
          <p:cNvSpPr/>
          <p:nvPr/>
        </p:nvSpPr>
        <p:spPr>
          <a:xfrm>
            <a:off x="5486400" y="1828800"/>
            <a:ext cx="2560320" cy="320040"/>
          </a:xfrm>
          <a:prstGeom prst="rect">
            <a:avLst/>
          </a:prstGeom>
          <a:solidFill>
            <a:srgbClr val="2A3F60"/>
          </a:solidFill>
          <a:ln w="12700">
            <a:solidFill>
              <a:srgbClr val="E2E8F0"/>
            </a:solidFill>
            <a:prstDash val="solid"/>
          </a:ln>
        </p:spPr>
      </p:sp>
      <p:sp>
        <p:nvSpPr>
          <p:cNvPr id="18" name="Text 16"/>
          <p:cNvSpPr/>
          <p:nvPr/>
        </p:nvSpPr>
        <p:spPr>
          <a:xfrm>
            <a:off x="5486400" y="1828800"/>
            <a:ext cx="2560320" cy="320040"/>
          </a:xfrm>
          <a:prstGeom prst="rect">
            <a:avLst/>
          </a:prstGeom>
          <a:noFill/>
          <a:ln/>
        </p:spPr>
        <p:txBody>
          <a:bodyPr wrap="square"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 crearPrenda(tipo): PrendaBoyacense</a:t>
            </a:r>
            <a:endParaRPr lang="en-US" sz="800" dirty="0"/>
          </a:p>
        </p:txBody>
      </p:sp>
      <p:sp>
        <p:nvSpPr>
          <p:cNvPr id="19" name="Shape 17"/>
          <p:cNvSpPr/>
          <p:nvPr/>
        </p:nvSpPr>
        <p:spPr>
          <a:xfrm>
            <a:off x="5486400" y="2377440"/>
            <a:ext cx="2560320" cy="457200"/>
          </a:xfrm>
          <a:prstGeom prst="rect">
            <a:avLst/>
          </a:prstGeom>
          <a:solidFill>
            <a:srgbClr val="39A900"/>
          </a:solidFill>
          <a:ln w="12700">
            <a:solidFill>
              <a:srgbClr val="E2E8F0"/>
            </a:solidFill>
            <a:prstDash val="solid"/>
          </a:ln>
        </p:spPr>
      </p:sp>
      <p:sp>
        <p:nvSpPr>
          <p:cNvPr id="20" name="Text 18"/>
          <p:cNvSpPr/>
          <p:nvPr/>
        </p:nvSpPr>
        <p:spPr>
          <a:xfrm>
            <a:off x="5486400" y="2377440"/>
            <a:ext cx="2560320" cy="45720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AlmacenDonJose</a:t>
            </a:r>
            <a:endParaRPr lang="en-US" sz="1000" dirty="0"/>
          </a:p>
        </p:txBody>
      </p:sp>
      <p:sp>
        <p:nvSpPr>
          <p:cNvPr id="21" name="Shape 19"/>
          <p:cNvSpPr/>
          <p:nvPr/>
        </p:nvSpPr>
        <p:spPr>
          <a:xfrm>
            <a:off x="4846320" y="3017520"/>
            <a:ext cx="1554480" cy="594360"/>
          </a:xfrm>
          <a:prstGeom prst="rect">
            <a:avLst/>
          </a:prstGeom>
          <a:solidFill>
            <a:srgbClr val="555555"/>
          </a:solidFill>
          <a:ln w="12700">
            <a:solidFill>
              <a:srgbClr val="E2E8F0"/>
            </a:solidFill>
            <a:prstDash val="solid"/>
          </a:ln>
        </p:spPr>
      </p:sp>
      <p:sp>
        <p:nvSpPr>
          <p:cNvPr id="22" name="Text 20"/>
          <p:cNvSpPr/>
          <p:nvPr/>
        </p:nvSpPr>
        <p:spPr>
          <a:xfrm>
            <a:off x="4846320" y="3017520"/>
            <a:ext cx="1554480" cy="5943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«interface»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PrendaBoyacense</a:t>
            </a:r>
            <a:endParaRPr lang="en-US" sz="1000" dirty="0"/>
          </a:p>
        </p:txBody>
      </p:sp>
      <p:sp>
        <p:nvSpPr>
          <p:cNvPr id="23" name="Shape 21"/>
          <p:cNvSpPr/>
          <p:nvPr/>
        </p:nvSpPr>
        <p:spPr>
          <a:xfrm>
            <a:off x="6583680" y="3017520"/>
            <a:ext cx="1554480" cy="594360"/>
          </a:xfrm>
          <a:prstGeom prst="rect">
            <a:avLst/>
          </a:prstGeom>
          <a:solidFill>
            <a:srgbClr val="555555"/>
          </a:solidFill>
          <a:ln w="12700">
            <a:solidFill>
              <a:srgbClr val="E2E8F0"/>
            </a:solidFill>
            <a:prstDash val="solid"/>
          </a:ln>
        </p:spPr>
      </p:sp>
      <p:sp>
        <p:nvSpPr>
          <p:cNvPr id="24" name="Text 22"/>
          <p:cNvSpPr/>
          <p:nvPr/>
        </p:nvSpPr>
        <p:spPr>
          <a:xfrm>
            <a:off x="6583680" y="3017520"/>
            <a:ext cx="1554480" cy="5943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Ruana  /  Camisa</a:t>
            </a:r>
            <a:endParaRPr lang="en-US" sz="1000" dirty="0"/>
          </a:p>
        </p:txBody>
      </p:sp>
      <p:sp>
        <p:nvSpPr>
          <p:cNvPr id="25" name="Shape 23"/>
          <p:cNvSpPr/>
          <p:nvPr/>
        </p:nvSpPr>
        <p:spPr>
          <a:xfrm>
            <a:off x="6766560" y="2148840"/>
            <a:ext cx="0" cy="228600"/>
          </a:xfrm>
          <a:prstGeom prst="line">
            <a:avLst/>
          </a:prstGeom>
          <a:noFill/>
          <a:ln w="19050">
            <a:solidFill>
              <a:srgbClr val="39A900"/>
            </a:solidFill>
            <a:prstDash val="dash"/>
          </a:ln>
        </p:spPr>
      </p:sp>
      <p:sp>
        <p:nvSpPr>
          <p:cNvPr id="26" name="Shape 24"/>
          <p:cNvSpPr/>
          <p:nvPr/>
        </p:nvSpPr>
        <p:spPr>
          <a:xfrm>
            <a:off x="5623560" y="2834640"/>
            <a:ext cx="640080" cy="182880"/>
          </a:xfrm>
          <a:prstGeom prst="line">
            <a:avLst/>
          </a:prstGeom>
          <a:noFill/>
          <a:ln w="19050">
            <a:solidFill>
              <a:srgbClr val="64748B"/>
            </a:solidFill>
            <a:prstDash val="solid"/>
          </a:ln>
        </p:spPr>
      </p:sp>
      <p:sp>
        <p:nvSpPr>
          <p:cNvPr id="27" name="Shape 25"/>
          <p:cNvSpPr/>
          <p:nvPr/>
        </p:nvSpPr>
        <p:spPr>
          <a:xfrm>
            <a:off x="7178040" y="2834640"/>
            <a:ext cx="640080" cy="182880"/>
          </a:xfrm>
          <a:prstGeom prst="line">
            <a:avLst/>
          </a:prstGeom>
          <a:noFill/>
          <a:ln w="19050">
            <a:solidFill>
              <a:srgbClr val="64748B"/>
            </a:solidFill>
            <a:prstDash val="solid"/>
          </a:ln>
        </p:spPr>
      </p:sp>
      <p:sp>
        <p:nvSpPr>
          <p:cNvPr id="28" name="Shape 26"/>
          <p:cNvSpPr/>
          <p:nvPr/>
        </p:nvSpPr>
        <p:spPr>
          <a:xfrm>
            <a:off x="0" y="4846320"/>
            <a:ext cx="9144000" cy="297180"/>
          </a:xfrm>
          <a:prstGeom prst="rect">
            <a:avLst/>
          </a:prstGeom>
          <a:solidFill>
            <a:srgbClr val="1F3864"/>
          </a:solidFill>
          <a:ln w="12700">
            <a:solidFill>
              <a:srgbClr val="1F3864"/>
            </a:solidFill>
            <a:prstDash val="solid"/>
          </a:ln>
        </p:spPr>
      </p:sp>
      <p:sp>
        <p:nvSpPr>
          <p:cNvPr id="29" name="Text 27"/>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30" name="Text 28"/>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7/32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F3864"/>
          </a:solidFill>
          <a:ln w="12700">
            <a:solidFill>
              <a:srgbClr val="1F3864"/>
            </a:solidFill>
            <a:prstDash val="solid"/>
          </a:ln>
        </p:spPr>
      </p:sp>
      <p:sp>
        <p:nvSpPr>
          <p:cNvPr id="3" name="Shape 1"/>
          <p:cNvSpPr/>
          <p:nvPr/>
        </p:nvSpPr>
        <p:spPr>
          <a:xfrm>
            <a:off x="0" y="109728"/>
            <a:ext cx="73152" cy="5033772"/>
          </a:xfrm>
          <a:prstGeom prst="rect">
            <a:avLst/>
          </a:prstGeom>
          <a:solidFill>
            <a:srgbClr val="1F3864"/>
          </a:solidFill>
          <a:ln w="12700">
            <a:solidFill>
              <a:srgbClr val="1F3864"/>
            </a:solidFill>
            <a:prstDash val="solid"/>
          </a:ln>
        </p:spPr>
      </p:sp>
      <p:sp>
        <p:nvSpPr>
          <p:cNvPr id="4" name="Text 2"/>
          <p:cNvSpPr/>
          <p:nvPr/>
        </p:nvSpPr>
        <p:spPr>
          <a:xfrm>
            <a:off x="274320" y="182880"/>
            <a:ext cx="8595360" cy="530352"/>
          </a:xfrm>
          <a:prstGeom prst="rect">
            <a:avLst/>
          </a:prstGeom>
          <a:noFill/>
          <a:ln/>
        </p:spPr>
        <p:txBody>
          <a:bodyPr wrap="square" rtlCol="0" anchor="ctr"/>
          <a:lstStyle/>
          <a:p>
            <a:pPr indent="0" marL="0">
              <a:buNone/>
            </a:pPr>
            <a:r>
              <a:rPr lang="en-US" sz="2200" b="1" dirty="0">
                <a:solidFill>
                  <a:srgbClr val="1F3864"/>
                </a:solidFill>
                <a:latin typeface="Calibri Black" pitchFamily="34" charset="0"/>
                <a:ea typeface="Calibri Black" pitchFamily="34" charset="-122"/>
                <a:cs typeface="Calibri Black" pitchFamily="34" charset="-120"/>
              </a:rPr>
              <a:t>Factory Method — Problema y Solución</a:t>
            </a:r>
            <a:endParaRPr lang="en-US" sz="2200" dirty="0"/>
          </a:p>
        </p:txBody>
      </p:sp>
      <p:sp>
        <p:nvSpPr>
          <p:cNvPr id="5" name="Shape 3"/>
          <p:cNvSpPr/>
          <p:nvPr/>
        </p:nvSpPr>
        <p:spPr>
          <a:xfrm>
            <a:off x="228600" y="822960"/>
            <a:ext cx="4206240" cy="1691640"/>
          </a:xfrm>
          <a:prstGeom prst="rect">
            <a:avLst/>
          </a:prstGeom>
          <a:solidFill>
            <a:srgbClr val="FEF2F2"/>
          </a:solidFill>
          <a:ln w="19050">
            <a:solidFill>
              <a:srgbClr val="DC2626"/>
            </a:solidFill>
            <a:prstDash val="solid"/>
          </a:ln>
        </p:spPr>
      </p:sp>
      <p:sp>
        <p:nvSpPr>
          <p:cNvPr id="6" name="Text 4"/>
          <p:cNvSpPr/>
          <p:nvPr/>
        </p:nvSpPr>
        <p:spPr>
          <a:xfrm>
            <a:off x="365760" y="868680"/>
            <a:ext cx="3931920" cy="320040"/>
          </a:xfrm>
          <a:prstGeom prst="rect">
            <a:avLst/>
          </a:prstGeom>
          <a:noFill/>
          <a:ln/>
        </p:spPr>
        <p:txBody>
          <a:bodyPr wrap="square" rtlCol="0" anchor="ctr"/>
          <a:lstStyle/>
          <a:p>
            <a:pPr indent="0" marL="0">
              <a:buNone/>
            </a:pPr>
            <a:r>
              <a:rPr lang="en-US" sz="1300" b="1" dirty="0">
                <a:solidFill>
                  <a:srgbClr val="DC2626"/>
                </a:solidFill>
                <a:latin typeface="Calibri" pitchFamily="34" charset="0"/>
                <a:ea typeface="Calibri" pitchFamily="34" charset="-122"/>
                <a:cs typeface="Calibri" pitchFamily="34" charset="-120"/>
              </a:rPr>
              <a:t>❌  El Problema</a:t>
            </a:r>
            <a:endParaRPr lang="en-US" sz="1300" dirty="0"/>
          </a:p>
        </p:txBody>
      </p:sp>
      <p:sp>
        <p:nvSpPr>
          <p:cNvPr id="7" name="Text 5"/>
          <p:cNvSpPr/>
          <p:nvPr/>
        </p:nvSpPr>
        <p:spPr>
          <a:xfrm>
            <a:off x="365760" y="1188720"/>
            <a:ext cx="3931920" cy="1188720"/>
          </a:xfrm>
          <a:prstGeom prst="rect">
            <a:avLst/>
          </a:prstGeom>
          <a:noFill/>
          <a:ln/>
        </p:spPr>
        <p:txBody>
          <a:bodyPr wrap="square" rtlCol="0" anchor="ctr"/>
          <a:lstStyle/>
          <a:p>
            <a:pPr indent="0" marL="0">
              <a:buNone/>
            </a:pPr>
            <a:r>
              <a:rPr lang="en-US" sz="1100" dirty="0">
                <a:solidFill>
                  <a:srgbClr val="7F1D1D"/>
                </a:solidFill>
                <a:latin typeface="Calibri" pitchFamily="34" charset="0"/>
                <a:ea typeface="Calibri" pitchFamily="34" charset="-122"/>
                <a:cs typeface="Calibri" pitchFamily="34" charset="-120"/>
              </a:rPr>
              <a:t>El sistema usa "new Ruana()" o "new Camisa()" directamente. Si se agrega un nuevo tipo de prenda, hay que modificar el código en múltiples lugares. Viola el principio Open/Closed.</a:t>
            </a:r>
            <a:endParaRPr lang="en-US" sz="1100" dirty="0"/>
          </a:p>
        </p:txBody>
      </p:sp>
      <p:sp>
        <p:nvSpPr>
          <p:cNvPr id="8" name="Shape 6"/>
          <p:cNvSpPr/>
          <p:nvPr/>
        </p:nvSpPr>
        <p:spPr>
          <a:xfrm>
            <a:off x="228600" y="2606040"/>
            <a:ext cx="4206240" cy="1691640"/>
          </a:xfrm>
          <a:prstGeom prst="rect">
            <a:avLst/>
          </a:prstGeom>
          <a:solidFill>
            <a:srgbClr val="F0FDF4"/>
          </a:solidFill>
          <a:ln w="19050">
            <a:solidFill>
              <a:srgbClr val="39A900"/>
            </a:solidFill>
            <a:prstDash val="solid"/>
          </a:ln>
        </p:spPr>
      </p:sp>
      <p:sp>
        <p:nvSpPr>
          <p:cNvPr id="9" name="Text 7"/>
          <p:cNvSpPr/>
          <p:nvPr/>
        </p:nvSpPr>
        <p:spPr>
          <a:xfrm>
            <a:off x="365760" y="2651760"/>
            <a:ext cx="3931920" cy="320040"/>
          </a:xfrm>
          <a:prstGeom prst="rect">
            <a:avLst/>
          </a:prstGeom>
          <a:noFill/>
          <a:ln/>
        </p:spPr>
        <p:txBody>
          <a:bodyPr wrap="square" rtlCol="0" anchor="ctr"/>
          <a:lstStyle/>
          <a:p>
            <a:pPr indent="0" marL="0">
              <a:buNone/>
            </a:pPr>
            <a:r>
              <a:rPr lang="en-US" sz="1300" b="1" dirty="0">
                <a:solidFill>
                  <a:srgbClr val="2D8200"/>
                </a:solidFill>
                <a:latin typeface="Calibri" pitchFamily="34" charset="0"/>
                <a:ea typeface="Calibri" pitchFamily="34" charset="-122"/>
                <a:cs typeface="Calibri" pitchFamily="34" charset="-120"/>
              </a:rPr>
              <a:t>✅  La Solución</a:t>
            </a:r>
            <a:endParaRPr lang="en-US" sz="1300" dirty="0"/>
          </a:p>
        </p:txBody>
      </p:sp>
      <p:sp>
        <p:nvSpPr>
          <p:cNvPr id="10" name="Text 8"/>
          <p:cNvSpPr/>
          <p:nvPr/>
        </p:nvSpPr>
        <p:spPr>
          <a:xfrm>
            <a:off x="365760" y="2971800"/>
            <a:ext cx="3931920" cy="1188720"/>
          </a:xfrm>
          <a:prstGeom prst="rect">
            <a:avLst/>
          </a:prstGeom>
          <a:noFill/>
          <a:ln/>
        </p:spPr>
        <p:txBody>
          <a:bodyPr wrap="square" rtlCol="0" anchor="ctr"/>
          <a:lstStyle/>
          <a:p>
            <a:pPr indent="0" marL="0">
              <a:buNone/>
            </a:pPr>
            <a:r>
              <a:rPr lang="en-US" sz="1100" dirty="0">
                <a:solidFill>
                  <a:srgbClr val="2D8200"/>
                </a:solidFill>
                <a:latin typeface="Calibri" pitchFamily="34" charset="0"/>
                <a:ea typeface="Calibri" pitchFamily="34" charset="-122"/>
                <a:cs typeface="Calibri" pitchFamily="34" charset="-120"/>
              </a:rPr>
              <a:t>Factory Method centraliza la creación en AlmacenDonJose.crearPrenda(tipo). El cliente solo llama crearPrenda() y el factory decide qué instanciar. Agregar PonchoWayuu = nueva clase, cero cambios en el resto.</a:t>
            </a:r>
            <a:endParaRPr lang="en-US" sz="1100" dirty="0"/>
          </a:p>
        </p:txBody>
      </p:sp>
      <p:sp>
        <p:nvSpPr>
          <p:cNvPr id="11" name="Shape 9"/>
          <p:cNvSpPr/>
          <p:nvPr/>
        </p:nvSpPr>
        <p:spPr>
          <a:xfrm>
            <a:off x="4572000" y="822960"/>
            <a:ext cx="4343400" cy="34747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2" name="Text 10"/>
          <p:cNvSpPr/>
          <p:nvPr/>
        </p:nvSpPr>
        <p:spPr>
          <a:xfrm>
            <a:off x="4663440" y="868680"/>
            <a:ext cx="4114800" cy="320040"/>
          </a:xfrm>
          <a:prstGeom prst="rect">
            <a:avLst/>
          </a:prstGeom>
          <a:noFill/>
          <a:ln/>
        </p:spPr>
        <p:txBody>
          <a:bodyPr wrap="square"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Flujo en el Almacén Don José</a:t>
            </a:r>
            <a:endParaRPr lang="en-US" sz="1200" dirty="0"/>
          </a:p>
        </p:txBody>
      </p:sp>
      <p:sp>
        <p:nvSpPr>
          <p:cNvPr id="13" name="Shape 11"/>
          <p:cNvSpPr/>
          <p:nvPr/>
        </p:nvSpPr>
        <p:spPr>
          <a:xfrm>
            <a:off x="4663440" y="1261872"/>
            <a:ext cx="4114800" cy="530352"/>
          </a:xfrm>
          <a:prstGeom prst="rect">
            <a:avLst/>
          </a:prstGeom>
          <a:solidFill>
            <a:srgbClr val="1F3864"/>
          </a:solidFill>
          <a:ln w="12700">
            <a:solidFill>
              <a:srgbClr val="1F3864"/>
            </a:solidFill>
            <a:prstDash val="solid"/>
          </a:ln>
        </p:spPr>
      </p:sp>
      <p:sp>
        <p:nvSpPr>
          <p:cNvPr id="14" name="Text 12"/>
          <p:cNvSpPr/>
          <p:nvPr/>
        </p:nvSpPr>
        <p:spPr>
          <a:xfrm>
            <a:off x="4663440" y="1261872"/>
            <a:ext cx="4114800" cy="530352"/>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1.  Cliente pide: venderPrenda('ruana')</a:t>
            </a:r>
            <a:endParaRPr lang="en-US" sz="1050" dirty="0"/>
          </a:p>
        </p:txBody>
      </p:sp>
      <p:sp>
        <p:nvSpPr>
          <p:cNvPr id="15" name="Shape 13"/>
          <p:cNvSpPr/>
          <p:nvPr/>
        </p:nvSpPr>
        <p:spPr>
          <a:xfrm>
            <a:off x="6675120" y="1792224"/>
            <a:ext cx="0" cy="45720"/>
          </a:xfrm>
          <a:prstGeom prst="line">
            <a:avLst/>
          </a:prstGeom>
          <a:noFill/>
          <a:ln w="19050">
            <a:solidFill>
              <a:srgbClr val="64748B"/>
            </a:solidFill>
            <a:prstDash val="solid"/>
          </a:ln>
        </p:spPr>
      </p:sp>
      <p:sp>
        <p:nvSpPr>
          <p:cNvPr id="16" name="Shape 14"/>
          <p:cNvSpPr/>
          <p:nvPr/>
        </p:nvSpPr>
        <p:spPr>
          <a:xfrm>
            <a:off x="4663440" y="1883664"/>
            <a:ext cx="4114800" cy="530352"/>
          </a:xfrm>
          <a:prstGeom prst="rect">
            <a:avLst/>
          </a:prstGeom>
          <a:solidFill>
            <a:srgbClr val="1F3864"/>
          </a:solidFill>
          <a:ln w="12700">
            <a:solidFill>
              <a:srgbClr val="1F3864"/>
            </a:solidFill>
            <a:prstDash val="solid"/>
          </a:ln>
        </p:spPr>
      </p:sp>
      <p:sp>
        <p:nvSpPr>
          <p:cNvPr id="17" name="Text 15"/>
          <p:cNvSpPr/>
          <p:nvPr/>
        </p:nvSpPr>
        <p:spPr>
          <a:xfrm>
            <a:off x="4663440" y="1883664"/>
            <a:ext cx="4114800" cy="530352"/>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2.  AlmacenDonJose.crearPrenda('ruana')</a:t>
            </a:r>
            <a:endParaRPr lang="en-US" sz="1050" dirty="0"/>
          </a:p>
        </p:txBody>
      </p:sp>
      <p:sp>
        <p:nvSpPr>
          <p:cNvPr id="18" name="Shape 16"/>
          <p:cNvSpPr/>
          <p:nvPr/>
        </p:nvSpPr>
        <p:spPr>
          <a:xfrm>
            <a:off x="6675120" y="2414016"/>
            <a:ext cx="0" cy="45720"/>
          </a:xfrm>
          <a:prstGeom prst="line">
            <a:avLst/>
          </a:prstGeom>
          <a:noFill/>
          <a:ln w="19050">
            <a:solidFill>
              <a:srgbClr val="64748B"/>
            </a:solidFill>
            <a:prstDash val="solid"/>
          </a:ln>
        </p:spPr>
      </p:sp>
      <p:sp>
        <p:nvSpPr>
          <p:cNvPr id="19" name="Shape 17"/>
          <p:cNvSpPr/>
          <p:nvPr/>
        </p:nvSpPr>
        <p:spPr>
          <a:xfrm>
            <a:off x="4663440" y="2505456"/>
            <a:ext cx="4114800" cy="530352"/>
          </a:xfrm>
          <a:prstGeom prst="rect">
            <a:avLst/>
          </a:prstGeom>
          <a:solidFill>
            <a:srgbClr val="39A900"/>
          </a:solidFill>
          <a:ln w="12700">
            <a:solidFill>
              <a:srgbClr val="39A900"/>
            </a:solidFill>
            <a:prstDash val="solid"/>
          </a:ln>
        </p:spPr>
      </p:sp>
      <p:sp>
        <p:nvSpPr>
          <p:cNvPr id="20" name="Text 18"/>
          <p:cNvSpPr/>
          <p:nvPr/>
        </p:nvSpPr>
        <p:spPr>
          <a:xfrm>
            <a:off x="4663440" y="2505456"/>
            <a:ext cx="4114800" cy="530352"/>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3.  Factory decide → new Ruana()</a:t>
            </a:r>
            <a:endParaRPr lang="en-US" sz="1050" dirty="0"/>
          </a:p>
        </p:txBody>
      </p:sp>
      <p:sp>
        <p:nvSpPr>
          <p:cNvPr id="21" name="Shape 19"/>
          <p:cNvSpPr/>
          <p:nvPr/>
        </p:nvSpPr>
        <p:spPr>
          <a:xfrm>
            <a:off x="6675120" y="3035808"/>
            <a:ext cx="0" cy="45720"/>
          </a:xfrm>
          <a:prstGeom prst="line">
            <a:avLst/>
          </a:prstGeom>
          <a:noFill/>
          <a:ln w="19050">
            <a:solidFill>
              <a:srgbClr val="64748B"/>
            </a:solidFill>
            <a:prstDash val="solid"/>
          </a:ln>
        </p:spPr>
      </p:sp>
      <p:sp>
        <p:nvSpPr>
          <p:cNvPr id="22" name="Shape 20"/>
          <p:cNvSpPr/>
          <p:nvPr/>
        </p:nvSpPr>
        <p:spPr>
          <a:xfrm>
            <a:off x="4663440" y="3127248"/>
            <a:ext cx="4114800" cy="530352"/>
          </a:xfrm>
          <a:prstGeom prst="rect">
            <a:avLst/>
          </a:prstGeom>
          <a:solidFill>
            <a:srgbClr val="39A900"/>
          </a:solidFill>
          <a:ln w="12700">
            <a:solidFill>
              <a:srgbClr val="39A900"/>
            </a:solidFill>
            <a:prstDash val="solid"/>
          </a:ln>
        </p:spPr>
      </p:sp>
      <p:sp>
        <p:nvSpPr>
          <p:cNvPr id="23" name="Text 21"/>
          <p:cNvSpPr/>
          <p:nvPr/>
        </p:nvSpPr>
        <p:spPr>
          <a:xfrm>
            <a:off x="4663440" y="3127248"/>
            <a:ext cx="4114800" cy="530352"/>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4.  Retorna objeto Ruana</a:t>
            </a:r>
            <a:endParaRPr lang="en-US" sz="1050" dirty="0"/>
          </a:p>
        </p:txBody>
      </p:sp>
      <p:sp>
        <p:nvSpPr>
          <p:cNvPr id="24" name="Shape 22"/>
          <p:cNvSpPr/>
          <p:nvPr/>
        </p:nvSpPr>
        <p:spPr>
          <a:xfrm>
            <a:off x="6675120" y="3657600"/>
            <a:ext cx="0" cy="45720"/>
          </a:xfrm>
          <a:prstGeom prst="line">
            <a:avLst/>
          </a:prstGeom>
          <a:noFill/>
          <a:ln w="19050">
            <a:solidFill>
              <a:srgbClr val="64748B"/>
            </a:solidFill>
            <a:prstDash val="solid"/>
          </a:ln>
        </p:spPr>
      </p:sp>
      <p:sp>
        <p:nvSpPr>
          <p:cNvPr id="25" name="Shape 23"/>
          <p:cNvSpPr/>
          <p:nvPr/>
        </p:nvSpPr>
        <p:spPr>
          <a:xfrm>
            <a:off x="4663440" y="3749040"/>
            <a:ext cx="4114800" cy="530352"/>
          </a:xfrm>
          <a:prstGeom prst="rect">
            <a:avLst/>
          </a:prstGeom>
          <a:solidFill>
            <a:srgbClr val="7B2D8B"/>
          </a:solidFill>
          <a:ln w="12700">
            <a:solidFill>
              <a:srgbClr val="7B2D8B"/>
            </a:solidFill>
            <a:prstDash val="solid"/>
          </a:ln>
        </p:spPr>
      </p:sp>
      <p:sp>
        <p:nvSpPr>
          <p:cNvPr id="26" name="Text 24"/>
          <p:cNvSpPr/>
          <p:nvPr/>
        </p:nvSpPr>
        <p:spPr>
          <a:xfrm>
            <a:off x="4663440" y="3749040"/>
            <a:ext cx="4114800" cy="530352"/>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5.  venderPrenda() llama prenda.describir()</a:t>
            </a:r>
            <a:endParaRPr lang="en-US" sz="1050" dirty="0"/>
          </a:p>
        </p:txBody>
      </p:sp>
      <p:sp>
        <p:nvSpPr>
          <p:cNvPr id="27" name="Shape 25"/>
          <p:cNvSpPr/>
          <p:nvPr/>
        </p:nvSpPr>
        <p:spPr>
          <a:xfrm>
            <a:off x="0" y="4846320"/>
            <a:ext cx="9144000" cy="297180"/>
          </a:xfrm>
          <a:prstGeom prst="rect">
            <a:avLst/>
          </a:prstGeom>
          <a:solidFill>
            <a:srgbClr val="1F3864"/>
          </a:solidFill>
          <a:ln w="12700">
            <a:solidFill>
              <a:srgbClr val="1F3864"/>
            </a:solidFill>
            <a:prstDash val="solid"/>
          </a:ln>
        </p:spPr>
      </p:sp>
      <p:sp>
        <p:nvSpPr>
          <p:cNvPr id="28" name="Text 26"/>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29" name="Text 27"/>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8/32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F3864"/>
          </a:solidFill>
          <a:ln w="12700">
            <a:solidFill>
              <a:srgbClr val="1F3864"/>
            </a:solidFill>
            <a:prstDash val="solid"/>
          </a:ln>
        </p:spPr>
      </p:sp>
      <p:sp>
        <p:nvSpPr>
          <p:cNvPr id="3" name="Shape 1"/>
          <p:cNvSpPr/>
          <p:nvPr/>
        </p:nvSpPr>
        <p:spPr>
          <a:xfrm>
            <a:off x="0" y="109728"/>
            <a:ext cx="73152" cy="5033772"/>
          </a:xfrm>
          <a:prstGeom prst="rect">
            <a:avLst/>
          </a:prstGeom>
          <a:solidFill>
            <a:srgbClr val="1F3864"/>
          </a:solidFill>
          <a:ln w="12700">
            <a:solidFill>
              <a:srgbClr val="1F3864"/>
            </a:solidFill>
            <a:prstDash val="solid"/>
          </a:ln>
        </p:spPr>
      </p:sp>
      <p:sp>
        <p:nvSpPr>
          <p:cNvPr id="4" name="Text 2"/>
          <p:cNvSpPr/>
          <p:nvPr/>
        </p:nvSpPr>
        <p:spPr>
          <a:xfrm>
            <a:off x="274320" y="182880"/>
            <a:ext cx="8595360" cy="530352"/>
          </a:xfrm>
          <a:prstGeom prst="rect">
            <a:avLst/>
          </a:prstGeom>
          <a:noFill/>
          <a:ln/>
        </p:spPr>
        <p:txBody>
          <a:bodyPr wrap="square" rtlCol="0" anchor="ctr"/>
          <a:lstStyle/>
          <a:p>
            <a:pPr indent="0" marL="0">
              <a:buNone/>
            </a:pPr>
            <a:r>
              <a:rPr lang="en-US" sz="2200" b="1" dirty="0">
                <a:solidFill>
                  <a:srgbClr val="1F3864"/>
                </a:solidFill>
                <a:latin typeface="Calibri Black" pitchFamily="34" charset="0"/>
                <a:ea typeface="Calibri Black" pitchFamily="34" charset="-122"/>
                <a:cs typeface="Calibri Black" pitchFamily="34" charset="-120"/>
              </a:rPr>
              <a:t>Factory Method — Estructura y Roles</a:t>
            </a:r>
            <a:endParaRPr lang="en-US" sz="2200" dirty="0"/>
          </a:p>
        </p:txBody>
      </p:sp>
      <p:sp>
        <p:nvSpPr>
          <p:cNvPr id="5" name="Shape 3"/>
          <p:cNvSpPr/>
          <p:nvPr/>
        </p:nvSpPr>
        <p:spPr>
          <a:xfrm>
            <a:off x="228600" y="822960"/>
            <a:ext cx="4160520" cy="1783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6" name="Shape 4"/>
          <p:cNvSpPr/>
          <p:nvPr/>
        </p:nvSpPr>
        <p:spPr>
          <a:xfrm>
            <a:off x="228600" y="822960"/>
            <a:ext cx="4160520" cy="411480"/>
          </a:xfrm>
          <a:prstGeom prst="rect">
            <a:avLst/>
          </a:prstGeom>
          <a:solidFill>
            <a:srgbClr val="7B2D8B"/>
          </a:solidFill>
          <a:ln w="12700">
            <a:solidFill>
              <a:srgbClr val="7B2D8B"/>
            </a:solidFill>
            <a:prstDash val="solid"/>
          </a:ln>
        </p:spPr>
      </p:sp>
      <p:sp>
        <p:nvSpPr>
          <p:cNvPr id="7" name="Text 5"/>
          <p:cNvSpPr/>
          <p:nvPr/>
        </p:nvSpPr>
        <p:spPr>
          <a:xfrm>
            <a:off x="338328" y="822960"/>
            <a:ext cx="3931920" cy="23774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PrendaBoyacense</a:t>
            </a:r>
            <a:endParaRPr lang="en-US" sz="1200" dirty="0"/>
          </a:p>
        </p:txBody>
      </p:sp>
      <p:sp>
        <p:nvSpPr>
          <p:cNvPr id="8" name="Text 6"/>
          <p:cNvSpPr/>
          <p:nvPr/>
        </p:nvSpPr>
        <p:spPr>
          <a:xfrm>
            <a:off x="338328" y="1042416"/>
            <a:ext cx="3931920" cy="182880"/>
          </a:xfrm>
          <a:prstGeom prst="rect">
            <a:avLst/>
          </a:prstGeom>
          <a:noFill/>
          <a:ln/>
        </p:spPr>
        <p:txBody>
          <a:bodyPr wrap="square" rtlCol="0" anchor="ctr"/>
          <a:lstStyle/>
          <a:p>
            <a:pPr indent="0" marL="0">
              <a:buNone/>
            </a:pPr>
            <a:r>
              <a:rPr lang="en-US" sz="900" i="1" dirty="0">
                <a:solidFill>
                  <a:srgbClr val="CCDDEE"/>
                </a:solidFill>
                <a:latin typeface="Calibri" pitchFamily="34" charset="0"/>
                <a:ea typeface="Calibri" pitchFamily="34" charset="-122"/>
                <a:cs typeface="Calibri" pitchFamily="34" charset="-120"/>
              </a:rPr>
              <a:t>«Product (abstract)»</a:t>
            </a:r>
            <a:endParaRPr lang="en-US" sz="900" dirty="0"/>
          </a:p>
        </p:txBody>
      </p:sp>
      <p:sp>
        <p:nvSpPr>
          <p:cNvPr id="9" name="Text 7"/>
          <p:cNvSpPr/>
          <p:nvPr/>
        </p:nvSpPr>
        <p:spPr>
          <a:xfrm>
            <a:off x="338328" y="1316736"/>
            <a:ext cx="3931920" cy="11887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Interfaz o clase abstracta que define el contrato común de todos los productos: describir(), getNombre(), getPrecio().</a:t>
            </a:r>
            <a:endParaRPr lang="en-US" sz="1050" dirty="0"/>
          </a:p>
        </p:txBody>
      </p:sp>
      <p:sp>
        <p:nvSpPr>
          <p:cNvPr id="10" name="Shape 8"/>
          <p:cNvSpPr/>
          <p:nvPr/>
        </p:nvSpPr>
        <p:spPr>
          <a:xfrm>
            <a:off x="228600" y="2743200"/>
            <a:ext cx="4160520" cy="1783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1" name="Shape 9"/>
          <p:cNvSpPr/>
          <p:nvPr/>
        </p:nvSpPr>
        <p:spPr>
          <a:xfrm>
            <a:off x="228600" y="2743200"/>
            <a:ext cx="4160520" cy="411480"/>
          </a:xfrm>
          <a:prstGeom prst="rect">
            <a:avLst/>
          </a:prstGeom>
          <a:solidFill>
            <a:srgbClr val="2D8200"/>
          </a:solidFill>
          <a:ln w="12700">
            <a:solidFill>
              <a:srgbClr val="2D8200"/>
            </a:solidFill>
            <a:prstDash val="solid"/>
          </a:ln>
        </p:spPr>
      </p:sp>
      <p:sp>
        <p:nvSpPr>
          <p:cNvPr id="12" name="Text 10"/>
          <p:cNvSpPr/>
          <p:nvPr/>
        </p:nvSpPr>
        <p:spPr>
          <a:xfrm>
            <a:off x="338328" y="2743200"/>
            <a:ext cx="3931920" cy="23774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Ruana / CamisaCotidiana</a:t>
            </a:r>
            <a:endParaRPr lang="en-US" sz="1200" dirty="0"/>
          </a:p>
        </p:txBody>
      </p:sp>
      <p:sp>
        <p:nvSpPr>
          <p:cNvPr id="13" name="Text 11"/>
          <p:cNvSpPr/>
          <p:nvPr/>
        </p:nvSpPr>
        <p:spPr>
          <a:xfrm>
            <a:off x="338328" y="2962656"/>
            <a:ext cx="3931920" cy="182880"/>
          </a:xfrm>
          <a:prstGeom prst="rect">
            <a:avLst/>
          </a:prstGeom>
          <a:noFill/>
          <a:ln/>
        </p:spPr>
        <p:txBody>
          <a:bodyPr wrap="square" rtlCol="0" anchor="ctr"/>
          <a:lstStyle/>
          <a:p>
            <a:pPr indent="0" marL="0">
              <a:buNone/>
            </a:pPr>
            <a:r>
              <a:rPr lang="en-US" sz="900" i="1" dirty="0">
                <a:solidFill>
                  <a:srgbClr val="CCDDEE"/>
                </a:solidFill>
                <a:latin typeface="Calibri" pitchFamily="34" charset="0"/>
                <a:ea typeface="Calibri" pitchFamily="34" charset="-122"/>
                <a:cs typeface="Calibri" pitchFamily="34" charset="-120"/>
              </a:rPr>
              <a:t>«ConcreteProduct»</a:t>
            </a:r>
            <a:endParaRPr lang="en-US" sz="900" dirty="0"/>
          </a:p>
        </p:txBody>
      </p:sp>
      <p:sp>
        <p:nvSpPr>
          <p:cNvPr id="14" name="Text 12"/>
          <p:cNvSpPr/>
          <p:nvPr/>
        </p:nvSpPr>
        <p:spPr>
          <a:xfrm>
            <a:off x="338328" y="3236976"/>
            <a:ext cx="3931920" cy="11887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Implementaciones concretas del producto. Cada una define sus propios atributos (material, precio, origen).</a:t>
            </a:r>
            <a:endParaRPr lang="en-US" sz="1050" dirty="0"/>
          </a:p>
        </p:txBody>
      </p:sp>
      <p:sp>
        <p:nvSpPr>
          <p:cNvPr id="15" name="Shape 13"/>
          <p:cNvSpPr/>
          <p:nvPr/>
        </p:nvSpPr>
        <p:spPr>
          <a:xfrm>
            <a:off x="4617720" y="822960"/>
            <a:ext cx="4160520" cy="1783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6" name="Shape 14"/>
          <p:cNvSpPr/>
          <p:nvPr/>
        </p:nvSpPr>
        <p:spPr>
          <a:xfrm>
            <a:off x="4617720" y="822960"/>
            <a:ext cx="4160520" cy="411480"/>
          </a:xfrm>
          <a:prstGeom prst="rect">
            <a:avLst/>
          </a:prstGeom>
          <a:solidFill>
            <a:srgbClr val="1F3864"/>
          </a:solidFill>
          <a:ln w="12700">
            <a:solidFill>
              <a:srgbClr val="1F3864"/>
            </a:solidFill>
            <a:prstDash val="solid"/>
          </a:ln>
        </p:spPr>
      </p:sp>
      <p:sp>
        <p:nvSpPr>
          <p:cNvPr id="17" name="Text 15"/>
          <p:cNvSpPr/>
          <p:nvPr/>
        </p:nvSpPr>
        <p:spPr>
          <a:xfrm>
            <a:off x="4727448" y="822960"/>
            <a:ext cx="3931920" cy="23774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TiendaRopa</a:t>
            </a:r>
            <a:endParaRPr lang="en-US" sz="1200" dirty="0"/>
          </a:p>
        </p:txBody>
      </p:sp>
      <p:sp>
        <p:nvSpPr>
          <p:cNvPr id="18" name="Text 16"/>
          <p:cNvSpPr/>
          <p:nvPr/>
        </p:nvSpPr>
        <p:spPr>
          <a:xfrm>
            <a:off x="4727448" y="1042416"/>
            <a:ext cx="3931920" cy="182880"/>
          </a:xfrm>
          <a:prstGeom prst="rect">
            <a:avLst/>
          </a:prstGeom>
          <a:noFill/>
          <a:ln/>
        </p:spPr>
        <p:txBody>
          <a:bodyPr wrap="square" rtlCol="0" anchor="ctr"/>
          <a:lstStyle/>
          <a:p>
            <a:pPr indent="0" marL="0">
              <a:buNone/>
            </a:pPr>
            <a:r>
              <a:rPr lang="en-US" sz="900" i="1" dirty="0">
                <a:solidFill>
                  <a:srgbClr val="CCDDEE"/>
                </a:solidFill>
                <a:latin typeface="Calibri" pitchFamily="34" charset="0"/>
                <a:ea typeface="Calibri" pitchFamily="34" charset="-122"/>
                <a:cs typeface="Calibri" pitchFamily="34" charset="-120"/>
              </a:rPr>
              <a:t>«Creator (abstract)»</a:t>
            </a:r>
            <a:endParaRPr lang="en-US" sz="900" dirty="0"/>
          </a:p>
        </p:txBody>
      </p:sp>
      <p:sp>
        <p:nvSpPr>
          <p:cNvPr id="19" name="Text 17"/>
          <p:cNvSpPr/>
          <p:nvPr/>
        </p:nvSpPr>
        <p:spPr>
          <a:xfrm>
            <a:off x="4727448" y="1316736"/>
            <a:ext cx="3931920" cy="11887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Clase abstracta que declara el Factory Method crearPrenda(tipo). También define venderPrenda() que usa el factory method.</a:t>
            </a:r>
            <a:endParaRPr lang="en-US" sz="1050" dirty="0"/>
          </a:p>
        </p:txBody>
      </p:sp>
      <p:sp>
        <p:nvSpPr>
          <p:cNvPr id="20" name="Shape 18"/>
          <p:cNvSpPr/>
          <p:nvPr/>
        </p:nvSpPr>
        <p:spPr>
          <a:xfrm>
            <a:off x="4617720" y="2743200"/>
            <a:ext cx="4160520" cy="1783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21" name="Shape 19"/>
          <p:cNvSpPr/>
          <p:nvPr/>
        </p:nvSpPr>
        <p:spPr>
          <a:xfrm>
            <a:off x="4617720" y="2743200"/>
            <a:ext cx="4160520" cy="411480"/>
          </a:xfrm>
          <a:prstGeom prst="rect">
            <a:avLst/>
          </a:prstGeom>
          <a:solidFill>
            <a:srgbClr val="39A900"/>
          </a:solidFill>
          <a:ln w="12700">
            <a:solidFill>
              <a:srgbClr val="39A900"/>
            </a:solidFill>
            <a:prstDash val="solid"/>
          </a:ln>
        </p:spPr>
      </p:sp>
      <p:sp>
        <p:nvSpPr>
          <p:cNvPr id="22" name="Text 20"/>
          <p:cNvSpPr/>
          <p:nvPr/>
        </p:nvSpPr>
        <p:spPr>
          <a:xfrm>
            <a:off x="4727448" y="2743200"/>
            <a:ext cx="3931920" cy="23774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AlmacenDonJose</a:t>
            </a:r>
            <a:endParaRPr lang="en-US" sz="1200" dirty="0"/>
          </a:p>
        </p:txBody>
      </p:sp>
      <p:sp>
        <p:nvSpPr>
          <p:cNvPr id="23" name="Text 21"/>
          <p:cNvSpPr/>
          <p:nvPr/>
        </p:nvSpPr>
        <p:spPr>
          <a:xfrm>
            <a:off x="4727448" y="2962656"/>
            <a:ext cx="3931920" cy="182880"/>
          </a:xfrm>
          <a:prstGeom prst="rect">
            <a:avLst/>
          </a:prstGeom>
          <a:noFill/>
          <a:ln/>
        </p:spPr>
        <p:txBody>
          <a:bodyPr wrap="square" rtlCol="0" anchor="ctr"/>
          <a:lstStyle/>
          <a:p>
            <a:pPr indent="0" marL="0">
              <a:buNone/>
            </a:pPr>
            <a:r>
              <a:rPr lang="en-US" sz="900" i="1" dirty="0">
                <a:solidFill>
                  <a:srgbClr val="CCDDEE"/>
                </a:solidFill>
                <a:latin typeface="Calibri" pitchFamily="34" charset="0"/>
                <a:ea typeface="Calibri" pitchFamily="34" charset="-122"/>
                <a:cs typeface="Calibri" pitchFamily="34" charset="-120"/>
              </a:rPr>
              <a:t>«ConcreteCreator»</a:t>
            </a:r>
            <a:endParaRPr lang="en-US" sz="900" dirty="0"/>
          </a:p>
        </p:txBody>
      </p:sp>
      <p:sp>
        <p:nvSpPr>
          <p:cNvPr id="24" name="Text 22"/>
          <p:cNvSpPr/>
          <p:nvPr/>
        </p:nvSpPr>
        <p:spPr>
          <a:xfrm>
            <a:off x="4727448" y="3236976"/>
            <a:ext cx="3931920" cy="118872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Implementa crearPrenda() con el switch que decide qué objeto concreto instanciar según el tipo solicitado.</a:t>
            </a:r>
            <a:endParaRPr lang="en-US" sz="1050" dirty="0"/>
          </a:p>
        </p:txBody>
      </p:sp>
      <p:sp>
        <p:nvSpPr>
          <p:cNvPr id="25" name="Shape 23"/>
          <p:cNvSpPr/>
          <p:nvPr/>
        </p:nvSpPr>
        <p:spPr>
          <a:xfrm>
            <a:off x="0" y="4846320"/>
            <a:ext cx="9144000" cy="297180"/>
          </a:xfrm>
          <a:prstGeom prst="rect">
            <a:avLst/>
          </a:prstGeom>
          <a:solidFill>
            <a:srgbClr val="1F3864"/>
          </a:solidFill>
          <a:ln w="12700">
            <a:solidFill>
              <a:srgbClr val="1F3864"/>
            </a:solidFill>
            <a:prstDash val="solid"/>
          </a:ln>
        </p:spPr>
      </p:sp>
      <p:sp>
        <p:nvSpPr>
          <p:cNvPr id="26" name="Text 24"/>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27" name="Text 25"/>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9/32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F3864"/>
          </a:solidFill>
          <a:ln w="12700">
            <a:solidFill>
              <a:srgbClr val="1F3864"/>
            </a:solidFill>
            <a:prstDash val="solid"/>
          </a:ln>
        </p:spPr>
      </p:sp>
      <p:sp>
        <p:nvSpPr>
          <p:cNvPr id="3" name="Text 1"/>
          <p:cNvSpPr/>
          <p:nvPr/>
        </p:nvSpPr>
        <p:spPr>
          <a:xfrm>
            <a:off x="274320" y="164592"/>
            <a:ext cx="8229600" cy="475488"/>
          </a:xfrm>
          <a:prstGeom prst="rect">
            <a:avLst/>
          </a:prstGeom>
          <a:noFill/>
          <a:ln/>
        </p:spPr>
        <p:txBody>
          <a:bodyPr wrap="square" rtlCol="0" anchor="ctr"/>
          <a:lstStyle/>
          <a:p>
            <a:pPr indent="0" marL="0">
              <a:buNone/>
            </a:pPr>
            <a:r>
              <a:rPr lang="en-US" sz="2200" b="1" dirty="0">
                <a:solidFill>
                  <a:srgbClr val="FFFFFF"/>
                </a:solidFill>
                <a:latin typeface="Calibri Black" pitchFamily="34" charset="0"/>
                <a:ea typeface="Calibri Black" pitchFamily="34" charset="-122"/>
                <a:cs typeface="Calibri Black" pitchFamily="34" charset="-120"/>
              </a:rPr>
              <a:t>Factory Method — Código Java</a:t>
            </a:r>
            <a:endParaRPr lang="en-US" sz="2200" dirty="0"/>
          </a:p>
        </p:txBody>
      </p:sp>
      <p:sp>
        <p:nvSpPr>
          <p:cNvPr id="4" name="Text 2"/>
          <p:cNvSpPr/>
          <p:nvPr/>
        </p:nvSpPr>
        <p:spPr>
          <a:xfrm>
            <a:off x="274320" y="585216"/>
            <a:ext cx="8229600" cy="274320"/>
          </a:xfrm>
          <a:prstGeom prst="rect">
            <a:avLst/>
          </a:prstGeom>
          <a:noFill/>
          <a:ln/>
        </p:spPr>
        <p:txBody>
          <a:bodyPr wrap="square" rtlCol="0" anchor="ctr"/>
          <a:lstStyle/>
          <a:p>
            <a:pPr indent="0" marL="0">
              <a:buNone/>
            </a:pPr>
            <a:r>
              <a:rPr lang="en-US" sz="1200" i="1" dirty="0">
                <a:solidFill>
                  <a:srgbClr val="39A900"/>
                </a:solidFill>
                <a:latin typeface="Calibri" pitchFamily="34" charset="0"/>
                <a:ea typeface="Calibri" pitchFamily="34" charset="-122"/>
                <a:cs typeface="Calibri" pitchFamily="34" charset="-120"/>
              </a:rPr>
              <a:t>Almacén Don José de Chiquinquirá</a:t>
            </a:r>
            <a:endParaRPr lang="en-US" sz="1200" dirty="0"/>
          </a:p>
        </p:txBody>
      </p:sp>
      <p:sp>
        <p:nvSpPr>
          <p:cNvPr id="5" name="Shape 3"/>
          <p:cNvSpPr/>
          <p:nvPr/>
        </p:nvSpPr>
        <p:spPr>
          <a:xfrm>
            <a:off x="182880" y="914400"/>
            <a:ext cx="4343400" cy="3200400"/>
          </a:xfrm>
          <a:prstGeom prst="rect">
            <a:avLst/>
          </a:prstGeom>
          <a:solidFill>
            <a:srgbClr val="0F172A"/>
          </a:solidFill>
          <a:ln w="12700">
            <a:solidFill>
              <a:srgbClr val="334155"/>
            </a:solidFill>
            <a:prstDash val="solid"/>
          </a:ln>
          <a:effectLst>
            <a:outerShdw sx="100000" sy="100000" kx="0" ky="0" algn="bl" rotWithShape="0" blurRad="101600" dist="38100" dir="8100000">
              <a:srgbClr val="000000">
                <a:alpha val="15000"/>
              </a:srgbClr>
            </a:outerShdw>
          </a:effectLst>
        </p:spPr>
      </p:sp>
      <p:sp>
        <p:nvSpPr>
          <p:cNvPr id="6" name="Shape 4"/>
          <p:cNvSpPr/>
          <p:nvPr/>
        </p:nvSpPr>
        <p:spPr>
          <a:xfrm>
            <a:off x="182880" y="914400"/>
            <a:ext cx="4343400" cy="201168"/>
          </a:xfrm>
          <a:prstGeom prst="rect">
            <a:avLst/>
          </a:prstGeom>
          <a:solidFill>
            <a:srgbClr val="1E293B"/>
          </a:solidFill>
          <a:ln w="12700">
            <a:solidFill>
              <a:srgbClr val="334155"/>
            </a:solidFill>
            <a:prstDash val="solid"/>
          </a:ln>
        </p:spPr>
      </p:sp>
      <p:sp>
        <p:nvSpPr>
          <p:cNvPr id="7" name="Text 5"/>
          <p:cNvSpPr/>
          <p:nvPr/>
        </p:nvSpPr>
        <p:spPr>
          <a:xfrm>
            <a:off x="274320" y="923544"/>
            <a:ext cx="4160520" cy="182880"/>
          </a:xfrm>
          <a:prstGeom prst="rect">
            <a:avLst/>
          </a:prstGeom>
          <a:noFill/>
          <a:ln/>
        </p:spPr>
        <p:txBody>
          <a:bodyPr wrap="square"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Java  •  Almacén Don José</a:t>
            </a:r>
            <a:endParaRPr lang="en-US" sz="750" dirty="0"/>
          </a:p>
        </p:txBody>
      </p:sp>
      <p:sp>
        <p:nvSpPr>
          <p:cNvPr id="8" name="Text 6"/>
          <p:cNvSpPr/>
          <p:nvPr/>
        </p:nvSpPr>
        <p:spPr>
          <a:xfrm>
            <a:off x="274320" y="1133856"/>
            <a:ext cx="4160520" cy="2926080"/>
          </a:xfrm>
          <a:prstGeom prst="rect">
            <a:avLst/>
          </a:prstGeom>
          <a:noFill/>
          <a:ln/>
        </p:spPr>
        <p:txBody>
          <a:bodyPr wrap="square" rtlCol="0" anchor="t"/>
          <a:lstStyle/>
          <a:p>
            <a:pPr indent="0" marL="0">
              <a:buNone/>
            </a:pPr>
            <a:r>
              <a:rPr lang="en-US" sz="850" dirty="0">
                <a:solidFill>
                  <a:srgbClr val="E2E8F0"/>
                </a:solidFill>
                <a:latin typeface="Consolas" pitchFamily="34" charset="0"/>
                <a:ea typeface="Consolas" pitchFamily="34" charset="-122"/>
                <a:cs typeface="Consolas" pitchFamily="34" charset="-120"/>
              </a:rPr>
              <a:t>// Producto abstracto</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public abstract class PrendaBoyacense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protected String nombre; protected double precio;</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abstract void describir();</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a:t>
            </a:r>
            <a:endParaRPr lang="en-US" sz="850" dirty="0"/>
          </a:p>
          <a:p>
            <a:pPr indent="0" marL="0">
              <a:buNone/>
            </a:pP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Creador abstracto con Factory Method</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public abstract class TiendaRopa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abstract PrendaBoyacense crearPrenda(String tipo);</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void venderPrenda(String tipo)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PrendaBoyacense prenda = crearPrenda(tipo); // Factory Method</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prenda.describir();</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a:t>
            </a:r>
            <a:endParaRPr lang="en-US" sz="850" dirty="0"/>
          </a:p>
        </p:txBody>
      </p:sp>
      <p:sp>
        <p:nvSpPr>
          <p:cNvPr id="9" name="Shape 7"/>
          <p:cNvSpPr/>
          <p:nvPr/>
        </p:nvSpPr>
        <p:spPr>
          <a:xfrm>
            <a:off x="4617720" y="914400"/>
            <a:ext cx="4343400" cy="3200400"/>
          </a:xfrm>
          <a:prstGeom prst="rect">
            <a:avLst/>
          </a:prstGeom>
          <a:solidFill>
            <a:srgbClr val="0F172A"/>
          </a:solidFill>
          <a:ln w="12700">
            <a:solidFill>
              <a:srgbClr val="334155"/>
            </a:solidFill>
            <a:prstDash val="solid"/>
          </a:ln>
          <a:effectLst>
            <a:outerShdw sx="100000" sy="100000" kx="0" ky="0" algn="bl" rotWithShape="0" blurRad="101600" dist="38100" dir="8100000">
              <a:srgbClr val="000000">
                <a:alpha val="15000"/>
              </a:srgbClr>
            </a:outerShdw>
          </a:effectLst>
        </p:spPr>
      </p:sp>
      <p:sp>
        <p:nvSpPr>
          <p:cNvPr id="10" name="Shape 8"/>
          <p:cNvSpPr/>
          <p:nvPr/>
        </p:nvSpPr>
        <p:spPr>
          <a:xfrm>
            <a:off x="4617720" y="914400"/>
            <a:ext cx="4343400" cy="201168"/>
          </a:xfrm>
          <a:prstGeom prst="rect">
            <a:avLst/>
          </a:prstGeom>
          <a:solidFill>
            <a:srgbClr val="1E293B"/>
          </a:solidFill>
          <a:ln w="12700">
            <a:solidFill>
              <a:srgbClr val="334155"/>
            </a:solidFill>
            <a:prstDash val="solid"/>
          </a:ln>
        </p:spPr>
      </p:sp>
      <p:sp>
        <p:nvSpPr>
          <p:cNvPr id="11" name="Text 9"/>
          <p:cNvSpPr/>
          <p:nvPr/>
        </p:nvSpPr>
        <p:spPr>
          <a:xfrm>
            <a:off x="4709160" y="923544"/>
            <a:ext cx="4160520" cy="182880"/>
          </a:xfrm>
          <a:prstGeom prst="rect">
            <a:avLst/>
          </a:prstGeom>
          <a:noFill/>
          <a:ln/>
        </p:spPr>
        <p:txBody>
          <a:bodyPr wrap="square"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Java  •  Almacén Don José</a:t>
            </a:r>
            <a:endParaRPr lang="en-US" sz="750" dirty="0"/>
          </a:p>
        </p:txBody>
      </p:sp>
      <p:sp>
        <p:nvSpPr>
          <p:cNvPr id="12" name="Text 10"/>
          <p:cNvSpPr/>
          <p:nvPr/>
        </p:nvSpPr>
        <p:spPr>
          <a:xfrm>
            <a:off x="4709160" y="1133856"/>
            <a:ext cx="4160520" cy="2926080"/>
          </a:xfrm>
          <a:prstGeom prst="rect">
            <a:avLst/>
          </a:prstGeom>
          <a:noFill/>
          <a:ln/>
        </p:spPr>
        <p:txBody>
          <a:bodyPr wrap="square" rtlCol="0" anchor="t"/>
          <a:lstStyle/>
          <a:p>
            <a:pPr indent="0" marL="0">
              <a:buNone/>
            </a:pPr>
            <a:r>
              <a:rPr lang="en-US" sz="850" dirty="0">
                <a:solidFill>
                  <a:srgbClr val="E2E8F0"/>
                </a:solidFill>
                <a:latin typeface="Consolas" pitchFamily="34" charset="0"/>
                <a:ea typeface="Consolas" pitchFamily="34" charset="-122"/>
                <a:cs typeface="Consolas" pitchFamily="34" charset="-120"/>
              </a:rPr>
              <a:t>// Producto concreto</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public class Ruana extends PrendaBoyacense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Ruana()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nombre = "Ruana tradicional Nobsa";</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precio = 85000;</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void describir()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System.out.println("Ruana: " + nombre);</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a:t>
            </a:r>
            <a:endParaRPr lang="en-US" sz="850" dirty="0"/>
          </a:p>
          <a:p>
            <a:pPr indent="0" marL="0">
              <a:buNone/>
            </a:pP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Creador concreto - implementa el factory</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public class AlmacenDonJose extends TiendaRopa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PrendaBoyacense crearPrenda(String tipo)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switch(tipo)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case "ruana":  return new Ruana();</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case "camisa": return new CamisaCotidiana();</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default: throw new IllegalArgumentException();</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a:t>
            </a:r>
            <a:endParaRPr lang="en-US" sz="850" dirty="0"/>
          </a:p>
        </p:txBody>
      </p:sp>
      <p:sp>
        <p:nvSpPr>
          <p:cNvPr id="13" name="Shape 11"/>
          <p:cNvSpPr/>
          <p:nvPr/>
        </p:nvSpPr>
        <p:spPr>
          <a:xfrm>
            <a:off x="0" y="4846320"/>
            <a:ext cx="9144000" cy="297180"/>
          </a:xfrm>
          <a:prstGeom prst="rect">
            <a:avLst/>
          </a:prstGeom>
          <a:solidFill>
            <a:srgbClr val="1F3864"/>
          </a:solidFill>
          <a:ln w="12700">
            <a:solidFill>
              <a:srgbClr val="1F3864"/>
            </a:solidFill>
            <a:prstDash val="solid"/>
          </a:ln>
        </p:spPr>
      </p:sp>
      <p:sp>
        <p:nvSpPr>
          <p:cNvPr id="14" name="Text 12"/>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15" name="Text 13"/>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10/32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F3864"/>
          </a:solidFill>
          <a:ln w="12700">
            <a:solidFill>
              <a:srgbClr val="1F3864"/>
            </a:solidFill>
            <a:prstDash val="solid"/>
          </a:ln>
        </p:spPr>
      </p:sp>
      <p:sp>
        <p:nvSpPr>
          <p:cNvPr id="3" name="Shape 1"/>
          <p:cNvSpPr/>
          <p:nvPr/>
        </p:nvSpPr>
        <p:spPr>
          <a:xfrm>
            <a:off x="0" y="109728"/>
            <a:ext cx="73152" cy="5033772"/>
          </a:xfrm>
          <a:prstGeom prst="rect">
            <a:avLst/>
          </a:prstGeom>
          <a:solidFill>
            <a:srgbClr val="1F3864"/>
          </a:solidFill>
          <a:ln w="12700">
            <a:solidFill>
              <a:srgbClr val="1F3864"/>
            </a:solidFill>
            <a:prstDash val="solid"/>
          </a:ln>
        </p:spPr>
      </p:sp>
      <p:sp>
        <p:nvSpPr>
          <p:cNvPr id="4" name="Text 2"/>
          <p:cNvSpPr/>
          <p:nvPr/>
        </p:nvSpPr>
        <p:spPr>
          <a:xfrm>
            <a:off x="274320" y="182880"/>
            <a:ext cx="8595360" cy="530352"/>
          </a:xfrm>
          <a:prstGeom prst="rect">
            <a:avLst/>
          </a:prstGeom>
          <a:noFill/>
          <a:ln/>
        </p:spPr>
        <p:txBody>
          <a:bodyPr wrap="square" rtlCol="0" anchor="ctr"/>
          <a:lstStyle/>
          <a:p>
            <a:pPr indent="0" marL="0">
              <a:buNone/>
            </a:pPr>
            <a:r>
              <a:rPr lang="en-US" sz="2200" b="1" dirty="0">
                <a:solidFill>
                  <a:srgbClr val="1F3864"/>
                </a:solidFill>
                <a:latin typeface="Calibri Black" pitchFamily="34" charset="0"/>
                <a:ea typeface="Calibri Black" pitchFamily="34" charset="-122"/>
                <a:cs typeface="Calibri Black" pitchFamily="34" charset="-120"/>
              </a:rPr>
              <a:t>Factory Method — Aplicabilidad y Resumen</a:t>
            </a:r>
            <a:endParaRPr lang="en-US" sz="2200" dirty="0"/>
          </a:p>
        </p:txBody>
      </p:sp>
      <p:sp>
        <p:nvSpPr>
          <p:cNvPr id="5" name="Shape 3"/>
          <p:cNvSpPr/>
          <p:nvPr/>
        </p:nvSpPr>
        <p:spPr>
          <a:xfrm>
            <a:off x="228600" y="822960"/>
            <a:ext cx="4206240" cy="18288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6" name="Shape 4"/>
          <p:cNvSpPr/>
          <p:nvPr/>
        </p:nvSpPr>
        <p:spPr>
          <a:xfrm>
            <a:off x="228600" y="822960"/>
            <a:ext cx="64008" cy="1828800"/>
          </a:xfrm>
          <a:prstGeom prst="rect">
            <a:avLst/>
          </a:prstGeom>
          <a:solidFill>
            <a:srgbClr val="1F3864"/>
          </a:solidFill>
          <a:ln w="12700">
            <a:solidFill>
              <a:srgbClr val="1F3864"/>
            </a:solidFill>
            <a:prstDash val="solid"/>
          </a:ln>
        </p:spPr>
      </p:sp>
      <p:sp>
        <p:nvSpPr>
          <p:cNvPr id="7" name="Text 5"/>
          <p:cNvSpPr/>
          <p:nvPr/>
        </p:nvSpPr>
        <p:spPr>
          <a:xfrm>
            <a:off x="365760" y="914400"/>
            <a:ext cx="402336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¿Cuándo usarlo?</a:t>
            </a:r>
            <a:endParaRPr lang="en-US" sz="1100" dirty="0"/>
          </a:p>
        </p:txBody>
      </p:sp>
      <p:sp>
        <p:nvSpPr>
          <p:cNvPr id="8" name="Text 6"/>
          <p:cNvSpPr/>
          <p:nvPr/>
        </p:nvSpPr>
        <p:spPr>
          <a:xfrm>
            <a:off x="365760" y="1152144"/>
            <a:ext cx="4023360" cy="1426464"/>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 El tipo exacto del objeto se desconoce en tiempo de compilación (viene de DB o request HTTP).</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Diferentes sucursales del Almacén necesitan colecciones distintas.</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Quieres cumplir el principio Open/Closed al agregar nuevas prendas.</a:t>
            </a:r>
            <a:endParaRPr lang="en-US" sz="1000" dirty="0"/>
          </a:p>
        </p:txBody>
      </p:sp>
      <p:sp>
        <p:nvSpPr>
          <p:cNvPr id="9" name="Shape 7"/>
          <p:cNvSpPr/>
          <p:nvPr/>
        </p:nvSpPr>
        <p:spPr>
          <a:xfrm>
            <a:off x="228600" y="2743200"/>
            <a:ext cx="4206240" cy="16276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0" name="Shape 8"/>
          <p:cNvSpPr/>
          <p:nvPr/>
        </p:nvSpPr>
        <p:spPr>
          <a:xfrm>
            <a:off x="228600" y="2743200"/>
            <a:ext cx="64008" cy="1627632"/>
          </a:xfrm>
          <a:prstGeom prst="rect">
            <a:avLst/>
          </a:prstGeom>
          <a:solidFill>
            <a:srgbClr val="1F3864"/>
          </a:solidFill>
          <a:ln w="12700">
            <a:solidFill>
              <a:srgbClr val="1F3864"/>
            </a:solidFill>
            <a:prstDash val="solid"/>
          </a:ln>
        </p:spPr>
      </p:sp>
      <p:sp>
        <p:nvSpPr>
          <p:cNvPr id="11" name="Text 9"/>
          <p:cNvSpPr/>
          <p:nvPr/>
        </p:nvSpPr>
        <p:spPr>
          <a:xfrm>
            <a:off x="365760" y="2834640"/>
            <a:ext cx="402336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Implementación en 5 pasos</a:t>
            </a:r>
            <a:endParaRPr lang="en-US" sz="1100" dirty="0"/>
          </a:p>
        </p:txBody>
      </p:sp>
      <p:sp>
        <p:nvSpPr>
          <p:cNvPr id="12" name="Text 10"/>
          <p:cNvSpPr/>
          <p:nvPr/>
        </p:nvSpPr>
        <p:spPr>
          <a:xfrm>
            <a:off x="365760" y="3072384"/>
            <a:ext cx="4023360" cy="1225296"/>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1. Definir PrendaBoyacense (interfaz/abstracta)</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2. Crear clases concretas (Ruana, Camisa)</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3. Crear TiendaRopa abstracta con crearPrenda()</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4. Implementar AlmacenDonJose con el switch</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5. El cliente usa TiendaRopa sin conocer el tipo concreto</a:t>
            </a:r>
            <a:endParaRPr lang="en-US" sz="1000" dirty="0"/>
          </a:p>
        </p:txBody>
      </p:sp>
      <p:sp>
        <p:nvSpPr>
          <p:cNvPr id="13" name="Shape 11"/>
          <p:cNvSpPr/>
          <p:nvPr/>
        </p:nvSpPr>
        <p:spPr>
          <a:xfrm>
            <a:off x="4617720" y="822960"/>
            <a:ext cx="4297680" cy="3547872"/>
          </a:xfrm>
          <a:prstGeom prst="rect">
            <a:avLst/>
          </a:prstGeom>
          <a:solidFill>
            <a:srgbClr val="1F3864"/>
          </a:solidFill>
          <a:ln w="12700">
            <a:solidFill>
              <a:srgbClr val="1F3864"/>
            </a:solidFill>
            <a:prstDash val="solid"/>
          </a:ln>
          <a:effectLst>
            <a:outerShdw sx="100000" sy="100000" kx="0" ky="0" algn="bl" rotWithShape="0" blurRad="101600" dist="38100" dir="8100000">
              <a:srgbClr val="000000">
                <a:alpha val="15000"/>
              </a:srgbClr>
            </a:outerShdw>
          </a:effectLst>
        </p:spPr>
      </p:sp>
      <p:sp>
        <p:nvSpPr>
          <p:cNvPr id="14" name="Text 12"/>
          <p:cNvSpPr/>
          <p:nvPr/>
        </p:nvSpPr>
        <p:spPr>
          <a:xfrm>
            <a:off x="4754880" y="868680"/>
            <a:ext cx="4023360" cy="347472"/>
          </a:xfrm>
          <a:prstGeom prst="rect">
            <a:avLst/>
          </a:prstGeom>
          <a:noFill/>
          <a:ln/>
        </p:spPr>
        <p:txBody>
          <a:bodyPr wrap="square" rtlCol="0" anchor="ctr"/>
          <a:lstStyle/>
          <a:p>
            <a:pPr indent="0" marL="0">
              <a:buNone/>
            </a:pPr>
            <a:r>
              <a:rPr lang="en-US" sz="1400" b="1" dirty="0">
                <a:solidFill>
                  <a:srgbClr val="39A900"/>
                </a:solidFill>
                <a:latin typeface="Calibri" pitchFamily="34" charset="0"/>
                <a:ea typeface="Calibri" pitchFamily="34" charset="-122"/>
                <a:cs typeface="Calibri" pitchFamily="34" charset="-120"/>
              </a:rPr>
              <a:t>Resumen personal</a:t>
            </a:r>
            <a:endParaRPr lang="en-US" sz="1400" dirty="0"/>
          </a:p>
        </p:txBody>
      </p:sp>
      <p:sp>
        <p:nvSpPr>
          <p:cNvPr id="15" name="Shape 13"/>
          <p:cNvSpPr/>
          <p:nvPr/>
        </p:nvSpPr>
        <p:spPr>
          <a:xfrm>
            <a:off x="4754880" y="1234440"/>
            <a:ext cx="3931920" cy="0"/>
          </a:xfrm>
          <a:prstGeom prst="line">
            <a:avLst/>
          </a:prstGeom>
          <a:noFill/>
          <a:ln w="12700">
            <a:solidFill>
              <a:srgbClr val="39A900"/>
            </a:solidFill>
            <a:prstDash val="solid"/>
          </a:ln>
        </p:spPr>
      </p:sp>
      <p:sp>
        <p:nvSpPr>
          <p:cNvPr id="16" name="Text 14"/>
          <p:cNvSpPr/>
          <p:nvPr/>
        </p:nvSpPr>
        <p:spPr>
          <a:xfrm>
            <a:off x="4754880" y="1325880"/>
            <a:ext cx="4023360" cy="2926080"/>
          </a:xfrm>
          <a:prstGeom prst="rect">
            <a:avLst/>
          </a:prstGeom>
          <a:noFill/>
          <a:ln/>
        </p:spPr>
        <p:txBody>
          <a:bodyPr wrap="square" rtlCol="0" anchor="ctr"/>
          <a:lstStyle/>
          <a:p>
            <a:pPr indent="0" marL="0">
              <a:buNone/>
            </a:pPr>
            <a:r>
              <a:rPr lang="en-US" sz="1100" i="1" dirty="0">
                <a:solidFill>
                  <a:srgbClr val="AABBCC"/>
                </a:solidFill>
                <a:latin typeface="Calibri" pitchFamily="34" charset="0"/>
                <a:ea typeface="Calibri" pitchFamily="34" charset="-122"/>
                <a:cs typeface="Calibri" pitchFamily="34" charset="-120"/>
              </a:rPr>
              <a:t>"El Factory Method es como el maestro artesano del Almacén Don José: cuando un cliente pide una prenda, el maestro sabe cómo crearla sin que el cliente conozca los detalles del proceso. Si mañana queremos agregar un Poncho Wayuu, simplemente creamos una nueva clase y la registramos en el factory, sin tocar el resto del sistema. Código más limpio, más mantenible, y abierto a nuevos productos."</a:t>
            </a:r>
            <a:endParaRPr lang="en-US" sz="1100" dirty="0"/>
          </a:p>
        </p:txBody>
      </p:sp>
      <p:sp>
        <p:nvSpPr>
          <p:cNvPr id="17" name="Shape 15"/>
          <p:cNvSpPr/>
          <p:nvPr/>
        </p:nvSpPr>
        <p:spPr>
          <a:xfrm>
            <a:off x="0" y="4846320"/>
            <a:ext cx="9144000" cy="297180"/>
          </a:xfrm>
          <a:prstGeom prst="rect">
            <a:avLst/>
          </a:prstGeom>
          <a:solidFill>
            <a:srgbClr val="1F3864"/>
          </a:solidFill>
          <a:ln w="12700">
            <a:solidFill>
              <a:srgbClr val="1F3864"/>
            </a:solidFill>
            <a:prstDash val="solid"/>
          </a:ln>
        </p:spPr>
      </p:sp>
      <p:sp>
        <p:nvSpPr>
          <p:cNvPr id="18" name="Text 16"/>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19" name="Text 17"/>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11/32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3B2E"/>
        </a:solidFill>
      </p:bgPr>
    </p:bg>
    <p:spTree>
      <p:nvGrpSpPr>
        <p:cNvPr id="1" name=""/>
        <p:cNvGrpSpPr/>
        <p:nvPr/>
      </p:nvGrpSpPr>
      <p:grpSpPr>
        <a:xfrm>
          <a:off x="0" y="0"/>
          <a:ext cx="0" cy="0"/>
          <a:chOff x="0" y="0"/>
          <a:chExt cx="0" cy="0"/>
        </a:xfrm>
      </p:grpSpPr>
      <p:sp>
        <p:nvSpPr>
          <p:cNvPr id="2" name="Shape 0"/>
          <p:cNvSpPr/>
          <p:nvPr/>
        </p:nvSpPr>
        <p:spPr>
          <a:xfrm>
            <a:off x="6583680" y="-457200"/>
            <a:ext cx="3200400" cy="6400800"/>
          </a:xfrm>
          <a:prstGeom prst="rect">
            <a:avLst/>
          </a:prstGeom>
          <a:solidFill>
            <a:srgbClr val="39A900">
              <a:alpha val="15000"/>
            </a:srgbClr>
          </a:solidFill>
          <a:ln w="12700">
            <a:solidFill>
              <a:srgbClr val="39A900"/>
            </a:solidFill>
            <a:prstDash val="solid"/>
          </a:ln>
        </p:spPr>
      </p:sp>
      <p:sp>
        <p:nvSpPr>
          <p:cNvPr id="3" name="Shape 1"/>
          <p:cNvSpPr/>
          <p:nvPr/>
        </p:nvSpPr>
        <p:spPr>
          <a:xfrm>
            <a:off x="7772400" y="-457200"/>
            <a:ext cx="1828800" cy="6400800"/>
          </a:xfrm>
          <a:prstGeom prst="rect">
            <a:avLst/>
          </a:prstGeom>
          <a:solidFill>
            <a:srgbClr val="39A900">
              <a:alpha val="30000"/>
            </a:srgbClr>
          </a:solidFill>
          <a:ln w="12700">
            <a:solidFill>
              <a:srgbClr val="39A900"/>
            </a:solidFill>
            <a:prstDash val="solid"/>
          </a:ln>
        </p:spPr>
      </p:sp>
      <p:sp>
        <p:nvSpPr>
          <p:cNvPr id="4" name="Shape 2"/>
          <p:cNvSpPr/>
          <p:nvPr/>
        </p:nvSpPr>
        <p:spPr>
          <a:xfrm>
            <a:off x="457200" y="822960"/>
            <a:ext cx="2194560" cy="347472"/>
          </a:xfrm>
          <a:prstGeom prst="roundRect">
            <a:avLst>
              <a:gd name="adj" fmla="val 26316"/>
            </a:avLst>
          </a:prstGeom>
          <a:solidFill>
            <a:srgbClr val="39A900"/>
          </a:solidFill>
          <a:ln w="12700">
            <a:solidFill>
              <a:srgbClr val="39A900"/>
            </a:solidFill>
            <a:prstDash val="solid"/>
          </a:ln>
        </p:spPr>
      </p:sp>
      <p:sp>
        <p:nvSpPr>
          <p:cNvPr id="5" name="Text 3"/>
          <p:cNvSpPr/>
          <p:nvPr/>
        </p:nvSpPr>
        <p:spPr>
          <a:xfrm>
            <a:off x="457200" y="822960"/>
            <a:ext cx="219456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PATRÓN CREACIONAL</a:t>
            </a:r>
            <a:endParaRPr lang="en-US" sz="1000" dirty="0"/>
          </a:p>
        </p:txBody>
      </p:sp>
      <p:sp>
        <p:nvSpPr>
          <p:cNvPr id="6" name="Text 4"/>
          <p:cNvSpPr/>
          <p:nvPr/>
        </p:nvSpPr>
        <p:spPr>
          <a:xfrm>
            <a:off x="457200" y="1280160"/>
            <a:ext cx="7315200" cy="1280160"/>
          </a:xfrm>
          <a:prstGeom prst="rect">
            <a:avLst/>
          </a:prstGeom>
          <a:noFill/>
          <a:ln/>
        </p:spPr>
        <p:txBody>
          <a:bodyPr wrap="square" rtlCol="0" anchor="ctr"/>
          <a:lstStyle/>
          <a:p>
            <a:pPr indent="0" marL="0">
              <a:buNone/>
            </a:pPr>
            <a:r>
              <a:rPr lang="en-US" sz="4400" b="1" dirty="0">
                <a:solidFill>
                  <a:srgbClr val="FFFFFF"/>
                </a:solidFill>
                <a:latin typeface="Calibri Black" pitchFamily="34" charset="0"/>
                <a:ea typeface="Calibri Black" pitchFamily="34" charset="-122"/>
                <a:cs typeface="Calibri Black" pitchFamily="34" charset="-120"/>
              </a:rPr>
              <a:t>Abstract Factory</a:t>
            </a:r>
            <a:endParaRPr lang="en-US" sz="4400" dirty="0"/>
          </a:p>
        </p:txBody>
      </p:sp>
      <p:sp>
        <p:nvSpPr>
          <p:cNvPr id="7" name="Text 5"/>
          <p:cNvSpPr/>
          <p:nvPr/>
        </p:nvSpPr>
        <p:spPr>
          <a:xfrm>
            <a:off x="457200" y="2606040"/>
            <a:ext cx="6400800" cy="822960"/>
          </a:xfrm>
          <a:prstGeom prst="rect">
            <a:avLst/>
          </a:prstGeom>
          <a:noFill/>
          <a:ln/>
        </p:spPr>
        <p:txBody>
          <a:bodyPr wrap="square" rtlCol="0" anchor="ctr"/>
          <a:lstStyle/>
          <a:p>
            <a:pPr indent="0" marL="0">
              <a:buNone/>
            </a:pPr>
            <a:r>
              <a:rPr lang="en-US" sz="1600" i="1" dirty="0">
                <a:solidFill>
                  <a:srgbClr val="AABBCC"/>
                </a:solidFill>
                <a:latin typeface="Calibri" pitchFamily="34" charset="0"/>
                <a:ea typeface="Calibri" pitchFamily="34" charset="-122"/>
                <a:cs typeface="Calibri" pitchFamily="34" charset="-120"/>
              </a:rPr>
              <a:t>Proporciona una interfaz para crear familias de objetos relacionados</a:t>
            </a:r>
            <a:endParaRPr lang="en-US" sz="1600" dirty="0"/>
          </a:p>
          <a:p>
            <a:pPr indent="0" marL="0">
              <a:buNone/>
            </a:pPr>
            <a:r>
              <a:rPr lang="en-US" sz="1600" i="1" dirty="0">
                <a:solidFill>
                  <a:srgbClr val="AABBCC"/>
                </a:solidFill>
                <a:latin typeface="Calibri" pitchFamily="34" charset="0"/>
                <a:ea typeface="Calibri" pitchFamily="34" charset="-122"/>
                <a:cs typeface="Calibri" pitchFamily="34" charset="-120"/>
              </a:rPr>
              <a:t>sin especificar sus clases concretas.</a:t>
            </a:r>
            <a:endParaRPr lang="en-US" sz="1600" dirty="0"/>
          </a:p>
        </p:txBody>
      </p:sp>
      <p:sp>
        <p:nvSpPr>
          <p:cNvPr id="8" name="Shape 6"/>
          <p:cNvSpPr/>
          <p:nvPr/>
        </p:nvSpPr>
        <p:spPr>
          <a:xfrm>
            <a:off x="457200" y="3493008"/>
            <a:ext cx="5943600" cy="0"/>
          </a:xfrm>
          <a:prstGeom prst="line">
            <a:avLst/>
          </a:prstGeom>
          <a:noFill/>
          <a:ln w="25400">
            <a:solidFill>
              <a:srgbClr val="39A900"/>
            </a:solidFill>
            <a:prstDash val="solid"/>
          </a:ln>
        </p:spPr>
      </p:sp>
      <p:sp>
        <p:nvSpPr>
          <p:cNvPr id="9" name="Text 7"/>
          <p:cNvSpPr/>
          <p:nvPr/>
        </p:nvSpPr>
        <p:spPr>
          <a:xfrm>
            <a:off x="457200" y="3639312"/>
            <a:ext cx="7315200" cy="320040"/>
          </a:xfrm>
          <a:prstGeom prst="rect">
            <a:avLst/>
          </a:prstGeom>
          <a:noFill/>
          <a:ln/>
        </p:spPr>
        <p:txBody>
          <a:bodyPr wrap="square" rtlCol="0" anchor="ctr"/>
          <a:lstStyle/>
          <a:p>
            <a:pPr indent="0" marL="0">
              <a:buNone/>
            </a:pPr>
            <a:r>
              <a:rPr lang="en-US" sz="1200" dirty="0">
                <a:solidFill>
                  <a:srgbClr val="7A9CC0"/>
                </a:solidFill>
                <a:latin typeface="Calibri" pitchFamily="34" charset="0"/>
                <a:ea typeface="Calibri" pitchFamily="34" charset="-122"/>
                <a:cs typeface="Calibri" pitchFamily="34" charset="-120"/>
              </a:rPr>
              <a:t>Almacén Don José de Chiquinquirá  •  Boyacá, Colombia</a:t>
            </a:r>
            <a:endParaRPr lang="en-US" sz="1200" dirty="0"/>
          </a:p>
        </p:txBody>
      </p:sp>
      <p:sp>
        <p:nvSpPr>
          <p:cNvPr id="10" name="Shape 8"/>
          <p:cNvSpPr/>
          <p:nvPr/>
        </p:nvSpPr>
        <p:spPr>
          <a:xfrm>
            <a:off x="0" y="4846320"/>
            <a:ext cx="9144000" cy="297180"/>
          </a:xfrm>
          <a:prstGeom prst="rect">
            <a:avLst/>
          </a:prstGeom>
          <a:solidFill>
            <a:srgbClr val="1F3864"/>
          </a:solidFill>
          <a:ln w="12700">
            <a:solidFill>
              <a:srgbClr val="1F3864"/>
            </a:solidFill>
            <a:prstDash val="solid"/>
          </a:ln>
        </p:spPr>
      </p:sp>
      <p:sp>
        <p:nvSpPr>
          <p:cNvPr id="11" name="Text 9"/>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12" name="Text 10"/>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12/32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D8200"/>
          </a:solidFill>
          <a:ln w="12700">
            <a:solidFill>
              <a:srgbClr val="2D8200"/>
            </a:solidFill>
            <a:prstDash val="solid"/>
          </a:ln>
        </p:spPr>
      </p:sp>
      <p:sp>
        <p:nvSpPr>
          <p:cNvPr id="3" name="Shape 1"/>
          <p:cNvSpPr/>
          <p:nvPr/>
        </p:nvSpPr>
        <p:spPr>
          <a:xfrm>
            <a:off x="0" y="109728"/>
            <a:ext cx="73152" cy="5033772"/>
          </a:xfrm>
          <a:prstGeom prst="rect">
            <a:avLst/>
          </a:prstGeom>
          <a:solidFill>
            <a:srgbClr val="2D8200"/>
          </a:solidFill>
          <a:ln w="12700">
            <a:solidFill>
              <a:srgbClr val="2D8200"/>
            </a:solidFill>
            <a:prstDash val="solid"/>
          </a:ln>
        </p:spPr>
      </p:sp>
      <p:sp>
        <p:nvSpPr>
          <p:cNvPr id="4" name="Text 2"/>
          <p:cNvSpPr/>
          <p:nvPr/>
        </p:nvSpPr>
        <p:spPr>
          <a:xfrm>
            <a:off x="274320" y="182880"/>
            <a:ext cx="8595360" cy="530352"/>
          </a:xfrm>
          <a:prstGeom prst="rect">
            <a:avLst/>
          </a:prstGeom>
          <a:noFill/>
          <a:ln/>
        </p:spPr>
        <p:txBody>
          <a:bodyPr wrap="square" rtlCol="0" anchor="ctr"/>
          <a:lstStyle/>
          <a:p>
            <a:pPr indent="0" marL="0">
              <a:buNone/>
            </a:pPr>
            <a:r>
              <a:rPr lang="en-US" sz="2200" b="1" dirty="0">
                <a:solidFill>
                  <a:srgbClr val="1F3864"/>
                </a:solidFill>
                <a:latin typeface="Calibri Black" pitchFamily="34" charset="0"/>
                <a:ea typeface="Calibri Black" pitchFamily="34" charset="-122"/>
                <a:cs typeface="Calibri Black" pitchFamily="34" charset="-120"/>
              </a:rPr>
              <a:t>Abstract Factory — Definición y Propósito</a:t>
            </a:r>
            <a:endParaRPr lang="en-US" sz="2200" dirty="0"/>
          </a:p>
        </p:txBody>
      </p:sp>
      <p:sp>
        <p:nvSpPr>
          <p:cNvPr id="5" name="Shape 3"/>
          <p:cNvSpPr/>
          <p:nvPr/>
        </p:nvSpPr>
        <p:spPr>
          <a:xfrm>
            <a:off x="228600" y="822960"/>
            <a:ext cx="4206240" cy="14630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6" name="Shape 4"/>
          <p:cNvSpPr/>
          <p:nvPr/>
        </p:nvSpPr>
        <p:spPr>
          <a:xfrm>
            <a:off x="228600" y="822960"/>
            <a:ext cx="64008" cy="1463040"/>
          </a:xfrm>
          <a:prstGeom prst="rect">
            <a:avLst/>
          </a:prstGeom>
          <a:solidFill>
            <a:srgbClr val="2D8200"/>
          </a:solidFill>
          <a:ln w="12700">
            <a:solidFill>
              <a:srgbClr val="2D8200"/>
            </a:solidFill>
            <a:prstDash val="solid"/>
          </a:ln>
        </p:spPr>
      </p:sp>
      <p:sp>
        <p:nvSpPr>
          <p:cNvPr id="7" name="Text 5"/>
          <p:cNvSpPr/>
          <p:nvPr/>
        </p:nvSpPr>
        <p:spPr>
          <a:xfrm>
            <a:off x="365760" y="914400"/>
            <a:ext cx="402336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Diferencia con Factory Method</a:t>
            </a:r>
            <a:endParaRPr lang="en-US" sz="1100" dirty="0"/>
          </a:p>
        </p:txBody>
      </p:sp>
      <p:sp>
        <p:nvSpPr>
          <p:cNvPr id="8" name="Text 6"/>
          <p:cNvSpPr/>
          <p:nvPr/>
        </p:nvSpPr>
        <p:spPr>
          <a:xfrm>
            <a:off x="365760" y="1152144"/>
            <a:ext cx="4023360" cy="1060704"/>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Factory Method crea UN tipo de producto. Abstract Factory crea FAMILIAS COMPLETAS de productos compatibles entre sí. La clave es la coherencia: todos los productos vienen de la misma familia.</a:t>
            </a:r>
            <a:endParaRPr lang="en-US" sz="1000" dirty="0"/>
          </a:p>
        </p:txBody>
      </p:sp>
      <p:sp>
        <p:nvSpPr>
          <p:cNvPr id="9" name="Shape 7"/>
          <p:cNvSpPr/>
          <p:nvPr/>
        </p:nvSpPr>
        <p:spPr>
          <a:xfrm>
            <a:off x="228600" y="2359152"/>
            <a:ext cx="4206240" cy="14630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0" name="Shape 8"/>
          <p:cNvSpPr/>
          <p:nvPr/>
        </p:nvSpPr>
        <p:spPr>
          <a:xfrm>
            <a:off x="228600" y="2359152"/>
            <a:ext cx="64008" cy="1463040"/>
          </a:xfrm>
          <a:prstGeom prst="rect">
            <a:avLst/>
          </a:prstGeom>
          <a:solidFill>
            <a:srgbClr val="2D8200"/>
          </a:solidFill>
          <a:ln w="12700">
            <a:solidFill>
              <a:srgbClr val="2D8200"/>
            </a:solidFill>
            <a:prstDash val="solid"/>
          </a:ln>
        </p:spPr>
      </p:sp>
      <p:sp>
        <p:nvSpPr>
          <p:cNvPr id="11" name="Text 9"/>
          <p:cNvSpPr/>
          <p:nvPr/>
        </p:nvSpPr>
        <p:spPr>
          <a:xfrm>
            <a:off x="365760" y="2450592"/>
            <a:ext cx="402336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En el Almacén Don José</a:t>
            </a:r>
            <a:endParaRPr lang="en-US" sz="1100" dirty="0"/>
          </a:p>
        </p:txBody>
      </p:sp>
      <p:sp>
        <p:nvSpPr>
          <p:cNvPr id="12" name="Text 10"/>
          <p:cNvSpPr/>
          <p:nvPr/>
        </p:nvSpPr>
        <p:spPr>
          <a:xfrm>
            <a:off x="365760" y="2688336"/>
            <a:ext cx="4023360" cy="1060704"/>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Cuando llega la temporada fría, todo el inventario debe ser de lana y abrigo. Cuando es temporada cálida, todo debe ser liviano. Abstract Factory garantiza que no se mezclen prendas de temporadas distintas.</a:t>
            </a:r>
            <a:endParaRPr lang="en-US" sz="1000" dirty="0"/>
          </a:p>
        </p:txBody>
      </p:sp>
      <p:sp>
        <p:nvSpPr>
          <p:cNvPr id="13" name="Shape 11"/>
          <p:cNvSpPr/>
          <p:nvPr/>
        </p:nvSpPr>
        <p:spPr>
          <a:xfrm>
            <a:off x="4617720" y="822960"/>
            <a:ext cx="4297680" cy="299923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4" name="Text 12"/>
          <p:cNvSpPr/>
          <p:nvPr/>
        </p:nvSpPr>
        <p:spPr>
          <a:xfrm>
            <a:off x="4709160" y="868680"/>
            <a:ext cx="4114800" cy="320040"/>
          </a:xfrm>
          <a:prstGeom prst="rect">
            <a:avLst/>
          </a:prstGeom>
          <a:noFill/>
          <a:ln/>
        </p:spPr>
        <p:txBody>
          <a:bodyPr wrap="square"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Familias de productos</a:t>
            </a:r>
            <a:endParaRPr lang="en-US" sz="1200" dirty="0"/>
          </a:p>
        </p:txBody>
      </p:sp>
      <p:sp>
        <p:nvSpPr>
          <p:cNvPr id="15" name="Shape 13"/>
          <p:cNvSpPr/>
          <p:nvPr/>
        </p:nvSpPr>
        <p:spPr>
          <a:xfrm>
            <a:off x="4709160" y="1234440"/>
            <a:ext cx="4069080" cy="365760"/>
          </a:xfrm>
          <a:prstGeom prst="rect">
            <a:avLst/>
          </a:prstGeom>
          <a:solidFill>
            <a:srgbClr val="1565C0"/>
          </a:solidFill>
          <a:ln w="12700">
            <a:solidFill>
              <a:srgbClr val="1565C0"/>
            </a:solidFill>
            <a:prstDash val="solid"/>
          </a:ln>
        </p:spPr>
      </p:sp>
      <p:sp>
        <p:nvSpPr>
          <p:cNvPr id="16" name="Text 14"/>
          <p:cNvSpPr/>
          <p:nvPr/>
        </p:nvSpPr>
        <p:spPr>
          <a:xfrm>
            <a:off x="4709160" y="1234440"/>
            <a:ext cx="406908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Temporada Fría</a:t>
            </a:r>
            <a:endParaRPr lang="en-US" sz="1200" dirty="0"/>
          </a:p>
        </p:txBody>
      </p:sp>
      <p:sp>
        <p:nvSpPr>
          <p:cNvPr id="17" name="Shape 15"/>
          <p:cNvSpPr/>
          <p:nvPr/>
        </p:nvSpPr>
        <p:spPr>
          <a:xfrm>
            <a:off x="4709160" y="1600200"/>
            <a:ext cx="2029968" cy="841248"/>
          </a:xfrm>
          <a:prstGeom prst="rect">
            <a:avLst/>
          </a:prstGeom>
          <a:solidFill>
            <a:srgbClr val="F4F6F8"/>
          </a:solidFill>
          <a:ln w="12700">
            <a:solidFill>
              <a:srgbClr val="E2E8F0"/>
            </a:solidFill>
            <a:prstDash val="solid"/>
          </a:ln>
        </p:spPr>
      </p:sp>
      <p:sp>
        <p:nvSpPr>
          <p:cNvPr id="18" name="Text 16"/>
          <p:cNvSpPr/>
          <p:nvPr/>
        </p:nvSpPr>
        <p:spPr>
          <a:xfrm>
            <a:off x="4709160" y="1600200"/>
            <a:ext cx="2029968" cy="841248"/>
          </a:xfrm>
          <a:prstGeom prst="rect">
            <a:avLst/>
          </a:prstGeom>
          <a:noFill/>
          <a:ln/>
        </p:spPr>
        <p:txBody>
          <a:bodyPr wrap="square" rtlCol="0" anchor="ctr"/>
          <a:lstStyle/>
          <a:p>
            <a:pPr algn="ctr" indent="0" marL="0">
              <a:buNone/>
            </a:pPr>
            <a:r>
              <a:rPr lang="en-US" sz="1100" b="1" dirty="0">
                <a:solidFill>
                  <a:srgbClr val="1565C0"/>
                </a:solidFill>
                <a:latin typeface="Calibri" pitchFamily="34" charset="0"/>
                <a:ea typeface="Calibri" pitchFamily="34" charset="-122"/>
                <a:cs typeface="Calibri" pitchFamily="34" charset="-120"/>
              </a:rPr>
              <a:t>RuanaLana</a:t>
            </a:r>
            <a:endParaRPr lang="en-US" sz="1100" dirty="0"/>
          </a:p>
        </p:txBody>
      </p:sp>
      <p:sp>
        <p:nvSpPr>
          <p:cNvPr id="19" name="Shape 17"/>
          <p:cNvSpPr/>
          <p:nvPr/>
        </p:nvSpPr>
        <p:spPr>
          <a:xfrm>
            <a:off x="6743700" y="1600200"/>
            <a:ext cx="2029968" cy="841248"/>
          </a:xfrm>
          <a:prstGeom prst="rect">
            <a:avLst/>
          </a:prstGeom>
          <a:solidFill>
            <a:srgbClr val="F4F6F8"/>
          </a:solidFill>
          <a:ln w="12700">
            <a:solidFill>
              <a:srgbClr val="E2E8F0"/>
            </a:solidFill>
            <a:prstDash val="solid"/>
          </a:ln>
        </p:spPr>
      </p:sp>
      <p:sp>
        <p:nvSpPr>
          <p:cNvPr id="20" name="Text 18"/>
          <p:cNvSpPr/>
          <p:nvPr/>
        </p:nvSpPr>
        <p:spPr>
          <a:xfrm>
            <a:off x="6743700" y="1600200"/>
            <a:ext cx="2029968" cy="841248"/>
          </a:xfrm>
          <a:prstGeom prst="rect">
            <a:avLst/>
          </a:prstGeom>
          <a:noFill/>
          <a:ln/>
        </p:spPr>
        <p:txBody>
          <a:bodyPr wrap="square" rtlCol="0" anchor="ctr"/>
          <a:lstStyle/>
          <a:p>
            <a:pPr algn="ctr" indent="0" marL="0">
              <a:buNone/>
            </a:pPr>
            <a:r>
              <a:rPr lang="en-US" sz="1100" b="1" dirty="0">
                <a:solidFill>
                  <a:srgbClr val="1565C0"/>
                </a:solidFill>
                <a:latin typeface="Calibri" pitchFamily="34" charset="0"/>
                <a:ea typeface="Calibri" pitchFamily="34" charset="-122"/>
                <a:cs typeface="Calibri" pitchFamily="34" charset="-120"/>
              </a:rPr>
              <a:t>PantalonTermico</a:t>
            </a:r>
            <a:endParaRPr lang="en-US" sz="1100" dirty="0"/>
          </a:p>
        </p:txBody>
      </p:sp>
      <p:sp>
        <p:nvSpPr>
          <p:cNvPr id="21" name="Shape 19"/>
          <p:cNvSpPr/>
          <p:nvPr/>
        </p:nvSpPr>
        <p:spPr>
          <a:xfrm>
            <a:off x="4709160" y="2606040"/>
            <a:ext cx="4069080" cy="365760"/>
          </a:xfrm>
          <a:prstGeom prst="rect">
            <a:avLst/>
          </a:prstGeom>
          <a:solidFill>
            <a:srgbClr val="39A900"/>
          </a:solidFill>
          <a:ln w="12700">
            <a:solidFill>
              <a:srgbClr val="39A900"/>
            </a:solidFill>
            <a:prstDash val="solid"/>
          </a:ln>
        </p:spPr>
      </p:sp>
      <p:sp>
        <p:nvSpPr>
          <p:cNvPr id="22" name="Text 20"/>
          <p:cNvSpPr/>
          <p:nvPr/>
        </p:nvSpPr>
        <p:spPr>
          <a:xfrm>
            <a:off x="4709160" y="2606040"/>
            <a:ext cx="406908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Temporada Cálida</a:t>
            </a:r>
            <a:endParaRPr lang="en-US" sz="1200" dirty="0"/>
          </a:p>
        </p:txBody>
      </p:sp>
      <p:sp>
        <p:nvSpPr>
          <p:cNvPr id="23" name="Shape 21"/>
          <p:cNvSpPr/>
          <p:nvPr/>
        </p:nvSpPr>
        <p:spPr>
          <a:xfrm>
            <a:off x="4709160" y="2971800"/>
            <a:ext cx="2029968" cy="841248"/>
          </a:xfrm>
          <a:prstGeom prst="rect">
            <a:avLst/>
          </a:prstGeom>
          <a:solidFill>
            <a:srgbClr val="F4F6F8"/>
          </a:solidFill>
          <a:ln w="12700">
            <a:solidFill>
              <a:srgbClr val="E2E8F0"/>
            </a:solidFill>
            <a:prstDash val="solid"/>
          </a:ln>
        </p:spPr>
      </p:sp>
      <p:sp>
        <p:nvSpPr>
          <p:cNvPr id="24" name="Text 22"/>
          <p:cNvSpPr/>
          <p:nvPr/>
        </p:nvSpPr>
        <p:spPr>
          <a:xfrm>
            <a:off x="4709160" y="2971800"/>
            <a:ext cx="2029968" cy="841248"/>
          </a:xfrm>
          <a:prstGeom prst="rect">
            <a:avLst/>
          </a:prstGeom>
          <a:noFill/>
          <a:ln/>
        </p:spPr>
        <p:txBody>
          <a:bodyPr wrap="square" rtlCol="0" anchor="ctr"/>
          <a:lstStyle/>
          <a:p>
            <a:pPr algn="ctr" indent="0" marL="0">
              <a:buNone/>
            </a:pPr>
            <a:r>
              <a:rPr lang="en-US" sz="1100" b="1" dirty="0">
                <a:solidFill>
                  <a:srgbClr val="39A900"/>
                </a:solidFill>
                <a:latin typeface="Calibri" pitchFamily="34" charset="0"/>
                <a:ea typeface="Calibri" pitchFamily="34" charset="-122"/>
                <a:cs typeface="Calibri" pitchFamily="34" charset="-120"/>
              </a:rPr>
              <a:t>RuanaAlgodon</a:t>
            </a:r>
            <a:endParaRPr lang="en-US" sz="1100" dirty="0"/>
          </a:p>
        </p:txBody>
      </p:sp>
      <p:sp>
        <p:nvSpPr>
          <p:cNvPr id="25" name="Shape 23"/>
          <p:cNvSpPr/>
          <p:nvPr/>
        </p:nvSpPr>
        <p:spPr>
          <a:xfrm>
            <a:off x="6743700" y="2971800"/>
            <a:ext cx="2029968" cy="841248"/>
          </a:xfrm>
          <a:prstGeom prst="rect">
            <a:avLst/>
          </a:prstGeom>
          <a:solidFill>
            <a:srgbClr val="F4F6F8"/>
          </a:solidFill>
          <a:ln w="12700">
            <a:solidFill>
              <a:srgbClr val="E2E8F0"/>
            </a:solidFill>
            <a:prstDash val="solid"/>
          </a:ln>
        </p:spPr>
      </p:sp>
      <p:sp>
        <p:nvSpPr>
          <p:cNvPr id="26" name="Text 24"/>
          <p:cNvSpPr/>
          <p:nvPr/>
        </p:nvSpPr>
        <p:spPr>
          <a:xfrm>
            <a:off x="6743700" y="2971800"/>
            <a:ext cx="2029968" cy="841248"/>
          </a:xfrm>
          <a:prstGeom prst="rect">
            <a:avLst/>
          </a:prstGeom>
          <a:noFill/>
          <a:ln/>
        </p:spPr>
        <p:txBody>
          <a:bodyPr wrap="square" rtlCol="0" anchor="ctr"/>
          <a:lstStyle/>
          <a:p>
            <a:pPr algn="ctr" indent="0" marL="0">
              <a:buNone/>
            </a:pPr>
            <a:r>
              <a:rPr lang="en-US" sz="1100" b="1" dirty="0">
                <a:solidFill>
                  <a:srgbClr val="39A900"/>
                </a:solidFill>
                <a:latin typeface="Calibri" pitchFamily="34" charset="0"/>
                <a:ea typeface="Calibri" pitchFamily="34" charset="-122"/>
                <a:cs typeface="Calibri" pitchFamily="34" charset="-120"/>
              </a:rPr>
              <a:t>PantalonLino</a:t>
            </a:r>
            <a:endParaRPr lang="en-US" sz="1100" dirty="0"/>
          </a:p>
        </p:txBody>
      </p:sp>
      <p:sp>
        <p:nvSpPr>
          <p:cNvPr id="27" name="Shape 25"/>
          <p:cNvSpPr/>
          <p:nvPr/>
        </p:nvSpPr>
        <p:spPr>
          <a:xfrm>
            <a:off x="0" y="4846320"/>
            <a:ext cx="9144000" cy="297180"/>
          </a:xfrm>
          <a:prstGeom prst="rect">
            <a:avLst/>
          </a:prstGeom>
          <a:solidFill>
            <a:srgbClr val="1F3864"/>
          </a:solidFill>
          <a:ln w="12700">
            <a:solidFill>
              <a:srgbClr val="1F3864"/>
            </a:solidFill>
            <a:prstDash val="solid"/>
          </a:ln>
        </p:spPr>
      </p:sp>
      <p:sp>
        <p:nvSpPr>
          <p:cNvPr id="28" name="Text 26"/>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29" name="Text 27"/>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13/32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D8200"/>
          </a:solidFill>
          <a:ln w="12700">
            <a:solidFill>
              <a:srgbClr val="2D8200"/>
            </a:solidFill>
            <a:prstDash val="solid"/>
          </a:ln>
        </p:spPr>
      </p:sp>
      <p:sp>
        <p:nvSpPr>
          <p:cNvPr id="3" name="Shape 1"/>
          <p:cNvSpPr/>
          <p:nvPr/>
        </p:nvSpPr>
        <p:spPr>
          <a:xfrm>
            <a:off x="0" y="109728"/>
            <a:ext cx="73152" cy="5033772"/>
          </a:xfrm>
          <a:prstGeom prst="rect">
            <a:avLst/>
          </a:prstGeom>
          <a:solidFill>
            <a:srgbClr val="2D8200"/>
          </a:solidFill>
          <a:ln w="12700">
            <a:solidFill>
              <a:srgbClr val="2D8200"/>
            </a:solidFill>
            <a:prstDash val="solid"/>
          </a:ln>
        </p:spPr>
      </p:sp>
      <p:sp>
        <p:nvSpPr>
          <p:cNvPr id="4" name="Text 2"/>
          <p:cNvSpPr/>
          <p:nvPr/>
        </p:nvSpPr>
        <p:spPr>
          <a:xfrm>
            <a:off x="274320" y="182880"/>
            <a:ext cx="8595360" cy="530352"/>
          </a:xfrm>
          <a:prstGeom prst="rect">
            <a:avLst/>
          </a:prstGeom>
          <a:noFill/>
          <a:ln/>
        </p:spPr>
        <p:txBody>
          <a:bodyPr wrap="square" rtlCol="0" anchor="ctr"/>
          <a:lstStyle/>
          <a:p>
            <a:pPr indent="0" marL="0">
              <a:buNone/>
            </a:pPr>
            <a:r>
              <a:rPr lang="en-US" sz="2200" b="1" dirty="0">
                <a:solidFill>
                  <a:srgbClr val="1F3864"/>
                </a:solidFill>
                <a:latin typeface="Calibri Black" pitchFamily="34" charset="0"/>
                <a:ea typeface="Calibri Black" pitchFamily="34" charset="-122"/>
                <a:cs typeface="Calibri Black" pitchFamily="34" charset="-120"/>
              </a:rPr>
              <a:t>Abstract Factory — Problema y Solución</a:t>
            </a:r>
            <a:endParaRPr lang="en-US" sz="2200" dirty="0"/>
          </a:p>
        </p:txBody>
      </p:sp>
      <p:sp>
        <p:nvSpPr>
          <p:cNvPr id="5" name="Shape 3"/>
          <p:cNvSpPr/>
          <p:nvPr/>
        </p:nvSpPr>
        <p:spPr>
          <a:xfrm>
            <a:off x="228600" y="822960"/>
            <a:ext cx="8686800" cy="12344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6" name="Shape 4"/>
          <p:cNvSpPr/>
          <p:nvPr/>
        </p:nvSpPr>
        <p:spPr>
          <a:xfrm>
            <a:off x="228600" y="822960"/>
            <a:ext cx="64008" cy="1234440"/>
          </a:xfrm>
          <a:prstGeom prst="rect">
            <a:avLst/>
          </a:prstGeom>
          <a:solidFill>
            <a:srgbClr val="DC2626"/>
          </a:solidFill>
          <a:ln w="12700">
            <a:solidFill>
              <a:srgbClr val="DC2626"/>
            </a:solidFill>
            <a:prstDash val="solid"/>
          </a:ln>
        </p:spPr>
      </p:sp>
      <p:sp>
        <p:nvSpPr>
          <p:cNvPr id="7" name="Text 5"/>
          <p:cNvSpPr/>
          <p:nvPr/>
        </p:nvSpPr>
        <p:spPr>
          <a:xfrm>
            <a:off x="365760" y="914400"/>
            <a:ext cx="850392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 El Problema</a:t>
            </a:r>
            <a:endParaRPr lang="en-US" sz="1100" dirty="0"/>
          </a:p>
        </p:txBody>
      </p:sp>
      <p:sp>
        <p:nvSpPr>
          <p:cNvPr id="8" name="Text 6"/>
          <p:cNvSpPr/>
          <p:nvPr/>
        </p:nvSpPr>
        <p:spPr>
          <a:xfrm>
            <a:off x="365760" y="1152144"/>
            <a:ext cx="8503920" cy="832104"/>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Si creamos cada producto independientemente (una RuanaLana con un PantalonLino), podemos mezclar productos incompatibles. El sistema no garantiza coherencia entre las prendas de una colección.</a:t>
            </a:r>
            <a:endParaRPr lang="en-US" sz="1000" dirty="0"/>
          </a:p>
        </p:txBody>
      </p:sp>
      <p:sp>
        <p:nvSpPr>
          <p:cNvPr id="9" name="Shape 7"/>
          <p:cNvSpPr/>
          <p:nvPr/>
        </p:nvSpPr>
        <p:spPr>
          <a:xfrm>
            <a:off x="228600" y="2148840"/>
            <a:ext cx="8686800" cy="12344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0" name="Shape 8"/>
          <p:cNvSpPr/>
          <p:nvPr/>
        </p:nvSpPr>
        <p:spPr>
          <a:xfrm>
            <a:off x="228600" y="2148840"/>
            <a:ext cx="64008" cy="1234440"/>
          </a:xfrm>
          <a:prstGeom prst="rect">
            <a:avLst/>
          </a:prstGeom>
          <a:solidFill>
            <a:srgbClr val="2D8200"/>
          </a:solidFill>
          <a:ln w="12700">
            <a:solidFill>
              <a:srgbClr val="2D8200"/>
            </a:solidFill>
            <a:prstDash val="solid"/>
          </a:ln>
        </p:spPr>
      </p:sp>
      <p:sp>
        <p:nvSpPr>
          <p:cNvPr id="11" name="Text 9"/>
          <p:cNvSpPr/>
          <p:nvPr/>
        </p:nvSpPr>
        <p:spPr>
          <a:xfrm>
            <a:off x="365760" y="2240280"/>
            <a:ext cx="850392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 La Solución</a:t>
            </a:r>
            <a:endParaRPr lang="en-US" sz="1100" dirty="0"/>
          </a:p>
        </p:txBody>
      </p:sp>
      <p:sp>
        <p:nvSpPr>
          <p:cNvPr id="12" name="Text 10"/>
          <p:cNvSpPr/>
          <p:nvPr/>
        </p:nvSpPr>
        <p:spPr>
          <a:xfrm>
            <a:off x="365760" y="2478024"/>
            <a:ext cx="8503920" cy="832104"/>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FabricaRopaBoyacense (interfaz) define crearRuana() y crearPantalon(). Las fábricas concretas (FabricaTemporadaFria, FabricaTemporadaCalida) garantizan que todos sus productos pertenezcan a la misma familia.</a:t>
            </a:r>
            <a:endParaRPr lang="en-US" sz="1000" dirty="0"/>
          </a:p>
        </p:txBody>
      </p:sp>
      <p:sp>
        <p:nvSpPr>
          <p:cNvPr id="13" name="Shape 11"/>
          <p:cNvSpPr/>
          <p:nvPr/>
        </p:nvSpPr>
        <p:spPr>
          <a:xfrm>
            <a:off x="228600" y="3493008"/>
            <a:ext cx="4206240" cy="548640"/>
          </a:xfrm>
          <a:prstGeom prst="rect">
            <a:avLst/>
          </a:prstGeom>
          <a:solidFill>
            <a:srgbClr val="2D8200"/>
          </a:solidFill>
          <a:ln w="12700">
            <a:solidFill>
              <a:srgbClr val="1F3864"/>
            </a:solidFill>
            <a:prstDash val="solid"/>
          </a:ln>
        </p:spPr>
      </p:sp>
      <p:sp>
        <p:nvSpPr>
          <p:cNvPr id="14" name="Text 12"/>
          <p:cNvSpPr/>
          <p:nvPr/>
        </p:nvSpPr>
        <p:spPr>
          <a:xfrm>
            <a:off x="320040" y="3493008"/>
            <a:ext cx="4023360" cy="27432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FabricaRopaBoyacense  —  AbstractFactory</a:t>
            </a:r>
            <a:endParaRPr lang="en-US" sz="1000" dirty="0"/>
          </a:p>
        </p:txBody>
      </p:sp>
      <p:sp>
        <p:nvSpPr>
          <p:cNvPr id="15" name="Text 13"/>
          <p:cNvSpPr/>
          <p:nvPr/>
        </p:nvSpPr>
        <p:spPr>
          <a:xfrm>
            <a:off x="320040" y="3767328"/>
            <a:ext cx="402336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Interface con crearRuana() y crearPantalon()</a:t>
            </a:r>
            <a:endParaRPr lang="en-US" sz="900" dirty="0"/>
          </a:p>
        </p:txBody>
      </p:sp>
      <p:sp>
        <p:nvSpPr>
          <p:cNvPr id="16" name="Shape 14"/>
          <p:cNvSpPr/>
          <p:nvPr/>
        </p:nvSpPr>
        <p:spPr>
          <a:xfrm>
            <a:off x="4617720" y="3493008"/>
            <a:ext cx="4206240" cy="548640"/>
          </a:xfrm>
          <a:prstGeom prst="rect">
            <a:avLst/>
          </a:prstGeom>
          <a:solidFill>
            <a:srgbClr val="1F3864"/>
          </a:solidFill>
          <a:ln w="12700">
            <a:solidFill>
              <a:srgbClr val="1F3864"/>
            </a:solidFill>
            <a:prstDash val="solid"/>
          </a:ln>
        </p:spPr>
      </p:sp>
      <p:sp>
        <p:nvSpPr>
          <p:cNvPr id="17" name="Text 15"/>
          <p:cNvSpPr/>
          <p:nvPr/>
        </p:nvSpPr>
        <p:spPr>
          <a:xfrm>
            <a:off x="4709160" y="3493008"/>
            <a:ext cx="4023360" cy="27432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FabricaTemporadaFria  —  ConcreteFactory</a:t>
            </a:r>
            <a:endParaRPr lang="en-US" sz="1000" dirty="0"/>
          </a:p>
        </p:txBody>
      </p:sp>
      <p:sp>
        <p:nvSpPr>
          <p:cNvPr id="18" name="Text 16"/>
          <p:cNvSpPr/>
          <p:nvPr/>
        </p:nvSpPr>
        <p:spPr>
          <a:xfrm>
            <a:off x="4709160" y="3767328"/>
            <a:ext cx="402336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Crea RuanaLana + PantalonTermico</a:t>
            </a:r>
            <a:endParaRPr lang="en-US" sz="900" dirty="0"/>
          </a:p>
        </p:txBody>
      </p:sp>
      <p:sp>
        <p:nvSpPr>
          <p:cNvPr id="19" name="Shape 17"/>
          <p:cNvSpPr/>
          <p:nvPr/>
        </p:nvSpPr>
        <p:spPr>
          <a:xfrm>
            <a:off x="228600" y="4114800"/>
            <a:ext cx="4206240" cy="548640"/>
          </a:xfrm>
          <a:prstGeom prst="rect">
            <a:avLst/>
          </a:prstGeom>
          <a:solidFill>
            <a:srgbClr val="1F3864"/>
          </a:solidFill>
          <a:ln w="12700">
            <a:solidFill>
              <a:srgbClr val="1F3864"/>
            </a:solidFill>
            <a:prstDash val="solid"/>
          </a:ln>
        </p:spPr>
      </p:sp>
      <p:sp>
        <p:nvSpPr>
          <p:cNvPr id="20" name="Text 18"/>
          <p:cNvSpPr/>
          <p:nvPr/>
        </p:nvSpPr>
        <p:spPr>
          <a:xfrm>
            <a:off x="320040" y="4114800"/>
            <a:ext cx="4023360" cy="27432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FabricaTemporadaCalida  —  ConcreteFactory</a:t>
            </a:r>
            <a:endParaRPr lang="en-US" sz="1000" dirty="0"/>
          </a:p>
        </p:txBody>
      </p:sp>
      <p:sp>
        <p:nvSpPr>
          <p:cNvPr id="21" name="Text 19"/>
          <p:cNvSpPr/>
          <p:nvPr/>
        </p:nvSpPr>
        <p:spPr>
          <a:xfrm>
            <a:off x="320040" y="4389120"/>
            <a:ext cx="402336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Crea RuanaAlgodon + PantalonLino</a:t>
            </a:r>
            <a:endParaRPr lang="en-US" sz="900" dirty="0"/>
          </a:p>
        </p:txBody>
      </p:sp>
      <p:sp>
        <p:nvSpPr>
          <p:cNvPr id="22" name="Shape 20"/>
          <p:cNvSpPr/>
          <p:nvPr/>
        </p:nvSpPr>
        <p:spPr>
          <a:xfrm>
            <a:off x="4617720" y="4114800"/>
            <a:ext cx="4206240" cy="548640"/>
          </a:xfrm>
          <a:prstGeom prst="rect">
            <a:avLst/>
          </a:prstGeom>
          <a:solidFill>
            <a:srgbClr val="1F3864"/>
          </a:solidFill>
          <a:ln w="12700">
            <a:solidFill>
              <a:srgbClr val="1F3864"/>
            </a:solidFill>
            <a:prstDash val="solid"/>
          </a:ln>
        </p:spPr>
      </p:sp>
      <p:sp>
        <p:nvSpPr>
          <p:cNvPr id="23" name="Text 21"/>
          <p:cNvSpPr/>
          <p:nvPr/>
        </p:nvSpPr>
        <p:spPr>
          <a:xfrm>
            <a:off x="4709160" y="4114800"/>
            <a:ext cx="4023360" cy="27432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AlmacenDonJose  —  Client</a:t>
            </a:r>
            <a:endParaRPr lang="en-US" sz="1000" dirty="0"/>
          </a:p>
        </p:txBody>
      </p:sp>
      <p:sp>
        <p:nvSpPr>
          <p:cNvPr id="24" name="Text 22"/>
          <p:cNvSpPr/>
          <p:nvPr/>
        </p:nvSpPr>
        <p:spPr>
          <a:xfrm>
            <a:off x="4709160" y="4389120"/>
            <a:ext cx="402336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Usa la fábrica sin conocer los tipos concretos</a:t>
            </a:r>
            <a:endParaRPr lang="en-US" sz="900" dirty="0"/>
          </a:p>
        </p:txBody>
      </p:sp>
      <p:sp>
        <p:nvSpPr>
          <p:cNvPr id="25" name="Shape 23"/>
          <p:cNvSpPr/>
          <p:nvPr/>
        </p:nvSpPr>
        <p:spPr>
          <a:xfrm>
            <a:off x="0" y="4846320"/>
            <a:ext cx="9144000" cy="297180"/>
          </a:xfrm>
          <a:prstGeom prst="rect">
            <a:avLst/>
          </a:prstGeom>
          <a:solidFill>
            <a:srgbClr val="1F3864"/>
          </a:solidFill>
          <a:ln w="12700">
            <a:solidFill>
              <a:srgbClr val="1F3864"/>
            </a:solidFill>
            <a:prstDash val="solid"/>
          </a:ln>
        </p:spPr>
      </p:sp>
      <p:sp>
        <p:nvSpPr>
          <p:cNvPr id="26" name="Text 24"/>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27" name="Text 25"/>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14/32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D8200"/>
          </a:solidFill>
          <a:ln w="12700">
            <a:solidFill>
              <a:srgbClr val="2D8200"/>
            </a:solidFill>
            <a:prstDash val="solid"/>
          </a:ln>
        </p:spPr>
      </p:sp>
      <p:sp>
        <p:nvSpPr>
          <p:cNvPr id="3" name="Shape 1"/>
          <p:cNvSpPr/>
          <p:nvPr/>
        </p:nvSpPr>
        <p:spPr>
          <a:xfrm>
            <a:off x="0" y="109728"/>
            <a:ext cx="73152" cy="5033772"/>
          </a:xfrm>
          <a:prstGeom prst="rect">
            <a:avLst/>
          </a:prstGeom>
          <a:solidFill>
            <a:srgbClr val="2D8200"/>
          </a:solidFill>
          <a:ln w="12700">
            <a:solidFill>
              <a:srgbClr val="2D8200"/>
            </a:solidFill>
            <a:prstDash val="solid"/>
          </a:ln>
        </p:spPr>
      </p:sp>
      <p:sp>
        <p:nvSpPr>
          <p:cNvPr id="4" name="Text 2"/>
          <p:cNvSpPr/>
          <p:nvPr/>
        </p:nvSpPr>
        <p:spPr>
          <a:xfrm>
            <a:off x="274320" y="182880"/>
            <a:ext cx="8595360" cy="530352"/>
          </a:xfrm>
          <a:prstGeom prst="rect">
            <a:avLst/>
          </a:prstGeom>
          <a:noFill/>
          <a:ln/>
        </p:spPr>
        <p:txBody>
          <a:bodyPr wrap="square" rtlCol="0" anchor="ctr"/>
          <a:lstStyle/>
          <a:p>
            <a:pPr indent="0" marL="0">
              <a:buNone/>
            </a:pPr>
            <a:r>
              <a:rPr lang="en-US" sz="2200" b="1" dirty="0">
                <a:solidFill>
                  <a:srgbClr val="1F3864"/>
                </a:solidFill>
                <a:latin typeface="Calibri Black" pitchFamily="34" charset="0"/>
                <a:ea typeface="Calibri Black" pitchFamily="34" charset="-122"/>
                <a:cs typeface="Calibri Black" pitchFamily="34" charset="-120"/>
              </a:rPr>
              <a:t>Abstract Factory — Estructura de Clases</a:t>
            </a:r>
            <a:endParaRPr lang="en-US" sz="2200" dirty="0"/>
          </a:p>
        </p:txBody>
      </p:sp>
      <p:sp>
        <p:nvSpPr>
          <p:cNvPr id="5" name="Shape 3"/>
          <p:cNvSpPr/>
          <p:nvPr/>
        </p:nvSpPr>
        <p:spPr>
          <a:xfrm>
            <a:off x="228600" y="822960"/>
            <a:ext cx="2377440" cy="621792"/>
          </a:xfrm>
          <a:prstGeom prst="rect">
            <a:avLst/>
          </a:prstGeom>
          <a:solidFill>
            <a:srgbClr val="2D8200"/>
          </a:solidFill>
          <a:ln w="12700">
            <a:solidFill>
              <a:srgbClr val="2D8200"/>
            </a:solidFill>
            <a:prstDash val="solid"/>
          </a:ln>
        </p:spPr>
      </p:sp>
      <p:sp>
        <p:nvSpPr>
          <p:cNvPr id="6" name="Text 4"/>
          <p:cNvSpPr/>
          <p:nvPr/>
        </p:nvSpPr>
        <p:spPr>
          <a:xfrm>
            <a:off x="274320" y="822960"/>
            <a:ext cx="2286000" cy="347472"/>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FabricaRopaBoyacense</a:t>
            </a:r>
            <a:endParaRPr lang="en-US" sz="950" dirty="0"/>
          </a:p>
        </p:txBody>
      </p:sp>
      <p:sp>
        <p:nvSpPr>
          <p:cNvPr id="7" name="Text 5"/>
          <p:cNvSpPr/>
          <p:nvPr/>
        </p:nvSpPr>
        <p:spPr>
          <a:xfrm>
            <a:off x="274320" y="1078992"/>
            <a:ext cx="2286000" cy="228600"/>
          </a:xfrm>
          <a:prstGeom prst="rect">
            <a:avLst/>
          </a:prstGeom>
          <a:noFill/>
          <a:ln/>
        </p:spPr>
        <p:txBody>
          <a:bodyPr wrap="square" rtlCol="0" anchor="ctr"/>
          <a:lstStyle/>
          <a:p>
            <a:pPr indent="0" marL="0">
              <a:buNone/>
            </a:pPr>
            <a:r>
              <a:rPr lang="en-US" sz="800" i="1" dirty="0">
                <a:solidFill>
                  <a:srgbClr val="DDEECC"/>
                </a:solidFill>
                <a:latin typeface="Calibri" pitchFamily="34" charset="0"/>
                <a:ea typeface="Calibri" pitchFamily="34" charset="-122"/>
                <a:cs typeface="Calibri" pitchFamily="34" charset="-120"/>
              </a:rPr>
              <a:t>«interface» AbstractFactory</a:t>
            </a:r>
            <a:endParaRPr lang="en-US" sz="800" dirty="0"/>
          </a:p>
        </p:txBody>
      </p:sp>
      <p:sp>
        <p:nvSpPr>
          <p:cNvPr id="8" name="Shape 6"/>
          <p:cNvSpPr/>
          <p:nvPr/>
        </p:nvSpPr>
        <p:spPr>
          <a:xfrm>
            <a:off x="2606040" y="822960"/>
            <a:ext cx="6309360" cy="621792"/>
          </a:xfrm>
          <a:prstGeom prst="rect">
            <a:avLst/>
          </a:prstGeom>
          <a:solidFill>
            <a:srgbClr val="F4F6F8"/>
          </a:solidFill>
          <a:ln w="12700">
            <a:solidFill>
              <a:srgbClr val="E2E8F0"/>
            </a:solidFill>
            <a:prstDash val="solid"/>
          </a:ln>
        </p:spPr>
      </p:sp>
      <p:sp>
        <p:nvSpPr>
          <p:cNvPr id="9" name="Text 7"/>
          <p:cNvSpPr/>
          <p:nvPr/>
        </p:nvSpPr>
        <p:spPr>
          <a:xfrm>
            <a:off x="2697480" y="822960"/>
            <a:ext cx="6126480" cy="621792"/>
          </a:xfrm>
          <a:prstGeom prst="rect">
            <a:avLst/>
          </a:prstGeom>
          <a:noFill/>
          <a:ln/>
        </p:spPr>
        <p:txBody>
          <a:bodyPr wrap="square"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crearRuana()  |  crearPantalon()</a:t>
            </a:r>
            <a:endParaRPr lang="en-US" sz="1000" dirty="0"/>
          </a:p>
        </p:txBody>
      </p:sp>
      <p:sp>
        <p:nvSpPr>
          <p:cNvPr id="10" name="Shape 8"/>
          <p:cNvSpPr/>
          <p:nvPr/>
        </p:nvSpPr>
        <p:spPr>
          <a:xfrm>
            <a:off x="228600" y="1490472"/>
            <a:ext cx="2377440" cy="621792"/>
          </a:xfrm>
          <a:prstGeom prst="rect">
            <a:avLst/>
          </a:prstGeom>
          <a:solidFill>
            <a:srgbClr val="1565C0"/>
          </a:solidFill>
          <a:ln w="12700">
            <a:solidFill>
              <a:srgbClr val="1565C0"/>
            </a:solidFill>
            <a:prstDash val="solid"/>
          </a:ln>
        </p:spPr>
      </p:sp>
      <p:sp>
        <p:nvSpPr>
          <p:cNvPr id="11" name="Text 9"/>
          <p:cNvSpPr/>
          <p:nvPr/>
        </p:nvSpPr>
        <p:spPr>
          <a:xfrm>
            <a:off x="274320" y="1490472"/>
            <a:ext cx="2286000" cy="347472"/>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FabricaTemporadaFria</a:t>
            </a:r>
            <a:endParaRPr lang="en-US" sz="950" dirty="0"/>
          </a:p>
        </p:txBody>
      </p:sp>
      <p:sp>
        <p:nvSpPr>
          <p:cNvPr id="12" name="Text 10"/>
          <p:cNvSpPr/>
          <p:nvPr/>
        </p:nvSpPr>
        <p:spPr>
          <a:xfrm>
            <a:off x="274320" y="1746504"/>
            <a:ext cx="2286000" cy="228600"/>
          </a:xfrm>
          <a:prstGeom prst="rect">
            <a:avLst/>
          </a:prstGeom>
          <a:noFill/>
          <a:ln/>
        </p:spPr>
        <p:txBody>
          <a:bodyPr wrap="square" rtlCol="0" anchor="ctr"/>
          <a:lstStyle/>
          <a:p>
            <a:pPr indent="0" marL="0">
              <a:buNone/>
            </a:pPr>
            <a:r>
              <a:rPr lang="en-US" sz="800" i="1" dirty="0">
                <a:solidFill>
                  <a:srgbClr val="DDEECC"/>
                </a:solidFill>
                <a:latin typeface="Calibri" pitchFamily="34" charset="0"/>
                <a:ea typeface="Calibri" pitchFamily="34" charset="-122"/>
                <a:cs typeface="Calibri" pitchFamily="34" charset="-120"/>
              </a:rPr>
              <a:t>ConcreteFactory A</a:t>
            </a:r>
            <a:endParaRPr lang="en-US" sz="800" dirty="0"/>
          </a:p>
        </p:txBody>
      </p:sp>
      <p:sp>
        <p:nvSpPr>
          <p:cNvPr id="13" name="Shape 11"/>
          <p:cNvSpPr/>
          <p:nvPr/>
        </p:nvSpPr>
        <p:spPr>
          <a:xfrm>
            <a:off x="2606040" y="1490472"/>
            <a:ext cx="6309360" cy="621792"/>
          </a:xfrm>
          <a:prstGeom prst="rect">
            <a:avLst/>
          </a:prstGeom>
          <a:solidFill>
            <a:srgbClr val="FFFFFF"/>
          </a:solidFill>
          <a:ln w="12700">
            <a:solidFill>
              <a:srgbClr val="E2E8F0"/>
            </a:solidFill>
            <a:prstDash val="solid"/>
          </a:ln>
        </p:spPr>
      </p:sp>
      <p:sp>
        <p:nvSpPr>
          <p:cNvPr id="14" name="Text 12"/>
          <p:cNvSpPr/>
          <p:nvPr/>
        </p:nvSpPr>
        <p:spPr>
          <a:xfrm>
            <a:off x="2697480" y="1490472"/>
            <a:ext cx="6126480" cy="621792"/>
          </a:xfrm>
          <a:prstGeom prst="rect">
            <a:avLst/>
          </a:prstGeom>
          <a:noFill/>
          <a:ln/>
        </p:spPr>
        <p:txBody>
          <a:bodyPr wrap="square"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return new RuanaLana()  |  return new PantalonTermico()</a:t>
            </a:r>
            <a:endParaRPr lang="en-US" sz="1000" dirty="0"/>
          </a:p>
        </p:txBody>
      </p:sp>
      <p:sp>
        <p:nvSpPr>
          <p:cNvPr id="15" name="Shape 13"/>
          <p:cNvSpPr/>
          <p:nvPr/>
        </p:nvSpPr>
        <p:spPr>
          <a:xfrm>
            <a:off x="228600" y="2157984"/>
            <a:ext cx="2377440" cy="621792"/>
          </a:xfrm>
          <a:prstGeom prst="rect">
            <a:avLst/>
          </a:prstGeom>
          <a:solidFill>
            <a:srgbClr val="39A900"/>
          </a:solidFill>
          <a:ln w="12700">
            <a:solidFill>
              <a:srgbClr val="39A900"/>
            </a:solidFill>
            <a:prstDash val="solid"/>
          </a:ln>
        </p:spPr>
      </p:sp>
      <p:sp>
        <p:nvSpPr>
          <p:cNvPr id="16" name="Text 14"/>
          <p:cNvSpPr/>
          <p:nvPr/>
        </p:nvSpPr>
        <p:spPr>
          <a:xfrm>
            <a:off x="274320" y="2157984"/>
            <a:ext cx="2286000" cy="347472"/>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FabricaTemporadaCalida</a:t>
            </a:r>
            <a:endParaRPr lang="en-US" sz="950" dirty="0"/>
          </a:p>
        </p:txBody>
      </p:sp>
      <p:sp>
        <p:nvSpPr>
          <p:cNvPr id="17" name="Text 15"/>
          <p:cNvSpPr/>
          <p:nvPr/>
        </p:nvSpPr>
        <p:spPr>
          <a:xfrm>
            <a:off x="274320" y="2414016"/>
            <a:ext cx="2286000" cy="228600"/>
          </a:xfrm>
          <a:prstGeom prst="rect">
            <a:avLst/>
          </a:prstGeom>
          <a:noFill/>
          <a:ln/>
        </p:spPr>
        <p:txBody>
          <a:bodyPr wrap="square" rtlCol="0" anchor="ctr"/>
          <a:lstStyle/>
          <a:p>
            <a:pPr indent="0" marL="0">
              <a:buNone/>
            </a:pPr>
            <a:r>
              <a:rPr lang="en-US" sz="800" i="1" dirty="0">
                <a:solidFill>
                  <a:srgbClr val="DDEECC"/>
                </a:solidFill>
                <a:latin typeface="Calibri" pitchFamily="34" charset="0"/>
                <a:ea typeface="Calibri" pitchFamily="34" charset="-122"/>
                <a:cs typeface="Calibri" pitchFamily="34" charset="-120"/>
              </a:rPr>
              <a:t>ConcreteFactory B</a:t>
            </a:r>
            <a:endParaRPr lang="en-US" sz="800" dirty="0"/>
          </a:p>
        </p:txBody>
      </p:sp>
      <p:sp>
        <p:nvSpPr>
          <p:cNvPr id="18" name="Shape 16"/>
          <p:cNvSpPr/>
          <p:nvPr/>
        </p:nvSpPr>
        <p:spPr>
          <a:xfrm>
            <a:off x="2606040" y="2157984"/>
            <a:ext cx="6309360" cy="621792"/>
          </a:xfrm>
          <a:prstGeom prst="rect">
            <a:avLst/>
          </a:prstGeom>
          <a:solidFill>
            <a:srgbClr val="F4F6F8"/>
          </a:solidFill>
          <a:ln w="12700">
            <a:solidFill>
              <a:srgbClr val="E2E8F0"/>
            </a:solidFill>
            <a:prstDash val="solid"/>
          </a:ln>
        </p:spPr>
      </p:sp>
      <p:sp>
        <p:nvSpPr>
          <p:cNvPr id="19" name="Text 17"/>
          <p:cNvSpPr/>
          <p:nvPr/>
        </p:nvSpPr>
        <p:spPr>
          <a:xfrm>
            <a:off x="2697480" y="2157984"/>
            <a:ext cx="6126480" cy="621792"/>
          </a:xfrm>
          <a:prstGeom prst="rect">
            <a:avLst/>
          </a:prstGeom>
          <a:noFill/>
          <a:ln/>
        </p:spPr>
        <p:txBody>
          <a:bodyPr wrap="square"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return new RuanaAlgodon()  |  return new PantalonLino()</a:t>
            </a:r>
            <a:endParaRPr lang="en-US" sz="1000" dirty="0"/>
          </a:p>
        </p:txBody>
      </p:sp>
      <p:sp>
        <p:nvSpPr>
          <p:cNvPr id="20" name="Shape 18"/>
          <p:cNvSpPr/>
          <p:nvPr/>
        </p:nvSpPr>
        <p:spPr>
          <a:xfrm>
            <a:off x="228600" y="2825496"/>
            <a:ext cx="2377440" cy="621792"/>
          </a:xfrm>
          <a:prstGeom prst="rect">
            <a:avLst/>
          </a:prstGeom>
          <a:solidFill>
            <a:srgbClr val="7B2D8B"/>
          </a:solidFill>
          <a:ln w="12700">
            <a:solidFill>
              <a:srgbClr val="7B2D8B"/>
            </a:solidFill>
            <a:prstDash val="solid"/>
          </a:ln>
        </p:spPr>
      </p:sp>
      <p:sp>
        <p:nvSpPr>
          <p:cNvPr id="21" name="Text 19"/>
          <p:cNvSpPr/>
          <p:nvPr/>
        </p:nvSpPr>
        <p:spPr>
          <a:xfrm>
            <a:off x="274320" y="2825496"/>
            <a:ext cx="2286000" cy="347472"/>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Ruana / Pantalon</a:t>
            </a:r>
            <a:endParaRPr lang="en-US" sz="950" dirty="0"/>
          </a:p>
        </p:txBody>
      </p:sp>
      <p:sp>
        <p:nvSpPr>
          <p:cNvPr id="22" name="Text 20"/>
          <p:cNvSpPr/>
          <p:nvPr/>
        </p:nvSpPr>
        <p:spPr>
          <a:xfrm>
            <a:off x="274320" y="3081528"/>
            <a:ext cx="2286000" cy="228600"/>
          </a:xfrm>
          <a:prstGeom prst="rect">
            <a:avLst/>
          </a:prstGeom>
          <a:noFill/>
          <a:ln/>
        </p:spPr>
        <p:txBody>
          <a:bodyPr wrap="square" rtlCol="0" anchor="ctr"/>
          <a:lstStyle/>
          <a:p>
            <a:pPr indent="0" marL="0">
              <a:buNone/>
            </a:pPr>
            <a:r>
              <a:rPr lang="en-US" sz="800" i="1" dirty="0">
                <a:solidFill>
                  <a:srgbClr val="DDEECC"/>
                </a:solidFill>
                <a:latin typeface="Calibri" pitchFamily="34" charset="0"/>
                <a:ea typeface="Calibri" pitchFamily="34" charset="-122"/>
                <a:cs typeface="Calibri" pitchFamily="34" charset="-120"/>
              </a:rPr>
              <a:t>«interface» AbstractProduct</a:t>
            </a:r>
            <a:endParaRPr lang="en-US" sz="800" dirty="0"/>
          </a:p>
        </p:txBody>
      </p:sp>
      <p:sp>
        <p:nvSpPr>
          <p:cNvPr id="23" name="Shape 21"/>
          <p:cNvSpPr/>
          <p:nvPr/>
        </p:nvSpPr>
        <p:spPr>
          <a:xfrm>
            <a:off x="2606040" y="2825496"/>
            <a:ext cx="6309360" cy="621792"/>
          </a:xfrm>
          <a:prstGeom prst="rect">
            <a:avLst/>
          </a:prstGeom>
          <a:solidFill>
            <a:srgbClr val="FFFFFF"/>
          </a:solidFill>
          <a:ln w="12700">
            <a:solidFill>
              <a:srgbClr val="E2E8F0"/>
            </a:solidFill>
            <a:prstDash val="solid"/>
          </a:ln>
        </p:spPr>
      </p:sp>
      <p:sp>
        <p:nvSpPr>
          <p:cNvPr id="24" name="Text 22"/>
          <p:cNvSpPr/>
          <p:nvPr/>
        </p:nvSpPr>
        <p:spPr>
          <a:xfrm>
            <a:off x="2697480" y="2825496"/>
            <a:ext cx="6126480" cy="621792"/>
          </a:xfrm>
          <a:prstGeom prst="rect">
            <a:avLst/>
          </a:prstGeom>
          <a:noFill/>
          <a:ln/>
        </p:spPr>
        <p:txBody>
          <a:bodyPr wrap="square"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mostrar()  |  getMaterial() / getTipo()</a:t>
            </a:r>
            <a:endParaRPr lang="en-US" sz="1000" dirty="0"/>
          </a:p>
        </p:txBody>
      </p:sp>
      <p:sp>
        <p:nvSpPr>
          <p:cNvPr id="25" name="Shape 23"/>
          <p:cNvSpPr/>
          <p:nvPr/>
        </p:nvSpPr>
        <p:spPr>
          <a:xfrm>
            <a:off x="228600" y="3493008"/>
            <a:ext cx="2377440" cy="621792"/>
          </a:xfrm>
          <a:prstGeom prst="rect">
            <a:avLst/>
          </a:prstGeom>
          <a:solidFill>
            <a:srgbClr val="64748B"/>
          </a:solidFill>
          <a:ln w="12700">
            <a:solidFill>
              <a:srgbClr val="64748B"/>
            </a:solidFill>
            <a:prstDash val="solid"/>
          </a:ln>
        </p:spPr>
      </p:sp>
      <p:sp>
        <p:nvSpPr>
          <p:cNvPr id="26" name="Text 24"/>
          <p:cNvSpPr/>
          <p:nvPr/>
        </p:nvSpPr>
        <p:spPr>
          <a:xfrm>
            <a:off x="274320" y="3493008"/>
            <a:ext cx="2286000" cy="347472"/>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RuanaLana, RuanaAlgodon, PantalonTermico, PantalonLino</a:t>
            </a:r>
            <a:endParaRPr lang="en-US" sz="950" dirty="0"/>
          </a:p>
        </p:txBody>
      </p:sp>
      <p:sp>
        <p:nvSpPr>
          <p:cNvPr id="27" name="Text 25"/>
          <p:cNvSpPr/>
          <p:nvPr/>
        </p:nvSpPr>
        <p:spPr>
          <a:xfrm>
            <a:off x="274320" y="3749040"/>
            <a:ext cx="2286000" cy="228600"/>
          </a:xfrm>
          <a:prstGeom prst="rect">
            <a:avLst/>
          </a:prstGeom>
          <a:noFill/>
          <a:ln/>
        </p:spPr>
        <p:txBody>
          <a:bodyPr wrap="square" rtlCol="0" anchor="ctr"/>
          <a:lstStyle/>
          <a:p>
            <a:pPr indent="0" marL="0">
              <a:buNone/>
            </a:pPr>
            <a:r>
              <a:rPr lang="en-US" sz="800" i="1" dirty="0">
                <a:solidFill>
                  <a:srgbClr val="DDEECC"/>
                </a:solidFill>
                <a:latin typeface="Calibri" pitchFamily="34" charset="0"/>
                <a:ea typeface="Calibri" pitchFamily="34" charset="-122"/>
                <a:cs typeface="Calibri" pitchFamily="34" charset="-120"/>
              </a:rPr>
              <a:t>ConcreteProduct (×4)</a:t>
            </a:r>
            <a:endParaRPr lang="en-US" sz="800" dirty="0"/>
          </a:p>
        </p:txBody>
      </p:sp>
      <p:sp>
        <p:nvSpPr>
          <p:cNvPr id="28" name="Shape 26"/>
          <p:cNvSpPr/>
          <p:nvPr/>
        </p:nvSpPr>
        <p:spPr>
          <a:xfrm>
            <a:off x="2606040" y="3493008"/>
            <a:ext cx="6309360" cy="621792"/>
          </a:xfrm>
          <a:prstGeom prst="rect">
            <a:avLst/>
          </a:prstGeom>
          <a:solidFill>
            <a:srgbClr val="F4F6F8"/>
          </a:solidFill>
          <a:ln w="12700">
            <a:solidFill>
              <a:srgbClr val="E2E8F0"/>
            </a:solidFill>
            <a:prstDash val="solid"/>
          </a:ln>
        </p:spPr>
      </p:sp>
      <p:sp>
        <p:nvSpPr>
          <p:cNvPr id="29" name="Text 27"/>
          <p:cNvSpPr/>
          <p:nvPr/>
        </p:nvSpPr>
        <p:spPr>
          <a:xfrm>
            <a:off x="2697480" y="3493008"/>
            <a:ext cx="6126480" cy="621792"/>
          </a:xfrm>
          <a:prstGeom prst="rect">
            <a:avLst/>
          </a:prstGeom>
          <a:noFill/>
          <a:ln/>
        </p:spPr>
        <p:txBody>
          <a:bodyPr wrap="square"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Implementan Ruana o Pantalon con comportamiento propio</a:t>
            </a:r>
            <a:endParaRPr lang="en-US" sz="1000" dirty="0"/>
          </a:p>
        </p:txBody>
      </p:sp>
      <p:sp>
        <p:nvSpPr>
          <p:cNvPr id="30" name="Shape 28"/>
          <p:cNvSpPr/>
          <p:nvPr/>
        </p:nvSpPr>
        <p:spPr>
          <a:xfrm>
            <a:off x="228600" y="4160520"/>
            <a:ext cx="2377440" cy="621792"/>
          </a:xfrm>
          <a:prstGeom prst="rect">
            <a:avLst/>
          </a:prstGeom>
          <a:solidFill>
            <a:srgbClr val="1F3864"/>
          </a:solidFill>
          <a:ln w="12700">
            <a:solidFill>
              <a:srgbClr val="1F3864"/>
            </a:solidFill>
            <a:prstDash val="solid"/>
          </a:ln>
        </p:spPr>
      </p:sp>
      <p:sp>
        <p:nvSpPr>
          <p:cNvPr id="31" name="Text 29"/>
          <p:cNvSpPr/>
          <p:nvPr/>
        </p:nvSpPr>
        <p:spPr>
          <a:xfrm>
            <a:off x="274320" y="4160520"/>
            <a:ext cx="2286000" cy="347472"/>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AlmacenDonJose</a:t>
            </a:r>
            <a:endParaRPr lang="en-US" sz="950" dirty="0"/>
          </a:p>
        </p:txBody>
      </p:sp>
      <p:sp>
        <p:nvSpPr>
          <p:cNvPr id="32" name="Text 30"/>
          <p:cNvSpPr/>
          <p:nvPr/>
        </p:nvSpPr>
        <p:spPr>
          <a:xfrm>
            <a:off x="274320" y="4416552"/>
            <a:ext cx="2286000" cy="228600"/>
          </a:xfrm>
          <a:prstGeom prst="rect">
            <a:avLst/>
          </a:prstGeom>
          <a:noFill/>
          <a:ln/>
        </p:spPr>
        <p:txBody>
          <a:bodyPr wrap="square" rtlCol="0" anchor="ctr"/>
          <a:lstStyle/>
          <a:p>
            <a:pPr indent="0" marL="0">
              <a:buNone/>
            </a:pPr>
            <a:r>
              <a:rPr lang="en-US" sz="800" i="1" dirty="0">
                <a:solidFill>
                  <a:srgbClr val="DDEECC"/>
                </a:solidFill>
                <a:latin typeface="Calibri" pitchFamily="34" charset="0"/>
                <a:ea typeface="Calibri" pitchFamily="34" charset="-122"/>
                <a:cs typeface="Calibri" pitchFamily="34" charset="-120"/>
              </a:rPr>
              <a:t>Client</a:t>
            </a:r>
            <a:endParaRPr lang="en-US" sz="800" dirty="0"/>
          </a:p>
        </p:txBody>
      </p:sp>
      <p:sp>
        <p:nvSpPr>
          <p:cNvPr id="33" name="Shape 31"/>
          <p:cNvSpPr/>
          <p:nvPr/>
        </p:nvSpPr>
        <p:spPr>
          <a:xfrm>
            <a:off x="2606040" y="4160520"/>
            <a:ext cx="6309360" cy="621792"/>
          </a:xfrm>
          <a:prstGeom prst="rect">
            <a:avLst/>
          </a:prstGeom>
          <a:solidFill>
            <a:srgbClr val="FFFFFF"/>
          </a:solidFill>
          <a:ln w="12700">
            <a:solidFill>
              <a:srgbClr val="E2E8F0"/>
            </a:solidFill>
            <a:prstDash val="solid"/>
          </a:ln>
        </p:spPr>
      </p:sp>
      <p:sp>
        <p:nvSpPr>
          <p:cNvPr id="34" name="Text 32"/>
          <p:cNvSpPr/>
          <p:nvPr/>
        </p:nvSpPr>
        <p:spPr>
          <a:xfrm>
            <a:off x="2697480" y="4160520"/>
            <a:ext cx="6126480" cy="621792"/>
          </a:xfrm>
          <a:prstGeom prst="rect">
            <a:avLst/>
          </a:prstGeom>
          <a:noFill/>
          <a:ln/>
        </p:spPr>
        <p:txBody>
          <a:bodyPr wrap="square"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Recibe FabricaRopaBoyacense y llama crearRuana() / crearPantalon()</a:t>
            </a:r>
            <a:endParaRPr lang="en-US" sz="1000" dirty="0"/>
          </a:p>
        </p:txBody>
      </p:sp>
      <p:sp>
        <p:nvSpPr>
          <p:cNvPr id="35" name="Shape 33"/>
          <p:cNvSpPr/>
          <p:nvPr/>
        </p:nvSpPr>
        <p:spPr>
          <a:xfrm>
            <a:off x="0" y="4846320"/>
            <a:ext cx="9144000" cy="297180"/>
          </a:xfrm>
          <a:prstGeom prst="rect">
            <a:avLst/>
          </a:prstGeom>
          <a:solidFill>
            <a:srgbClr val="1F3864"/>
          </a:solidFill>
          <a:ln w="12700">
            <a:solidFill>
              <a:srgbClr val="1F3864"/>
            </a:solidFill>
            <a:prstDash val="solid"/>
          </a:ln>
        </p:spPr>
      </p:sp>
      <p:sp>
        <p:nvSpPr>
          <p:cNvPr id="36" name="Text 34"/>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37" name="Text 35"/>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15/32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D8200"/>
          </a:solidFill>
          <a:ln w="12700">
            <a:solidFill>
              <a:srgbClr val="2D8200"/>
            </a:solidFill>
            <a:prstDash val="solid"/>
          </a:ln>
        </p:spPr>
      </p:sp>
      <p:sp>
        <p:nvSpPr>
          <p:cNvPr id="3" name="Text 1"/>
          <p:cNvSpPr/>
          <p:nvPr/>
        </p:nvSpPr>
        <p:spPr>
          <a:xfrm>
            <a:off x="274320" y="164592"/>
            <a:ext cx="8229600" cy="457200"/>
          </a:xfrm>
          <a:prstGeom prst="rect">
            <a:avLst/>
          </a:prstGeom>
          <a:noFill/>
          <a:ln/>
        </p:spPr>
        <p:txBody>
          <a:bodyPr wrap="square" rtlCol="0" anchor="ctr"/>
          <a:lstStyle/>
          <a:p>
            <a:pPr indent="0" marL="0">
              <a:buNone/>
            </a:pPr>
            <a:r>
              <a:rPr lang="en-US" sz="2000" b="1" dirty="0">
                <a:solidFill>
                  <a:srgbClr val="FFFFFF"/>
                </a:solidFill>
                <a:latin typeface="Calibri Black" pitchFamily="34" charset="0"/>
                <a:ea typeface="Calibri Black" pitchFamily="34" charset="-122"/>
                <a:cs typeface="Calibri Black" pitchFamily="34" charset="-120"/>
              </a:rPr>
              <a:t>Abstract Factory — Código y Resumen</a:t>
            </a:r>
            <a:endParaRPr lang="en-US" sz="2000" dirty="0"/>
          </a:p>
        </p:txBody>
      </p:sp>
      <p:sp>
        <p:nvSpPr>
          <p:cNvPr id="4" name="Shape 2"/>
          <p:cNvSpPr/>
          <p:nvPr/>
        </p:nvSpPr>
        <p:spPr>
          <a:xfrm>
            <a:off x="182880" y="713232"/>
            <a:ext cx="4343400" cy="2542032"/>
          </a:xfrm>
          <a:prstGeom prst="rect">
            <a:avLst/>
          </a:prstGeom>
          <a:solidFill>
            <a:srgbClr val="0F172A"/>
          </a:solidFill>
          <a:ln w="12700">
            <a:solidFill>
              <a:srgbClr val="334155"/>
            </a:solidFill>
            <a:prstDash val="solid"/>
          </a:ln>
          <a:effectLst>
            <a:outerShdw sx="100000" sy="100000" kx="0" ky="0" algn="bl" rotWithShape="0" blurRad="101600" dist="38100" dir="8100000">
              <a:srgbClr val="000000">
                <a:alpha val="15000"/>
              </a:srgbClr>
            </a:outerShdw>
          </a:effectLst>
        </p:spPr>
      </p:sp>
      <p:sp>
        <p:nvSpPr>
          <p:cNvPr id="5" name="Shape 3"/>
          <p:cNvSpPr/>
          <p:nvPr/>
        </p:nvSpPr>
        <p:spPr>
          <a:xfrm>
            <a:off x="182880" y="713232"/>
            <a:ext cx="4343400" cy="201168"/>
          </a:xfrm>
          <a:prstGeom prst="rect">
            <a:avLst/>
          </a:prstGeom>
          <a:solidFill>
            <a:srgbClr val="1E293B"/>
          </a:solidFill>
          <a:ln w="12700">
            <a:solidFill>
              <a:srgbClr val="334155"/>
            </a:solidFill>
            <a:prstDash val="solid"/>
          </a:ln>
        </p:spPr>
      </p:sp>
      <p:sp>
        <p:nvSpPr>
          <p:cNvPr id="6" name="Text 4"/>
          <p:cNvSpPr/>
          <p:nvPr/>
        </p:nvSpPr>
        <p:spPr>
          <a:xfrm>
            <a:off x="274320" y="722376"/>
            <a:ext cx="4160520" cy="182880"/>
          </a:xfrm>
          <a:prstGeom prst="rect">
            <a:avLst/>
          </a:prstGeom>
          <a:noFill/>
          <a:ln/>
        </p:spPr>
        <p:txBody>
          <a:bodyPr wrap="square"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Java  •  Almacén Don José</a:t>
            </a:r>
            <a:endParaRPr lang="en-US" sz="750" dirty="0"/>
          </a:p>
        </p:txBody>
      </p:sp>
      <p:sp>
        <p:nvSpPr>
          <p:cNvPr id="7" name="Text 5"/>
          <p:cNvSpPr/>
          <p:nvPr/>
        </p:nvSpPr>
        <p:spPr>
          <a:xfrm>
            <a:off x="274320" y="932688"/>
            <a:ext cx="4160520" cy="2267712"/>
          </a:xfrm>
          <a:prstGeom prst="rect">
            <a:avLst/>
          </a:prstGeom>
          <a:noFill/>
          <a:ln/>
        </p:spPr>
        <p:txBody>
          <a:bodyPr wrap="square" rtlCol="0" anchor="t"/>
          <a:lstStyle/>
          <a:p>
            <a:pPr indent="0" marL="0">
              <a:buNone/>
            </a:pPr>
            <a:r>
              <a:rPr lang="en-US" sz="850" dirty="0">
                <a:solidFill>
                  <a:srgbClr val="E2E8F0"/>
                </a:solidFill>
                <a:latin typeface="Consolas" pitchFamily="34" charset="0"/>
                <a:ea typeface="Consolas" pitchFamily="34" charset="-122"/>
                <a:cs typeface="Consolas" pitchFamily="34" charset="-120"/>
              </a:rPr>
              <a:t>// Fábrica abstracta</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public interface FabricaRopaBoyacense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Ruana    crearRuana();</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Pantalon crearPantalon();</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Fábrica concreta - Temporada Fría</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public class FabricaTemporadaFria implements FabricaRopaBoyacense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Ruana    crearRuana()    { return new RuanaLana();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Pantalon crearPantalon() { return new PantalonTermico();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a:t>
            </a:r>
            <a:endParaRPr lang="en-US" sz="850" dirty="0"/>
          </a:p>
        </p:txBody>
      </p:sp>
      <p:sp>
        <p:nvSpPr>
          <p:cNvPr id="8" name="Shape 6"/>
          <p:cNvSpPr/>
          <p:nvPr/>
        </p:nvSpPr>
        <p:spPr>
          <a:xfrm>
            <a:off x="4617720" y="713232"/>
            <a:ext cx="4343400" cy="2542032"/>
          </a:xfrm>
          <a:prstGeom prst="rect">
            <a:avLst/>
          </a:prstGeom>
          <a:solidFill>
            <a:srgbClr val="0F172A"/>
          </a:solidFill>
          <a:ln w="12700">
            <a:solidFill>
              <a:srgbClr val="334155"/>
            </a:solidFill>
            <a:prstDash val="solid"/>
          </a:ln>
          <a:effectLst>
            <a:outerShdw sx="100000" sy="100000" kx="0" ky="0" algn="bl" rotWithShape="0" blurRad="101600" dist="38100" dir="8100000">
              <a:srgbClr val="000000">
                <a:alpha val="15000"/>
              </a:srgbClr>
            </a:outerShdw>
          </a:effectLst>
        </p:spPr>
      </p:sp>
      <p:sp>
        <p:nvSpPr>
          <p:cNvPr id="9" name="Shape 7"/>
          <p:cNvSpPr/>
          <p:nvPr/>
        </p:nvSpPr>
        <p:spPr>
          <a:xfrm>
            <a:off x="4617720" y="713232"/>
            <a:ext cx="4343400" cy="201168"/>
          </a:xfrm>
          <a:prstGeom prst="rect">
            <a:avLst/>
          </a:prstGeom>
          <a:solidFill>
            <a:srgbClr val="1E293B"/>
          </a:solidFill>
          <a:ln w="12700">
            <a:solidFill>
              <a:srgbClr val="334155"/>
            </a:solidFill>
            <a:prstDash val="solid"/>
          </a:ln>
        </p:spPr>
      </p:sp>
      <p:sp>
        <p:nvSpPr>
          <p:cNvPr id="10" name="Text 8"/>
          <p:cNvSpPr/>
          <p:nvPr/>
        </p:nvSpPr>
        <p:spPr>
          <a:xfrm>
            <a:off x="4709160" y="722376"/>
            <a:ext cx="4160520" cy="182880"/>
          </a:xfrm>
          <a:prstGeom prst="rect">
            <a:avLst/>
          </a:prstGeom>
          <a:noFill/>
          <a:ln/>
        </p:spPr>
        <p:txBody>
          <a:bodyPr wrap="square"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Java  •  Almacén Don José</a:t>
            </a:r>
            <a:endParaRPr lang="en-US" sz="750" dirty="0"/>
          </a:p>
        </p:txBody>
      </p:sp>
      <p:sp>
        <p:nvSpPr>
          <p:cNvPr id="11" name="Text 9"/>
          <p:cNvSpPr/>
          <p:nvPr/>
        </p:nvSpPr>
        <p:spPr>
          <a:xfrm>
            <a:off x="4709160" y="932688"/>
            <a:ext cx="4160520" cy="2267712"/>
          </a:xfrm>
          <a:prstGeom prst="rect">
            <a:avLst/>
          </a:prstGeom>
          <a:noFill/>
          <a:ln/>
        </p:spPr>
        <p:txBody>
          <a:bodyPr wrap="square" rtlCol="0" anchor="t"/>
          <a:lstStyle/>
          <a:p>
            <a:pPr indent="0" marL="0">
              <a:buNone/>
            </a:pPr>
            <a:r>
              <a:rPr lang="en-US" sz="850" dirty="0">
                <a:solidFill>
                  <a:srgbClr val="E2E8F0"/>
                </a:solidFill>
                <a:latin typeface="Consolas" pitchFamily="34" charset="0"/>
                <a:ea typeface="Consolas" pitchFamily="34" charset="-122"/>
                <a:cs typeface="Consolas" pitchFamily="34" charset="-120"/>
              </a:rPr>
              <a:t>// Cliente: Almacén Don José</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public class AlmacenDonJose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private FabricaRopaBoyacense fabrica;</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AlmacenDonJose(FabricaRopaBoyacense f)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this.fabrica = f;</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void mostrarColeccion()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Ruana r    = fabrica.crearRuana();</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Pantalon p = fabrica.crearPantalon();</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r.mostrar(); p.mostrar();</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a:t>
            </a:r>
            <a:endParaRPr lang="en-US" sz="850" dirty="0"/>
          </a:p>
        </p:txBody>
      </p:sp>
      <p:sp>
        <p:nvSpPr>
          <p:cNvPr id="12" name="Shape 10"/>
          <p:cNvSpPr/>
          <p:nvPr/>
        </p:nvSpPr>
        <p:spPr>
          <a:xfrm>
            <a:off x="182880" y="3337560"/>
            <a:ext cx="8778240" cy="1280160"/>
          </a:xfrm>
          <a:prstGeom prst="rect">
            <a:avLst/>
          </a:prstGeom>
          <a:solidFill>
            <a:srgbClr val="0D2535"/>
          </a:solidFill>
          <a:ln w="12700">
            <a:solidFill>
              <a:srgbClr val="39A900"/>
            </a:solidFill>
            <a:prstDash val="solid"/>
          </a:ln>
        </p:spPr>
      </p:sp>
      <p:sp>
        <p:nvSpPr>
          <p:cNvPr id="13" name="Text 11"/>
          <p:cNvSpPr/>
          <p:nvPr/>
        </p:nvSpPr>
        <p:spPr>
          <a:xfrm>
            <a:off x="320040" y="3383280"/>
            <a:ext cx="1188720" cy="347472"/>
          </a:xfrm>
          <a:prstGeom prst="rect">
            <a:avLst/>
          </a:prstGeom>
          <a:noFill/>
          <a:ln/>
        </p:spPr>
        <p:txBody>
          <a:bodyPr wrap="square" rtlCol="0" anchor="ctr"/>
          <a:lstStyle/>
          <a:p>
            <a:pPr indent="0" marL="0">
              <a:buNone/>
            </a:pPr>
            <a:r>
              <a:rPr lang="en-US" sz="1200" b="1" dirty="0">
                <a:solidFill>
                  <a:srgbClr val="39A900"/>
                </a:solidFill>
                <a:latin typeface="Calibri" pitchFamily="34" charset="0"/>
                <a:ea typeface="Calibri" pitchFamily="34" charset="-122"/>
                <a:cs typeface="Calibri" pitchFamily="34" charset="-120"/>
              </a:rPr>
              <a:t>Resumen:</a:t>
            </a:r>
            <a:endParaRPr lang="en-US" sz="1200" dirty="0"/>
          </a:p>
        </p:txBody>
      </p:sp>
      <p:sp>
        <p:nvSpPr>
          <p:cNvPr id="14" name="Text 12"/>
          <p:cNvSpPr/>
          <p:nvPr/>
        </p:nvSpPr>
        <p:spPr>
          <a:xfrm>
            <a:off x="320040" y="3383280"/>
            <a:ext cx="8503920" cy="1143000"/>
          </a:xfrm>
          <a:prstGeom prst="rect">
            <a:avLst/>
          </a:prstGeom>
          <a:noFill/>
          <a:ln/>
        </p:spPr>
        <p:txBody>
          <a:bodyPr wrap="square" rtlCol="0" anchor="ctr"/>
          <a:lstStyle/>
          <a:p>
            <a:pPr indent="0" marL="0">
              <a:buNone/>
            </a:pPr>
            <a:r>
              <a:rPr lang="en-US" sz="1050" i="1" dirty="0">
                <a:solidFill>
                  <a:srgbClr val="AABBCC"/>
                </a:solidFill>
                <a:latin typeface="Calibri" pitchFamily="34" charset="0"/>
                <a:ea typeface="Calibri" pitchFamily="34" charset="-122"/>
                <a:cs typeface="Calibri" pitchFamily="34" charset="-120"/>
              </a:rPr>
              <a:t>"Como tener proveedores especializados por temporada. Cuando llega el invierno boyacense, el almacén activa su proveedor de temporada fría y todo el inventario es coherente. Cambiar de temporada = cambiar de fábrica, sin modificar el cliente."</a:t>
            </a:r>
            <a:endParaRPr lang="en-US" sz="1050" dirty="0"/>
          </a:p>
        </p:txBody>
      </p:sp>
      <p:sp>
        <p:nvSpPr>
          <p:cNvPr id="15" name="Shape 13"/>
          <p:cNvSpPr/>
          <p:nvPr/>
        </p:nvSpPr>
        <p:spPr>
          <a:xfrm>
            <a:off x="0" y="4846320"/>
            <a:ext cx="9144000" cy="297180"/>
          </a:xfrm>
          <a:prstGeom prst="rect">
            <a:avLst/>
          </a:prstGeom>
          <a:solidFill>
            <a:srgbClr val="1F3864"/>
          </a:solidFill>
          <a:ln w="12700">
            <a:solidFill>
              <a:srgbClr val="1F3864"/>
            </a:solidFill>
            <a:prstDash val="solid"/>
          </a:ln>
        </p:spPr>
      </p:sp>
      <p:sp>
        <p:nvSpPr>
          <p:cNvPr id="16" name="Text 14"/>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17" name="Text 15"/>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16/32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0030"/>
        </a:solidFill>
      </p:bgPr>
    </p:bg>
    <p:spTree>
      <p:nvGrpSpPr>
        <p:cNvPr id="1" name=""/>
        <p:cNvGrpSpPr/>
        <p:nvPr/>
      </p:nvGrpSpPr>
      <p:grpSpPr>
        <a:xfrm>
          <a:off x="0" y="0"/>
          <a:ext cx="0" cy="0"/>
          <a:chOff x="0" y="0"/>
          <a:chExt cx="0" cy="0"/>
        </a:xfrm>
      </p:grpSpPr>
      <p:sp>
        <p:nvSpPr>
          <p:cNvPr id="2" name="Shape 0"/>
          <p:cNvSpPr/>
          <p:nvPr/>
        </p:nvSpPr>
        <p:spPr>
          <a:xfrm>
            <a:off x="6583680" y="-457200"/>
            <a:ext cx="3200400" cy="6400800"/>
          </a:xfrm>
          <a:prstGeom prst="rect">
            <a:avLst/>
          </a:prstGeom>
          <a:solidFill>
            <a:srgbClr val="39A900">
              <a:alpha val="15000"/>
            </a:srgbClr>
          </a:solidFill>
          <a:ln w="12700">
            <a:solidFill>
              <a:srgbClr val="39A900"/>
            </a:solidFill>
            <a:prstDash val="solid"/>
          </a:ln>
        </p:spPr>
      </p:sp>
      <p:sp>
        <p:nvSpPr>
          <p:cNvPr id="3" name="Shape 1"/>
          <p:cNvSpPr/>
          <p:nvPr/>
        </p:nvSpPr>
        <p:spPr>
          <a:xfrm>
            <a:off x="7772400" y="-457200"/>
            <a:ext cx="1828800" cy="6400800"/>
          </a:xfrm>
          <a:prstGeom prst="rect">
            <a:avLst/>
          </a:prstGeom>
          <a:solidFill>
            <a:srgbClr val="39A900">
              <a:alpha val="30000"/>
            </a:srgbClr>
          </a:solidFill>
          <a:ln w="12700">
            <a:solidFill>
              <a:srgbClr val="39A900"/>
            </a:solidFill>
            <a:prstDash val="solid"/>
          </a:ln>
        </p:spPr>
      </p:sp>
      <p:sp>
        <p:nvSpPr>
          <p:cNvPr id="4" name="Shape 2"/>
          <p:cNvSpPr/>
          <p:nvPr/>
        </p:nvSpPr>
        <p:spPr>
          <a:xfrm>
            <a:off x="457200" y="822960"/>
            <a:ext cx="2194560" cy="347472"/>
          </a:xfrm>
          <a:prstGeom prst="roundRect">
            <a:avLst>
              <a:gd name="adj" fmla="val 26316"/>
            </a:avLst>
          </a:prstGeom>
          <a:solidFill>
            <a:srgbClr val="39A900"/>
          </a:solidFill>
          <a:ln w="12700">
            <a:solidFill>
              <a:srgbClr val="39A900"/>
            </a:solidFill>
            <a:prstDash val="solid"/>
          </a:ln>
        </p:spPr>
      </p:sp>
      <p:sp>
        <p:nvSpPr>
          <p:cNvPr id="5" name="Text 3"/>
          <p:cNvSpPr/>
          <p:nvPr/>
        </p:nvSpPr>
        <p:spPr>
          <a:xfrm>
            <a:off x="457200" y="822960"/>
            <a:ext cx="219456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PATRÓN CREACIONAL</a:t>
            </a:r>
            <a:endParaRPr lang="en-US" sz="1000" dirty="0"/>
          </a:p>
        </p:txBody>
      </p:sp>
      <p:sp>
        <p:nvSpPr>
          <p:cNvPr id="6" name="Text 4"/>
          <p:cNvSpPr/>
          <p:nvPr/>
        </p:nvSpPr>
        <p:spPr>
          <a:xfrm>
            <a:off x="457200" y="1280160"/>
            <a:ext cx="7315200" cy="1280160"/>
          </a:xfrm>
          <a:prstGeom prst="rect">
            <a:avLst/>
          </a:prstGeom>
          <a:noFill/>
          <a:ln/>
        </p:spPr>
        <p:txBody>
          <a:bodyPr wrap="square" rtlCol="0" anchor="ctr"/>
          <a:lstStyle/>
          <a:p>
            <a:pPr indent="0" marL="0">
              <a:buNone/>
            </a:pPr>
            <a:r>
              <a:rPr lang="en-US" sz="4400" b="1" dirty="0">
                <a:solidFill>
                  <a:srgbClr val="FFFFFF"/>
                </a:solidFill>
                <a:latin typeface="Calibri Black" pitchFamily="34" charset="0"/>
                <a:ea typeface="Calibri Black" pitchFamily="34" charset="-122"/>
                <a:cs typeface="Calibri Black" pitchFamily="34" charset="-120"/>
              </a:rPr>
              <a:t>Builder</a:t>
            </a:r>
            <a:endParaRPr lang="en-US" sz="4400" dirty="0"/>
          </a:p>
        </p:txBody>
      </p:sp>
      <p:sp>
        <p:nvSpPr>
          <p:cNvPr id="7" name="Text 5"/>
          <p:cNvSpPr/>
          <p:nvPr/>
        </p:nvSpPr>
        <p:spPr>
          <a:xfrm>
            <a:off x="457200" y="2606040"/>
            <a:ext cx="6400800" cy="822960"/>
          </a:xfrm>
          <a:prstGeom prst="rect">
            <a:avLst/>
          </a:prstGeom>
          <a:noFill/>
          <a:ln/>
        </p:spPr>
        <p:txBody>
          <a:bodyPr wrap="square" rtlCol="0" anchor="ctr"/>
          <a:lstStyle/>
          <a:p>
            <a:pPr indent="0" marL="0">
              <a:buNone/>
            </a:pPr>
            <a:r>
              <a:rPr lang="en-US" sz="1600" i="1" dirty="0">
                <a:solidFill>
                  <a:srgbClr val="AABBCC"/>
                </a:solidFill>
                <a:latin typeface="Calibri" pitchFamily="34" charset="0"/>
                <a:ea typeface="Calibri" pitchFamily="34" charset="-122"/>
                <a:cs typeface="Calibri" pitchFamily="34" charset="-120"/>
              </a:rPr>
              <a:t>Construye objetos complejos paso a paso separando el proceso de</a:t>
            </a:r>
            <a:endParaRPr lang="en-US" sz="1600" dirty="0"/>
          </a:p>
          <a:p>
            <a:pPr indent="0" marL="0">
              <a:buNone/>
            </a:pPr>
            <a:r>
              <a:rPr lang="en-US" sz="1600" i="1" dirty="0">
                <a:solidFill>
                  <a:srgbClr val="AABBCC"/>
                </a:solidFill>
                <a:latin typeface="Calibri" pitchFamily="34" charset="0"/>
                <a:ea typeface="Calibri" pitchFamily="34" charset="-122"/>
                <a:cs typeface="Calibri" pitchFamily="34" charset="-120"/>
              </a:rPr>
              <a:t>construcción de la representación final.</a:t>
            </a:r>
            <a:endParaRPr lang="en-US" sz="1600" dirty="0"/>
          </a:p>
        </p:txBody>
      </p:sp>
      <p:sp>
        <p:nvSpPr>
          <p:cNvPr id="8" name="Shape 6"/>
          <p:cNvSpPr/>
          <p:nvPr/>
        </p:nvSpPr>
        <p:spPr>
          <a:xfrm>
            <a:off x="457200" y="3493008"/>
            <a:ext cx="5943600" cy="0"/>
          </a:xfrm>
          <a:prstGeom prst="line">
            <a:avLst/>
          </a:prstGeom>
          <a:noFill/>
          <a:ln w="25400">
            <a:solidFill>
              <a:srgbClr val="39A900"/>
            </a:solidFill>
            <a:prstDash val="solid"/>
          </a:ln>
        </p:spPr>
      </p:sp>
      <p:sp>
        <p:nvSpPr>
          <p:cNvPr id="9" name="Text 7"/>
          <p:cNvSpPr/>
          <p:nvPr/>
        </p:nvSpPr>
        <p:spPr>
          <a:xfrm>
            <a:off x="457200" y="3639312"/>
            <a:ext cx="7315200" cy="320040"/>
          </a:xfrm>
          <a:prstGeom prst="rect">
            <a:avLst/>
          </a:prstGeom>
          <a:noFill/>
          <a:ln/>
        </p:spPr>
        <p:txBody>
          <a:bodyPr wrap="square" rtlCol="0" anchor="ctr"/>
          <a:lstStyle/>
          <a:p>
            <a:pPr indent="0" marL="0">
              <a:buNone/>
            </a:pPr>
            <a:r>
              <a:rPr lang="en-US" sz="1200" dirty="0">
                <a:solidFill>
                  <a:srgbClr val="7A9CC0"/>
                </a:solidFill>
                <a:latin typeface="Calibri" pitchFamily="34" charset="0"/>
                <a:ea typeface="Calibri" pitchFamily="34" charset="-122"/>
                <a:cs typeface="Calibri" pitchFamily="34" charset="-120"/>
              </a:rPr>
              <a:t>Almacén Don José de Chiquinquirá  •  Boyacá, Colombia</a:t>
            </a:r>
            <a:endParaRPr lang="en-US" sz="1200" dirty="0"/>
          </a:p>
        </p:txBody>
      </p:sp>
      <p:sp>
        <p:nvSpPr>
          <p:cNvPr id="10" name="Shape 8"/>
          <p:cNvSpPr/>
          <p:nvPr/>
        </p:nvSpPr>
        <p:spPr>
          <a:xfrm>
            <a:off x="0" y="4846320"/>
            <a:ext cx="9144000" cy="297180"/>
          </a:xfrm>
          <a:prstGeom prst="rect">
            <a:avLst/>
          </a:prstGeom>
          <a:solidFill>
            <a:srgbClr val="1F3864"/>
          </a:solidFill>
          <a:ln w="12700">
            <a:solidFill>
              <a:srgbClr val="1F3864"/>
            </a:solidFill>
            <a:prstDash val="solid"/>
          </a:ln>
        </p:spPr>
      </p:sp>
      <p:sp>
        <p:nvSpPr>
          <p:cNvPr id="11" name="Text 9"/>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12" name="Text 10"/>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17/32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7B2D8B"/>
          </a:solidFill>
          <a:ln w="12700">
            <a:solidFill>
              <a:srgbClr val="7B2D8B"/>
            </a:solidFill>
            <a:prstDash val="solid"/>
          </a:ln>
        </p:spPr>
      </p:sp>
      <p:sp>
        <p:nvSpPr>
          <p:cNvPr id="3" name="Shape 1"/>
          <p:cNvSpPr/>
          <p:nvPr/>
        </p:nvSpPr>
        <p:spPr>
          <a:xfrm>
            <a:off x="0" y="109728"/>
            <a:ext cx="73152" cy="5033772"/>
          </a:xfrm>
          <a:prstGeom prst="rect">
            <a:avLst/>
          </a:prstGeom>
          <a:solidFill>
            <a:srgbClr val="7B2D8B"/>
          </a:solidFill>
          <a:ln w="12700">
            <a:solidFill>
              <a:srgbClr val="7B2D8B"/>
            </a:solidFill>
            <a:prstDash val="solid"/>
          </a:ln>
        </p:spPr>
      </p:sp>
      <p:sp>
        <p:nvSpPr>
          <p:cNvPr id="4" name="Text 2"/>
          <p:cNvSpPr/>
          <p:nvPr/>
        </p:nvSpPr>
        <p:spPr>
          <a:xfrm>
            <a:off x="274320" y="182880"/>
            <a:ext cx="8595360" cy="530352"/>
          </a:xfrm>
          <a:prstGeom prst="rect">
            <a:avLst/>
          </a:prstGeom>
          <a:noFill/>
          <a:ln/>
        </p:spPr>
        <p:txBody>
          <a:bodyPr wrap="square" rtlCol="0" anchor="ctr"/>
          <a:lstStyle/>
          <a:p>
            <a:pPr indent="0" marL="0">
              <a:buNone/>
            </a:pPr>
            <a:r>
              <a:rPr lang="en-US" sz="2200" b="1" dirty="0">
                <a:solidFill>
                  <a:srgbClr val="1F3864"/>
                </a:solidFill>
                <a:latin typeface="Calibri Black" pitchFamily="34" charset="0"/>
                <a:ea typeface="Calibri Black" pitchFamily="34" charset="-122"/>
                <a:cs typeface="Calibri Black" pitchFamily="34" charset="-120"/>
              </a:rPr>
              <a:t>Builder — Definición y Problema</a:t>
            </a:r>
            <a:endParaRPr lang="en-US" sz="2200" dirty="0"/>
          </a:p>
        </p:txBody>
      </p:sp>
      <p:sp>
        <p:nvSpPr>
          <p:cNvPr id="5" name="Shape 3"/>
          <p:cNvSpPr/>
          <p:nvPr/>
        </p:nvSpPr>
        <p:spPr>
          <a:xfrm>
            <a:off x="228600" y="822960"/>
            <a:ext cx="4206240" cy="157276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6" name="Shape 4"/>
          <p:cNvSpPr/>
          <p:nvPr/>
        </p:nvSpPr>
        <p:spPr>
          <a:xfrm>
            <a:off x="228600" y="822960"/>
            <a:ext cx="64008" cy="1572768"/>
          </a:xfrm>
          <a:prstGeom prst="rect">
            <a:avLst/>
          </a:prstGeom>
          <a:solidFill>
            <a:srgbClr val="7B2D8B"/>
          </a:solidFill>
          <a:ln w="12700">
            <a:solidFill>
              <a:srgbClr val="7B2D8B"/>
            </a:solidFill>
            <a:prstDash val="solid"/>
          </a:ln>
        </p:spPr>
      </p:sp>
      <p:sp>
        <p:nvSpPr>
          <p:cNvPr id="7" name="Text 5"/>
          <p:cNvSpPr/>
          <p:nvPr/>
        </p:nvSpPr>
        <p:spPr>
          <a:xfrm>
            <a:off x="365760" y="914400"/>
            <a:ext cx="402336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¿Qué es el Builder?</a:t>
            </a:r>
            <a:endParaRPr lang="en-US" sz="1100" dirty="0"/>
          </a:p>
        </p:txBody>
      </p:sp>
      <p:sp>
        <p:nvSpPr>
          <p:cNvPr id="8" name="Text 6"/>
          <p:cNvSpPr/>
          <p:nvPr/>
        </p:nvSpPr>
        <p:spPr>
          <a:xfrm>
            <a:off x="365760" y="1152144"/>
            <a:ext cx="4023360" cy="1170432"/>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Patrón que separa la construcción de un objeto complejo de su representación. Una clase interna Builder provee métodos encadenados (fluent interface) para configurar cada atributo. Solo se llama build() al final.</a:t>
            </a:r>
            <a:endParaRPr lang="en-US" sz="1000" dirty="0"/>
          </a:p>
        </p:txBody>
      </p:sp>
      <p:sp>
        <p:nvSpPr>
          <p:cNvPr id="9" name="Shape 7"/>
          <p:cNvSpPr/>
          <p:nvPr/>
        </p:nvSpPr>
        <p:spPr>
          <a:xfrm>
            <a:off x="228600" y="2468880"/>
            <a:ext cx="4206240" cy="1865376"/>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0" name="Shape 8"/>
          <p:cNvSpPr/>
          <p:nvPr/>
        </p:nvSpPr>
        <p:spPr>
          <a:xfrm>
            <a:off x="228600" y="2468880"/>
            <a:ext cx="64008" cy="1865376"/>
          </a:xfrm>
          <a:prstGeom prst="rect">
            <a:avLst/>
          </a:prstGeom>
          <a:solidFill>
            <a:srgbClr val="DC2626"/>
          </a:solidFill>
          <a:ln w="12700">
            <a:solidFill>
              <a:srgbClr val="DC2626"/>
            </a:solidFill>
            <a:prstDash val="solid"/>
          </a:ln>
        </p:spPr>
      </p:sp>
      <p:sp>
        <p:nvSpPr>
          <p:cNvPr id="11" name="Text 9"/>
          <p:cNvSpPr/>
          <p:nvPr/>
        </p:nvSpPr>
        <p:spPr>
          <a:xfrm>
            <a:off x="365760" y="2560320"/>
            <a:ext cx="402336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El Anti-patrón que evita</a:t>
            </a:r>
            <a:endParaRPr lang="en-US" sz="1100" dirty="0"/>
          </a:p>
        </p:txBody>
      </p:sp>
      <p:sp>
        <p:nvSpPr>
          <p:cNvPr id="12" name="Text 10"/>
          <p:cNvSpPr/>
          <p:nvPr/>
        </p:nvSpPr>
        <p:spPr>
          <a:xfrm>
            <a:off x="365760" y="2798064"/>
            <a:ext cx="4023360" cy="1463040"/>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Constructor telescópico: new PedidoRopa("Maria","Ruana","M","Cafe",true,"Regalo",0.1,"Nequi")</a:t>
            </a:r>
            <a:endParaRPr lang="en-US" sz="1000" dirty="0"/>
          </a:p>
          <a:p>
            <a:pPr indent="0" marL="0">
              <a:buNone/>
            </a:pP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¿Qué es el 6° parámetro? ¿El orden importa? Con Builder: .cliente("Maria").color("Cafe").conDomicilio()</a:t>
            </a:r>
            <a:endParaRPr lang="en-US" sz="1000" dirty="0"/>
          </a:p>
        </p:txBody>
      </p:sp>
      <p:sp>
        <p:nvSpPr>
          <p:cNvPr id="13" name="Shape 11"/>
          <p:cNvSpPr/>
          <p:nvPr/>
        </p:nvSpPr>
        <p:spPr>
          <a:xfrm>
            <a:off x="4617720" y="822960"/>
            <a:ext cx="4297680" cy="3511296"/>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4" name="Text 12"/>
          <p:cNvSpPr/>
          <p:nvPr/>
        </p:nvSpPr>
        <p:spPr>
          <a:xfrm>
            <a:off x="4709160" y="868680"/>
            <a:ext cx="4114800" cy="320040"/>
          </a:xfrm>
          <a:prstGeom prst="rect">
            <a:avLst/>
          </a:prstGeom>
          <a:noFill/>
          <a:ln/>
        </p:spPr>
        <p:txBody>
          <a:bodyPr wrap="square"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PedidoRopa en el Almacén</a:t>
            </a:r>
            <a:endParaRPr lang="en-US" sz="1200" dirty="0"/>
          </a:p>
        </p:txBody>
      </p:sp>
      <p:sp>
        <p:nvSpPr>
          <p:cNvPr id="15" name="Shape 13"/>
          <p:cNvSpPr/>
          <p:nvPr/>
        </p:nvSpPr>
        <p:spPr>
          <a:xfrm>
            <a:off x="4709160" y="1261872"/>
            <a:ext cx="4069080" cy="347472"/>
          </a:xfrm>
          <a:prstGeom prst="rect">
            <a:avLst/>
          </a:prstGeom>
          <a:solidFill>
            <a:srgbClr val="F4F6F8"/>
          </a:solidFill>
          <a:ln w="12700">
            <a:solidFill>
              <a:srgbClr val="E2E8F0"/>
            </a:solidFill>
            <a:prstDash val="solid"/>
          </a:ln>
        </p:spPr>
      </p:sp>
      <p:sp>
        <p:nvSpPr>
          <p:cNvPr id="16" name="Text 14"/>
          <p:cNvSpPr/>
          <p:nvPr/>
        </p:nvSpPr>
        <p:spPr>
          <a:xfrm>
            <a:off x="4773168" y="1261872"/>
            <a:ext cx="1371600" cy="347472"/>
          </a:xfrm>
          <a:prstGeom prst="rect">
            <a:avLst/>
          </a:prstGeom>
          <a:noFill/>
          <a:ln/>
        </p:spPr>
        <p:txBody>
          <a:bodyPr wrap="square" rtlCol="0" anchor="ctr"/>
          <a:lstStyle/>
          <a:p>
            <a:pPr indent="0" marL="0">
              <a:buNone/>
            </a:pPr>
            <a:r>
              <a:rPr lang="en-US" sz="950" b="1" dirty="0">
                <a:solidFill>
                  <a:srgbClr val="1F3864"/>
                </a:solidFill>
                <a:latin typeface="Consolas" pitchFamily="34" charset="0"/>
                <a:ea typeface="Consolas" pitchFamily="34" charset="-122"/>
                <a:cs typeface="Consolas" pitchFamily="34" charset="-120"/>
              </a:rPr>
              <a:t>cliente</a:t>
            </a:r>
            <a:endParaRPr lang="en-US" sz="950" dirty="0"/>
          </a:p>
        </p:txBody>
      </p:sp>
      <p:sp>
        <p:nvSpPr>
          <p:cNvPr id="17" name="Text 15"/>
          <p:cNvSpPr/>
          <p:nvPr/>
        </p:nvSpPr>
        <p:spPr>
          <a:xfrm>
            <a:off x="6172200" y="1261872"/>
            <a:ext cx="1371600" cy="347472"/>
          </a:xfrm>
          <a:prstGeom prst="rect">
            <a:avLst/>
          </a:prstGeom>
          <a:noFill/>
          <a:ln/>
        </p:spPr>
        <p:txBody>
          <a:bodyPr wrap="square" rtlCol="0" anchor="ctr"/>
          <a:lstStyle/>
          <a:p>
            <a:pPr indent="0" marL="0">
              <a:buNone/>
            </a:pPr>
            <a:r>
              <a:rPr lang="en-US" sz="850" dirty="0">
                <a:solidFill>
                  <a:srgbClr val="2D8200"/>
                </a:solidFill>
                <a:latin typeface="Calibri" pitchFamily="34" charset="0"/>
                <a:ea typeface="Calibri" pitchFamily="34" charset="-122"/>
                <a:cs typeface="Calibri" pitchFamily="34" charset="-120"/>
              </a:rPr>
              <a:t>✅ Obligatorio</a:t>
            </a:r>
            <a:endParaRPr lang="en-US" sz="850" dirty="0"/>
          </a:p>
        </p:txBody>
      </p:sp>
      <p:sp>
        <p:nvSpPr>
          <p:cNvPr id="18" name="Text 16"/>
          <p:cNvSpPr/>
          <p:nvPr/>
        </p:nvSpPr>
        <p:spPr>
          <a:xfrm>
            <a:off x="7589520" y="1261872"/>
            <a:ext cx="1188720" cy="347472"/>
          </a:xfrm>
          <a:prstGeom prst="rect">
            <a:avLst/>
          </a:prstGeom>
          <a:noFill/>
          <a:ln/>
        </p:spPr>
        <p:txBody>
          <a:bodyPr wrap="square" rtlCol="0" anchor="ctr"/>
          <a:lstStyle/>
          <a:p>
            <a:pPr indent="0" marL="0">
              <a:buNone/>
            </a:pPr>
            <a:r>
              <a:rPr lang="en-US" sz="850" dirty="0">
                <a:solidFill>
                  <a:srgbClr val="7B2D8B"/>
                </a:solidFill>
                <a:latin typeface="Consolas" pitchFamily="34" charset="0"/>
                <a:ea typeface="Consolas" pitchFamily="34" charset="-122"/>
                <a:cs typeface="Consolas" pitchFamily="34" charset="-120"/>
              </a:rPr>
              <a:t>"Maria Páez"</a:t>
            </a:r>
            <a:endParaRPr lang="en-US" sz="850" dirty="0"/>
          </a:p>
        </p:txBody>
      </p:sp>
      <p:sp>
        <p:nvSpPr>
          <p:cNvPr id="19" name="Shape 17"/>
          <p:cNvSpPr/>
          <p:nvPr/>
        </p:nvSpPr>
        <p:spPr>
          <a:xfrm>
            <a:off x="4709160" y="1645920"/>
            <a:ext cx="4069080" cy="347472"/>
          </a:xfrm>
          <a:prstGeom prst="rect">
            <a:avLst/>
          </a:prstGeom>
          <a:solidFill>
            <a:srgbClr val="FFFFFF"/>
          </a:solidFill>
          <a:ln w="12700">
            <a:solidFill>
              <a:srgbClr val="E2E8F0"/>
            </a:solidFill>
            <a:prstDash val="solid"/>
          </a:ln>
        </p:spPr>
      </p:sp>
      <p:sp>
        <p:nvSpPr>
          <p:cNvPr id="20" name="Text 18"/>
          <p:cNvSpPr/>
          <p:nvPr/>
        </p:nvSpPr>
        <p:spPr>
          <a:xfrm>
            <a:off x="4773168" y="1645920"/>
            <a:ext cx="1371600" cy="347472"/>
          </a:xfrm>
          <a:prstGeom prst="rect">
            <a:avLst/>
          </a:prstGeom>
          <a:noFill/>
          <a:ln/>
        </p:spPr>
        <p:txBody>
          <a:bodyPr wrap="square" rtlCol="0" anchor="ctr"/>
          <a:lstStyle/>
          <a:p>
            <a:pPr indent="0" marL="0">
              <a:buNone/>
            </a:pPr>
            <a:r>
              <a:rPr lang="en-US" sz="950" b="1" dirty="0">
                <a:solidFill>
                  <a:srgbClr val="1F3864"/>
                </a:solidFill>
                <a:latin typeface="Consolas" pitchFamily="34" charset="0"/>
                <a:ea typeface="Consolas" pitchFamily="34" charset="-122"/>
                <a:cs typeface="Consolas" pitchFamily="34" charset="-120"/>
              </a:rPr>
              <a:t>prenda</a:t>
            </a:r>
            <a:endParaRPr lang="en-US" sz="950" dirty="0"/>
          </a:p>
        </p:txBody>
      </p:sp>
      <p:sp>
        <p:nvSpPr>
          <p:cNvPr id="21" name="Text 19"/>
          <p:cNvSpPr/>
          <p:nvPr/>
        </p:nvSpPr>
        <p:spPr>
          <a:xfrm>
            <a:off x="6172200" y="1645920"/>
            <a:ext cx="1371600" cy="347472"/>
          </a:xfrm>
          <a:prstGeom prst="rect">
            <a:avLst/>
          </a:prstGeom>
          <a:noFill/>
          <a:ln/>
        </p:spPr>
        <p:txBody>
          <a:bodyPr wrap="square" rtlCol="0" anchor="ctr"/>
          <a:lstStyle/>
          <a:p>
            <a:pPr indent="0" marL="0">
              <a:buNone/>
            </a:pPr>
            <a:r>
              <a:rPr lang="en-US" sz="850" dirty="0">
                <a:solidFill>
                  <a:srgbClr val="2D8200"/>
                </a:solidFill>
                <a:latin typeface="Calibri" pitchFamily="34" charset="0"/>
                <a:ea typeface="Calibri" pitchFamily="34" charset="-122"/>
                <a:cs typeface="Calibri" pitchFamily="34" charset="-120"/>
              </a:rPr>
              <a:t>✅ Obligatorio</a:t>
            </a:r>
            <a:endParaRPr lang="en-US" sz="850" dirty="0"/>
          </a:p>
        </p:txBody>
      </p:sp>
      <p:sp>
        <p:nvSpPr>
          <p:cNvPr id="22" name="Text 20"/>
          <p:cNvSpPr/>
          <p:nvPr/>
        </p:nvSpPr>
        <p:spPr>
          <a:xfrm>
            <a:off x="7589520" y="1645920"/>
            <a:ext cx="1188720" cy="347472"/>
          </a:xfrm>
          <a:prstGeom prst="rect">
            <a:avLst/>
          </a:prstGeom>
          <a:noFill/>
          <a:ln/>
        </p:spPr>
        <p:txBody>
          <a:bodyPr wrap="square" rtlCol="0" anchor="ctr"/>
          <a:lstStyle/>
          <a:p>
            <a:pPr indent="0" marL="0">
              <a:buNone/>
            </a:pPr>
            <a:r>
              <a:rPr lang="en-US" sz="850" dirty="0">
                <a:solidFill>
                  <a:srgbClr val="7B2D8B"/>
                </a:solidFill>
                <a:latin typeface="Consolas" pitchFamily="34" charset="0"/>
                <a:ea typeface="Consolas" pitchFamily="34" charset="-122"/>
                <a:cs typeface="Consolas" pitchFamily="34" charset="-120"/>
              </a:rPr>
              <a:t>"Ruana lana Nobsa"</a:t>
            </a:r>
            <a:endParaRPr lang="en-US" sz="850" dirty="0"/>
          </a:p>
        </p:txBody>
      </p:sp>
      <p:sp>
        <p:nvSpPr>
          <p:cNvPr id="23" name="Shape 21"/>
          <p:cNvSpPr/>
          <p:nvPr/>
        </p:nvSpPr>
        <p:spPr>
          <a:xfrm>
            <a:off x="4709160" y="2029968"/>
            <a:ext cx="4069080" cy="347472"/>
          </a:xfrm>
          <a:prstGeom prst="rect">
            <a:avLst/>
          </a:prstGeom>
          <a:solidFill>
            <a:srgbClr val="F4F6F8"/>
          </a:solidFill>
          <a:ln w="12700">
            <a:solidFill>
              <a:srgbClr val="E2E8F0"/>
            </a:solidFill>
            <a:prstDash val="solid"/>
          </a:ln>
        </p:spPr>
      </p:sp>
      <p:sp>
        <p:nvSpPr>
          <p:cNvPr id="24" name="Text 22"/>
          <p:cNvSpPr/>
          <p:nvPr/>
        </p:nvSpPr>
        <p:spPr>
          <a:xfrm>
            <a:off x="4773168" y="2029968"/>
            <a:ext cx="1371600" cy="347472"/>
          </a:xfrm>
          <a:prstGeom prst="rect">
            <a:avLst/>
          </a:prstGeom>
          <a:noFill/>
          <a:ln/>
        </p:spPr>
        <p:txBody>
          <a:bodyPr wrap="square" rtlCol="0" anchor="ctr"/>
          <a:lstStyle/>
          <a:p>
            <a:pPr indent="0" marL="0">
              <a:buNone/>
            </a:pPr>
            <a:r>
              <a:rPr lang="en-US" sz="950" b="1" dirty="0">
                <a:solidFill>
                  <a:srgbClr val="1F3864"/>
                </a:solidFill>
                <a:latin typeface="Consolas" pitchFamily="34" charset="0"/>
                <a:ea typeface="Consolas" pitchFamily="34" charset="-122"/>
                <a:cs typeface="Consolas" pitchFamily="34" charset="-120"/>
              </a:rPr>
              <a:t>talla</a:t>
            </a:r>
            <a:endParaRPr lang="en-US" sz="950" dirty="0"/>
          </a:p>
        </p:txBody>
      </p:sp>
      <p:sp>
        <p:nvSpPr>
          <p:cNvPr id="25" name="Text 23"/>
          <p:cNvSpPr/>
          <p:nvPr/>
        </p:nvSpPr>
        <p:spPr>
          <a:xfrm>
            <a:off x="6172200" y="2029968"/>
            <a:ext cx="1371600" cy="347472"/>
          </a:xfrm>
          <a:prstGeom prst="rect">
            <a:avLst/>
          </a:prstGeom>
          <a:noFill/>
          <a:ln/>
        </p:spPr>
        <p:txBody>
          <a:bodyPr wrap="square" rtlCol="0" anchor="ctr"/>
          <a:lstStyle/>
          <a:p>
            <a:pPr indent="0" marL="0">
              <a:buNone/>
            </a:pPr>
            <a:r>
              <a:rPr lang="en-US" sz="850" dirty="0">
                <a:solidFill>
                  <a:srgbClr val="2D8200"/>
                </a:solidFill>
                <a:latin typeface="Calibri" pitchFamily="34" charset="0"/>
                <a:ea typeface="Calibri" pitchFamily="34" charset="-122"/>
                <a:cs typeface="Calibri" pitchFamily="34" charset="-120"/>
              </a:rPr>
              <a:t>✅ Obligatorio</a:t>
            </a:r>
            <a:endParaRPr lang="en-US" sz="850" dirty="0"/>
          </a:p>
        </p:txBody>
      </p:sp>
      <p:sp>
        <p:nvSpPr>
          <p:cNvPr id="26" name="Text 24"/>
          <p:cNvSpPr/>
          <p:nvPr/>
        </p:nvSpPr>
        <p:spPr>
          <a:xfrm>
            <a:off x="7589520" y="2029968"/>
            <a:ext cx="1188720" cy="347472"/>
          </a:xfrm>
          <a:prstGeom prst="rect">
            <a:avLst/>
          </a:prstGeom>
          <a:noFill/>
          <a:ln/>
        </p:spPr>
        <p:txBody>
          <a:bodyPr wrap="square" rtlCol="0" anchor="ctr"/>
          <a:lstStyle/>
          <a:p>
            <a:pPr indent="0" marL="0">
              <a:buNone/>
            </a:pPr>
            <a:r>
              <a:rPr lang="en-US" sz="850" dirty="0">
                <a:solidFill>
                  <a:srgbClr val="7B2D8B"/>
                </a:solidFill>
                <a:latin typeface="Consolas" pitchFamily="34" charset="0"/>
                <a:ea typeface="Consolas" pitchFamily="34" charset="-122"/>
                <a:cs typeface="Consolas" pitchFamily="34" charset="-120"/>
              </a:rPr>
              <a:t>"M"</a:t>
            </a:r>
            <a:endParaRPr lang="en-US" sz="850" dirty="0"/>
          </a:p>
        </p:txBody>
      </p:sp>
      <p:sp>
        <p:nvSpPr>
          <p:cNvPr id="27" name="Shape 25"/>
          <p:cNvSpPr/>
          <p:nvPr/>
        </p:nvSpPr>
        <p:spPr>
          <a:xfrm>
            <a:off x="4709160" y="2414016"/>
            <a:ext cx="4069080" cy="347472"/>
          </a:xfrm>
          <a:prstGeom prst="rect">
            <a:avLst/>
          </a:prstGeom>
          <a:solidFill>
            <a:srgbClr val="FFFFFF"/>
          </a:solidFill>
          <a:ln w="12700">
            <a:solidFill>
              <a:srgbClr val="E2E8F0"/>
            </a:solidFill>
            <a:prstDash val="solid"/>
          </a:ln>
        </p:spPr>
      </p:sp>
      <p:sp>
        <p:nvSpPr>
          <p:cNvPr id="28" name="Text 26"/>
          <p:cNvSpPr/>
          <p:nvPr/>
        </p:nvSpPr>
        <p:spPr>
          <a:xfrm>
            <a:off x="4773168" y="2414016"/>
            <a:ext cx="1371600" cy="347472"/>
          </a:xfrm>
          <a:prstGeom prst="rect">
            <a:avLst/>
          </a:prstGeom>
          <a:noFill/>
          <a:ln/>
        </p:spPr>
        <p:txBody>
          <a:bodyPr wrap="square" rtlCol="0" anchor="ctr"/>
          <a:lstStyle/>
          <a:p>
            <a:pPr indent="0" marL="0">
              <a:buNone/>
            </a:pPr>
            <a:r>
              <a:rPr lang="en-US" sz="950" b="1" dirty="0">
                <a:solidFill>
                  <a:srgbClr val="1F3864"/>
                </a:solidFill>
                <a:latin typeface="Consolas" pitchFamily="34" charset="0"/>
                <a:ea typeface="Consolas" pitchFamily="34" charset="-122"/>
                <a:cs typeface="Consolas" pitchFamily="34" charset="-120"/>
              </a:rPr>
              <a:t>color</a:t>
            </a:r>
            <a:endParaRPr lang="en-US" sz="950" dirty="0"/>
          </a:p>
        </p:txBody>
      </p:sp>
      <p:sp>
        <p:nvSpPr>
          <p:cNvPr id="29" name="Text 27"/>
          <p:cNvSpPr/>
          <p:nvPr/>
        </p:nvSpPr>
        <p:spPr>
          <a:xfrm>
            <a:off x="6172200" y="2414016"/>
            <a:ext cx="1371600" cy="347472"/>
          </a:xfrm>
          <a:prstGeom prst="rect">
            <a:avLst/>
          </a:prstGeom>
          <a:noFill/>
          <a:ln/>
        </p:spPr>
        <p:txBody>
          <a:bodyPr wrap="square" rtlCol="0" anchor="ctr"/>
          <a:lstStyle/>
          <a:p>
            <a:pPr indent="0" marL="0">
              <a:buNone/>
            </a:pPr>
            <a:r>
              <a:rPr lang="en-US" sz="850" dirty="0">
                <a:solidFill>
                  <a:srgbClr val="2D8200"/>
                </a:solidFill>
                <a:latin typeface="Calibri" pitchFamily="34" charset="0"/>
                <a:ea typeface="Calibri" pitchFamily="34" charset="-122"/>
                <a:cs typeface="Calibri" pitchFamily="34" charset="-120"/>
              </a:rPr>
              <a:t>✅ Obligatorio</a:t>
            </a:r>
            <a:endParaRPr lang="en-US" sz="850" dirty="0"/>
          </a:p>
        </p:txBody>
      </p:sp>
      <p:sp>
        <p:nvSpPr>
          <p:cNvPr id="30" name="Text 28"/>
          <p:cNvSpPr/>
          <p:nvPr/>
        </p:nvSpPr>
        <p:spPr>
          <a:xfrm>
            <a:off x="7589520" y="2414016"/>
            <a:ext cx="1188720" cy="347472"/>
          </a:xfrm>
          <a:prstGeom prst="rect">
            <a:avLst/>
          </a:prstGeom>
          <a:noFill/>
          <a:ln/>
        </p:spPr>
        <p:txBody>
          <a:bodyPr wrap="square" rtlCol="0" anchor="ctr"/>
          <a:lstStyle/>
          <a:p>
            <a:pPr indent="0" marL="0">
              <a:buNone/>
            </a:pPr>
            <a:r>
              <a:rPr lang="en-US" sz="850" dirty="0">
                <a:solidFill>
                  <a:srgbClr val="7B2D8B"/>
                </a:solidFill>
                <a:latin typeface="Consolas" pitchFamily="34" charset="0"/>
                <a:ea typeface="Consolas" pitchFamily="34" charset="-122"/>
                <a:cs typeface="Consolas" pitchFamily="34" charset="-120"/>
              </a:rPr>
              <a:t>"Café"</a:t>
            </a:r>
            <a:endParaRPr lang="en-US" sz="850" dirty="0"/>
          </a:p>
        </p:txBody>
      </p:sp>
      <p:sp>
        <p:nvSpPr>
          <p:cNvPr id="31" name="Shape 29"/>
          <p:cNvSpPr/>
          <p:nvPr/>
        </p:nvSpPr>
        <p:spPr>
          <a:xfrm>
            <a:off x="4709160" y="2798064"/>
            <a:ext cx="4069080" cy="347472"/>
          </a:xfrm>
          <a:prstGeom prst="rect">
            <a:avLst/>
          </a:prstGeom>
          <a:solidFill>
            <a:srgbClr val="F4F6F8"/>
          </a:solidFill>
          <a:ln w="12700">
            <a:solidFill>
              <a:srgbClr val="E2E8F0"/>
            </a:solidFill>
            <a:prstDash val="solid"/>
          </a:ln>
        </p:spPr>
      </p:sp>
      <p:sp>
        <p:nvSpPr>
          <p:cNvPr id="32" name="Text 30"/>
          <p:cNvSpPr/>
          <p:nvPr/>
        </p:nvSpPr>
        <p:spPr>
          <a:xfrm>
            <a:off x="4773168" y="2798064"/>
            <a:ext cx="1371600" cy="347472"/>
          </a:xfrm>
          <a:prstGeom prst="rect">
            <a:avLst/>
          </a:prstGeom>
          <a:noFill/>
          <a:ln/>
        </p:spPr>
        <p:txBody>
          <a:bodyPr wrap="square" rtlCol="0" anchor="ctr"/>
          <a:lstStyle/>
          <a:p>
            <a:pPr indent="0" marL="0">
              <a:buNone/>
            </a:pPr>
            <a:r>
              <a:rPr lang="en-US" sz="950" b="1" dirty="0">
                <a:solidFill>
                  <a:srgbClr val="1F3864"/>
                </a:solidFill>
                <a:latin typeface="Consolas" pitchFamily="34" charset="0"/>
                <a:ea typeface="Consolas" pitchFamily="34" charset="-122"/>
                <a:cs typeface="Consolas" pitchFamily="34" charset="-120"/>
              </a:rPr>
              <a:t>envíoDomicilio</a:t>
            </a:r>
            <a:endParaRPr lang="en-US" sz="950" dirty="0"/>
          </a:p>
        </p:txBody>
      </p:sp>
      <p:sp>
        <p:nvSpPr>
          <p:cNvPr id="33" name="Text 31"/>
          <p:cNvSpPr/>
          <p:nvPr/>
        </p:nvSpPr>
        <p:spPr>
          <a:xfrm>
            <a:off x="6172200" y="2798064"/>
            <a:ext cx="1371600" cy="347472"/>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 Opcional</a:t>
            </a:r>
            <a:endParaRPr lang="en-US" sz="850" dirty="0"/>
          </a:p>
        </p:txBody>
      </p:sp>
      <p:sp>
        <p:nvSpPr>
          <p:cNvPr id="34" name="Text 32"/>
          <p:cNvSpPr/>
          <p:nvPr/>
        </p:nvSpPr>
        <p:spPr>
          <a:xfrm>
            <a:off x="7589520" y="2798064"/>
            <a:ext cx="1188720" cy="347472"/>
          </a:xfrm>
          <a:prstGeom prst="rect">
            <a:avLst/>
          </a:prstGeom>
          <a:noFill/>
          <a:ln/>
        </p:spPr>
        <p:txBody>
          <a:bodyPr wrap="square" rtlCol="0" anchor="ctr"/>
          <a:lstStyle/>
          <a:p>
            <a:pPr indent="0" marL="0">
              <a:buNone/>
            </a:pPr>
            <a:r>
              <a:rPr lang="en-US" sz="850" dirty="0">
                <a:solidFill>
                  <a:srgbClr val="7B2D8B"/>
                </a:solidFill>
                <a:latin typeface="Consolas" pitchFamily="34" charset="0"/>
                <a:ea typeface="Consolas" pitchFamily="34" charset="-122"/>
                <a:cs typeface="Consolas" pitchFamily="34" charset="-120"/>
              </a:rPr>
              <a:t>false</a:t>
            </a:r>
            <a:endParaRPr lang="en-US" sz="850" dirty="0"/>
          </a:p>
        </p:txBody>
      </p:sp>
      <p:sp>
        <p:nvSpPr>
          <p:cNvPr id="35" name="Shape 33"/>
          <p:cNvSpPr/>
          <p:nvPr/>
        </p:nvSpPr>
        <p:spPr>
          <a:xfrm>
            <a:off x="4709160" y="3182112"/>
            <a:ext cx="4069080" cy="347472"/>
          </a:xfrm>
          <a:prstGeom prst="rect">
            <a:avLst/>
          </a:prstGeom>
          <a:solidFill>
            <a:srgbClr val="FFFFFF"/>
          </a:solidFill>
          <a:ln w="12700">
            <a:solidFill>
              <a:srgbClr val="E2E8F0"/>
            </a:solidFill>
            <a:prstDash val="solid"/>
          </a:ln>
        </p:spPr>
      </p:sp>
      <p:sp>
        <p:nvSpPr>
          <p:cNvPr id="36" name="Text 34"/>
          <p:cNvSpPr/>
          <p:nvPr/>
        </p:nvSpPr>
        <p:spPr>
          <a:xfrm>
            <a:off x="4773168" y="3182112"/>
            <a:ext cx="1371600" cy="347472"/>
          </a:xfrm>
          <a:prstGeom prst="rect">
            <a:avLst/>
          </a:prstGeom>
          <a:noFill/>
          <a:ln/>
        </p:spPr>
        <p:txBody>
          <a:bodyPr wrap="square" rtlCol="0" anchor="ctr"/>
          <a:lstStyle/>
          <a:p>
            <a:pPr indent="0" marL="0">
              <a:buNone/>
            </a:pPr>
            <a:r>
              <a:rPr lang="en-US" sz="950" b="1" dirty="0">
                <a:solidFill>
                  <a:srgbClr val="1F3864"/>
                </a:solidFill>
                <a:latin typeface="Consolas" pitchFamily="34" charset="0"/>
                <a:ea typeface="Consolas" pitchFamily="34" charset="-122"/>
                <a:cs typeface="Consolas" pitchFamily="34" charset="-120"/>
              </a:rPr>
              <a:t>notaEspecial</a:t>
            </a:r>
            <a:endParaRPr lang="en-US" sz="950" dirty="0"/>
          </a:p>
        </p:txBody>
      </p:sp>
      <p:sp>
        <p:nvSpPr>
          <p:cNvPr id="37" name="Text 35"/>
          <p:cNvSpPr/>
          <p:nvPr/>
        </p:nvSpPr>
        <p:spPr>
          <a:xfrm>
            <a:off x="6172200" y="3182112"/>
            <a:ext cx="1371600" cy="347472"/>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 Opcional</a:t>
            </a:r>
            <a:endParaRPr lang="en-US" sz="850" dirty="0"/>
          </a:p>
        </p:txBody>
      </p:sp>
      <p:sp>
        <p:nvSpPr>
          <p:cNvPr id="38" name="Text 36"/>
          <p:cNvSpPr/>
          <p:nvPr/>
        </p:nvSpPr>
        <p:spPr>
          <a:xfrm>
            <a:off x="7589520" y="3182112"/>
            <a:ext cx="1188720" cy="347472"/>
          </a:xfrm>
          <a:prstGeom prst="rect">
            <a:avLst/>
          </a:prstGeom>
          <a:noFill/>
          <a:ln/>
        </p:spPr>
        <p:txBody>
          <a:bodyPr wrap="square" rtlCol="0" anchor="ctr"/>
          <a:lstStyle/>
          <a:p>
            <a:pPr indent="0" marL="0">
              <a:buNone/>
            </a:pPr>
            <a:r>
              <a:rPr lang="en-US" sz="850" dirty="0">
                <a:solidFill>
                  <a:srgbClr val="7B2D8B"/>
                </a:solidFill>
                <a:latin typeface="Consolas" pitchFamily="34" charset="0"/>
                <a:ea typeface="Consolas" pitchFamily="34" charset="-122"/>
                <a:cs typeface="Consolas" pitchFamily="34" charset="-120"/>
              </a:rPr>
              <a:t>null</a:t>
            </a:r>
            <a:endParaRPr lang="en-US" sz="850" dirty="0"/>
          </a:p>
        </p:txBody>
      </p:sp>
      <p:sp>
        <p:nvSpPr>
          <p:cNvPr id="39" name="Shape 37"/>
          <p:cNvSpPr/>
          <p:nvPr/>
        </p:nvSpPr>
        <p:spPr>
          <a:xfrm>
            <a:off x="4709160" y="3566160"/>
            <a:ext cx="4069080" cy="347472"/>
          </a:xfrm>
          <a:prstGeom prst="rect">
            <a:avLst/>
          </a:prstGeom>
          <a:solidFill>
            <a:srgbClr val="F4F6F8"/>
          </a:solidFill>
          <a:ln w="12700">
            <a:solidFill>
              <a:srgbClr val="E2E8F0"/>
            </a:solidFill>
            <a:prstDash val="solid"/>
          </a:ln>
        </p:spPr>
      </p:sp>
      <p:sp>
        <p:nvSpPr>
          <p:cNvPr id="40" name="Text 38"/>
          <p:cNvSpPr/>
          <p:nvPr/>
        </p:nvSpPr>
        <p:spPr>
          <a:xfrm>
            <a:off x="4773168" y="3566160"/>
            <a:ext cx="1371600" cy="347472"/>
          </a:xfrm>
          <a:prstGeom prst="rect">
            <a:avLst/>
          </a:prstGeom>
          <a:noFill/>
          <a:ln/>
        </p:spPr>
        <p:txBody>
          <a:bodyPr wrap="square" rtlCol="0" anchor="ctr"/>
          <a:lstStyle/>
          <a:p>
            <a:pPr indent="0" marL="0">
              <a:buNone/>
            </a:pPr>
            <a:r>
              <a:rPr lang="en-US" sz="950" b="1" dirty="0">
                <a:solidFill>
                  <a:srgbClr val="1F3864"/>
                </a:solidFill>
                <a:latin typeface="Consolas" pitchFamily="34" charset="0"/>
                <a:ea typeface="Consolas" pitchFamily="34" charset="-122"/>
                <a:cs typeface="Consolas" pitchFamily="34" charset="-120"/>
              </a:rPr>
              <a:t>formaPago</a:t>
            </a:r>
            <a:endParaRPr lang="en-US" sz="950" dirty="0"/>
          </a:p>
        </p:txBody>
      </p:sp>
      <p:sp>
        <p:nvSpPr>
          <p:cNvPr id="41" name="Text 39"/>
          <p:cNvSpPr/>
          <p:nvPr/>
        </p:nvSpPr>
        <p:spPr>
          <a:xfrm>
            <a:off x="6172200" y="3566160"/>
            <a:ext cx="1371600" cy="347472"/>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 Opcional</a:t>
            </a:r>
            <a:endParaRPr lang="en-US" sz="850" dirty="0"/>
          </a:p>
        </p:txBody>
      </p:sp>
      <p:sp>
        <p:nvSpPr>
          <p:cNvPr id="42" name="Text 40"/>
          <p:cNvSpPr/>
          <p:nvPr/>
        </p:nvSpPr>
        <p:spPr>
          <a:xfrm>
            <a:off x="7589520" y="3566160"/>
            <a:ext cx="1188720" cy="347472"/>
          </a:xfrm>
          <a:prstGeom prst="rect">
            <a:avLst/>
          </a:prstGeom>
          <a:noFill/>
          <a:ln/>
        </p:spPr>
        <p:txBody>
          <a:bodyPr wrap="square" rtlCol="0" anchor="ctr"/>
          <a:lstStyle/>
          <a:p>
            <a:pPr indent="0" marL="0">
              <a:buNone/>
            </a:pPr>
            <a:r>
              <a:rPr lang="en-US" sz="850" dirty="0">
                <a:solidFill>
                  <a:srgbClr val="7B2D8B"/>
                </a:solidFill>
                <a:latin typeface="Consolas" pitchFamily="34" charset="0"/>
                <a:ea typeface="Consolas" pitchFamily="34" charset="-122"/>
                <a:cs typeface="Consolas" pitchFamily="34" charset="-120"/>
              </a:rPr>
              <a:t>"Efectivo"</a:t>
            </a:r>
            <a:endParaRPr lang="en-US" sz="850" dirty="0"/>
          </a:p>
        </p:txBody>
      </p:sp>
      <p:sp>
        <p:nvSpPr>
          <p:cNvPr id="43" name="Shape 41"/>
          <p:cNvSpPr/>
          <p:nvPr/>
        </p:nvSpPr>
        <p:spPr>
          <a:xfrm>
            <a:off x="4709160" y="3950208"/>
            <a:ext cx="4069080" cy="347472"/>
          </a:xfrm>
          <a:prstGeom prst="rect">
            <a:avLst/>
          </a:prstGeom>
          <a:solidFill>
            <a:srgbClr val="FFFFFF"/>
          </a:solidFill>
          <a:ln w="12700">
            <a:solidFill>
              <a:srgbClr val="E2E8F0"/>
            </a:solidFill>
            <a:prstDash val="solid"/>
          </a:ln>
        </p:spPr>
      </p:sp>
      <p:sp>
        <p:nvSpPr>
          <p:cNvPr id="44" name="Text 42"/>
          <p:cNvSpPr/>
          <p:nvPr/>
        </p:nvSpPr>
        <p:spPr>
          <a:xfrm>
            <a:off x="4773168" y="3950208"/>
            <a:ext cx="1371600" cy="347472"/>
          </a:xfrm>
          <a:prstGeom prst="rect">
            <a:avLst/>
          </a:prstGeom>
          <a:noFill/>
          <a:ln/>
        </p:spPr>
        <p:txBody>
          <a:bodyPr wrap="square" rtlCol="0" anchor="ctr"/>
          <a:lstStyle/>
          <a:p>
            <a:pPr indent="0" marL="0">
              <a:buNone/>
            </a:pPr>
            <a:r>
              <a:rPr lang="en-US" sz="950" b="1" dirty="0">
                <a:solidFill>
                  <a:srgbClr val="1F3864"/>
                </a:solidFill>
                <a:latin typeface="Consolas" pitchFamily="34" charset="0"/>
                <a:ea typeface="Consolas" pitchFamily="34" charset="-122"/>
                <a:cs typeface="Consolas" pitchFamily="34" charset="-120"/>
              </a:rPr>
              <a:t>descuento</a:t>
            </a:r>
            <a:endParaRPr lang="en-US" sz="950" dirty="0"/>
          </a:p>
        </p:txBody>
      </p:sp>
      <p:sp>
        <p:nvSpPr>
          <p:cNvPr id="45" name="Text 43"/>
          <p:cNvSpPr/>
          <p:nvPr/>
        </p:nvSpPr>
        <p:spPr>
          <a:xfrm>
            <a:off x="6172200" y="3950208"/>
            <a:ext cx="1371600" cy="347472"/>
          </a:xfrm>
          <a:prstGeom prst="rect">
            <a:avLst/>
          </a:prstGeom>
          <a:noFill/>
          <a:ln/>
        </p:spPr>
        <p:txBody>
          <a:bodyPr wrap="square" rtlCol="0" anchor="ctr"/>
          <a:lstStyle/>
          <a:p>
            <a:pPr indent="0" marL="0">
              <a:buNone/>
            </a:pPr>
            <a:r>
              <a:rPr lang="en-US" sz="850" dirty="0">
                <a:solidFill>
                  <a:srgbClr val="64748B"/>
                </a:solidFill>
                <a:latin typeface="Calibri" pitchFamily="34" charset="0"/>
                <a:ea typeface="Calibri" pitchFamily="34" charset="-122"/>
                <a:cs typeface="Calibri" pitchFamily="34" charset="-120"/>
              </a:rPr>
              <a:t>⚙️ Opcional</a:t>
            </a:r>
            <a:endParaRPr lang="en-US" sz="850" dirty="0"/>
          </a:p>
        </p:txBody>
      </p:sp>
      <p:sp>
        <p:nvSpPr>
          <p:cNvPr id="46" name="Text 44"/>
          <p:cNvSpPr/>
          <p:nvPr/>
        </p:nvSpPr>
        <p:spPr>
          <a:xfrm>
            <a:off x="7589520" y="3950208"/>
            <a:ext cx="1188720" cy="347472"/>
          </a:xfrm>
          <a:prstGeom prst="rect">
            <a:avLst/>
          </a:prstGeom>
          <a:noFill/>
          <a:ln/>
        </p:spPr>
        <p:txBody>
          <a:bodyPr wrap="square" rtlCol="0" anchor="ctr"/>
          <a:lstStyle/>
          <a:p>
            <a:pPr indent="0" marL="0">
              <a:buNone/>
            </a:pPr>
            <a:r>
              <a:rPr lang="en-US" sz="850" dirty="0">
                <a:solidFill>
                  <a:srgbClr val="7B2D8B"/>
                </a:solidFill>
                <a:latin typeface="Consolas" pitchFamily="34" charset="0"/>
                <a:ea typeface="Consolas" pitchFamily="34" charset="-122"/>
                <a:cs typeface="Consolas" pitchFamily="34" charset="-120"/>
              </a:rPr>
              <a:t>0.0</a:t>
            </a:r>
            <a:endParaRPr lang="en-US" sz="850" dirty="0"/>
          </a:p>
        </p:txBody>
      </p:sp>
      <p:sp>
        <p:nvSpPr>
          <p:cNvPr id="47" name="Shape 45"/>
          <p:cNvSpPr/>
          <p:nvPr/>
        </p:nvSpPr>
        <p:spPr>
          <a:xfrm>
            <a:off x="0" y="4846320"/>
            <a:ext cx="9144000" cy="297180"/>
          </a:xfrm>
          <a:prstGeom prst="rect">
            <a:avLst/>
          </a:prstGeom>
          <a:solidFill>
            <a:srgbClr val="1F3864"/>
          </a:solidFill>
          <a:ln w="12700">
            <a:solidFill>
              <a:srgbClr val="1F3864"/>
            </a:solidFill>
            <a:prstDash val="solid"/>
          </a:ln>
        </p:spPr>
      </p:sp>
      <p:sp>
        <p:nvSpPr>
          <p:cNvPr id="48" name="Text 46"/>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49" name="Text 47"/>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18/32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7B2D8B"/>
          </a:solidFill>
          <a:ln w="12700">
            <a:solidFill>
              <a:srgbClr val="7B2D8B"/>
            </a:solidFill>
            <a:prstDash val="solid"/>
          </a:ln>
        </p:spPr>
      </p:sp>
      <p:sp>
        <p:nvSpPr>
          <p:cNvPr id="3" name="Shape 1"/>
          <p:cNvSpPr/>
          <p:nvPr/>
        </p:nvSpPr>
        <p:spPr>
          <a:xfrm>
            <a:off x="0" y="109728"/>
            <a:ext cx="73152" cy="5033772"/>
          </a:xfrm>
          <a:prstGeom prst="rect">
            <a:avLst/>
          </a:prstGeom>
          <a:solidFill>
            <a:srgbClr val="7B2D8B"/>
          </a:solidFill>
          <a:ln w="12700">
            <a:solidFill>
              <a:srgbClr val="7B2D8B"/>
            </a:solidFill>
            <a:prstDash val="solid"/>
          </a:ln>
        </p:spPr>
      </p:sp>
      <p:sp>
        <p:nvSpPr>
          <p:cNvPr id="4" name="Text 2"/>
          <p:cNvSpPr/>
          <p:nvPr/>
        </p:nvSpPr>
        <p:spPr>
          <a:xfrm>
            <a:off x="274320" y="182880"/>
            <a:ext cx="8595360" cy="530352"/>
          </a:xfrm>
          <a:prstGeom prst="rect">
            <a:avLst/>
          </a:prstGeom>
          <a:noFill/>
          <a:ln/>
        </p:spPr>
        <p:txBody>
          <a:bodyPr wrap="square" rtlCol="0" anchor="ctr"/>
          <a:lstStyle/>
          <a:p>
            <a:pPr indent="0" marL="0">
              <a:buNone/>
            </a:pPr>
            <a:r>
              <a:rPr lang="en-US" sz="2200" b="1" dirty="0">
                <a:solidFill>
                  <a:srgbClr val="1F3864"/>
                </a:solidFill>
                <a:latin typeface="Calibri Black" pitchFamily="34" charset="0"/>
                <a:ea typeface="Calibri Black" pitchFamily="34" charset="-122"/>
                <a:cs typeface="Calibri Black" pitchFamily="34" charset="-120"/>
              </a:rPr>
              <a:t>Builder — Solución y Flujo</a:t>
            </a:r>
            <a:endParaRPr lang="en-US" sz="2200" dirty="0"/>
          </a:p>
        </p:txBody>
      </p:sp>
      <p:sp>
        <p:nvSpPr>
          <p:cNvPr id="5" name="Shape 3"/>
          <p:cNvSpPr/>
          <p:nvPr/>
        </p:nvSpPr>
        <p:spPr>
          <a:xfrm>
            <a:off x="228600" y="822960"/>
            <a:ext cx="457200" cy="685800"/>
          </a:xfrm>
          <a:prstGeom prst="rect">
            <a:avLst/>
          </a:prstGeom>
          <a:solidFill>
            <a:srgbClr val="7B2D8B"/>
          </a:solidFill>
          <a:ln w="12700">
            <a:solidFill>
              <a:srgbClr val="7B2D8B"/>
            </a:solidFill>
            <a:prstDash val="solid"/>
          </a:ln>
        </p:spPr>
      </p:sp>
      <p:sp>
        <p:nvSpPr>
          <p:cNvPr id="6" name="Text 4"/>
          <p:cNvSpPr/>
          <p:nvPr/>
        </p:nvSpPr>
        <p:spPr>
          <a:xfrm>
            <a:off x="228600" y="822960"/>
            <a:ext cx="457200" cy="685800"/>
          </a:xfrm>
          <a:prstGeom prst="rect">
            <a:avLst/>
          </a:prstGeom>
          <a:noFill/>
          <a:ln/>
        </p:spPr>
        <p:txBody>
          <a:bodyPr wrap="square" rtlCol="0" anchor="ctr"/>
          <a:lstStyle/>
          <a:p>
            <a:pPr algn="ctr" indent="0" marL="0">
              <a:buNone/>
            </a:pPr>
            <a:r>
              <a:rPr lang="en-US" sz="1800" b="1" dirty="0">
                <a:solidFill>
                  <a:srgbClr val="FFFFFF"/>
                </a:solidFill>
                <a:latin typeface="Calibri Black" pitchFamily="34" charset="0"/>
                <a:ea typeface="Calibri Black" pitchFamily="34" charset="-122"/>
                <a:cs typeface="Calibri Black" pitchFamily="34" charset="-120"/>
              </a:rPr>
              <a:t>1</a:t>
            </a:r>
            <a:endParaRPr lang="en-US" sz="1800" dirty="0"/>
          </a:p>
        </p:txBody>
      </p:sp>
      <p:sp>
        <p:nvSpPr>
          <p:cNvPr id="7" name="Shape 5"/>
          <p:cNvSpPr/>
          <p:nvPr/>
        </p:nvSpPr>
        <p:spPr>
          <a:xfrm>
            <a:off x="685800" y="822960"/>
            <a:ext cx="3703320" cy="685800"/>
          </a:xfrm>
          <a:prstGeom prst="rect">
            <a:avLst/>
          </a:prstGeom>
          <a:solidFill>
            <a:srgbClr val="FFFFFF"/>
          </a:solidFill>
          <a:ln w="12700">
            <a:solidFill>
              <a:srgbClr val="E2E8F0"/>
            </a:solidFill>
            <a:prstDash val="solid"/>
          </a:ln>
        </p:spPr>
      </p:sp>
      <p:sp>
        <p:nvSpPr>
          <p:cNvPr id="8" name="Text 6"/>
          <p:cNvSpPr/>
          <p:nvPr/>
        </p:nvSpPr>
        <p:spPr>
          <a:xfrm>
            <a:off x="777240" y="822960"/>
            <a:ext cx="3520440" cy="320040"/>
          </a:xfrm>
          <a:prstGeom prst="rect">
            <a:avLst/>
          </a:prstGeom>
          <a:noFill/>
          <a:ln/>
        </p:spPr>
        <p:txBody>
          <a:bodyPr wrap="square"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Identificar el producto complejo</a:t>
            </a:r>
            <a:endParaRPr lang="en-US" sz="1200" dirty="0"/>
          </a:p>
        </p:txBody>
      </p:sp>
      <p:sp>
        <p:nvSpPr>
          <p:cNvPr id="9" name="Text 7"/>
          <p:cNvSpPr/>
          <p:nvPr/>
        </p:nvSpPr>
        <p:spPr>
          <a:xfrm>
            <a:off x="777240" y="1097280"/>
            <a:ext cx="3520440" cy="347472"/>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PedidoRopa con sus campos obligatorios y opcionales</a:t>
            </a:r>
            <a:endParaRPr lang="en-US" sz="1000" dirty="0"/>
          </a:p>
        </p:txBody>
      </p:sp>
      <p:sp>
        <p:nvSpPr>
          <p:cNvPr id="10" name="Shape 8"/>
          <p:cNvSpPr/>
          <p:nvPr/>
        </p:nvSpPr>
        <p:spPr>
          <a:xfrm>
            <a:off x="228600" y="1609344"/>
            <a:ext cx="457200" cy="685800"/>
          </a:xfrm>
          <a:prstGeom prst="rect">
            <a:avLst/>
          </a:prstGeom>
          <a:solidFill>
            <a:srgbClr val="7B2D8B"/>
          </a:solidFill>
          <a:ln w="12700">
            <a:solidFill>
              <a:srgbClr val="7B2D8B"/>
            </a:solidFill>
            <a:prstDash val="solid"/>
          </a:ln>
        </p:spPr>
      </p:sp>
      <p:sp>
        <p:nvSpPr>
          <p:cNvPr id="11" name="Text 9"/>
          <p:cNvSpPr/>
          <p:nvPr/>
        </p:nvSpPr>
        <p:spPr>
          <a:xfrm>
            <a:off x="228600" y="1609344"/>
            <a:ext cx="457200" cy="685800"/>
          </a:xfrm>
          <a:prstGeom prst="rect">
            <a:avLst/>
          </a:prstGeom>
          <a:noFill/>
          <a:ln/>
        </p:spPr>
        <p:txBody>
          <a:bodyPr wrap="square" rtlCol="0" anchor="ctr"/>
          <a:lstStyle/>
          <a:p>
            <a:pPr algn="ctr" indent="0" marL="0">
              <a:buNone/>
            </a:pPr>
            <a:r>
              <a:rPr lang="en-US" sz="1800" b="1" dirty="0">
                <a:solidFill>
                  <a:srgbClr val="FFFFFF"/>
                </a:solidFill>
                <a:latin typeface="Calibri Black" pitchFamily="34" charset="0"/>
                <a:ea typeface="Calibri Black" pitchFamily="34" charset="-122"/>
                <a:cs typeface="Calibri Black" pitchFamily="34" charset="-120"/>
              </a:rPr>
              <a:t>2</a:t>
            </a:r>
            <a:endParaRPr lang="en-US" sz="1800" dirty="0"/>
          </a:p>
        </p:txBody>
      </p:sp>
      <p:sp>
        <p:nvSpPr>
          <p:cNvPr id="12" name="Shape 10"/>
          <p:cNvSpPr/>
          <p:nvPr/>
        </p:nvSpPr>
        <p:spPr>
          <a:xfrm>
            <a:off x="685800" y="1609344"/>
            <a:ext cx="3703320" cy="685800"/>
          </a:xfrm>
          <a:prstGeom prst="rect">
            <a:avLst/>
          </a:prstGeom>
          <a:solidFill>
            <a:srgbClr val="FFFFFF"/>
          </a:solidFill>
          <a:ln w="12700">
            <a:solidFill>
              <a:srgbClr val="E2E8F0"/>
            </a:solidFill>
            <a:prstDash val="solid"/>
          </a:ln>
        </p:spPr>
      </p:sp>
      <p:sp>
        <p:nvSpPr>
          <p:cNvPr id="13" name="Text 11"/>
          <p:cNvSpPr/>
          <p:nvPr/>
        </p:nvSpPr>
        <p:spPr>
          <a:xfrm>
            <a:off x="777240" y="1609344"/>
            <a:ext cx="3520440" cy="320040"/>
          </a:xfrm>
          <a:prstGeom prst="rect">
            <a:avLst/>
          </a:prstGeom>
          <a:noFill/>
          <a:ln/>
        </p:spPr>
        <p:txBody>
          <a:bodyPr wrap="square"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Crear la clase interna Builder</a:t>
            </a:r>
            <a:endParaRPr lang="en-US" sz="1200" dirty="0"/>
          </a:p>
        </p:txBody>
      </p:sp>
      <p:sp>
        <p:nvSpPr>
          <p:cNvPr id="14" name="Text 12"/>
          <p:cNvSpPr/>
          <p:nvPr/>
        </p:nvSpPr>
        <p:spPr>
          <a:xfrm>
            <a:off x="777240" y="1883664"/>
            <a:ext cx="3520440" cy="347472"/>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static class Builder dentro de PedidoRopa</a:t>
            </a:r>
            <a:endParaRPr lang="en-US" sz="1000" dirty="0"/>
          </a:p>
        </p:txBody>
      </p:sp>
      <p:sp>
        <p:nvSpPr>
          <p:cNvPr id="15" name="Shape 13"/>
          <p:cNvSpPr/>
          <p:nvPr/>
        </p:nvSpPr>
        <p:spPr>
          <a:xfrm>
            <a:off x="228600" y="2395728"/>
            <a:ext cx="457200" cy="685800"/>
          </a:xfrm>
          <a:prstGeom prst="rect">
            <a:avLst/>
          </a:prstGeom>
          <a:solidFill>
            <a:srgbClr val="7B2D8B"/>
          </a:solidFill>
          <a:ln w="12700">
            <a:solidFill>
              <a:srgbClr val="7B2D8B"/>
            </a:solidFill>
            <a:prstDash val="solid"/>
          </a:ln>
        </p:spPr>
      </p:sp>
      <p:sp>
        <p:nvSpPr>
          <p:cNvPr id="16" name="Text 14"/>
          <p:cNvSpPr/>
          <p:nvPr/>
        </p:nvSpPr>
        <p:spPr>
          <a:xfrm>
            <a:off x="228600" y="2395728"/>
            <a:ext cx="457200" cy="685800"/>
          </a:xfrm>
          <a:prstGeom prst="rect">
            <a:avLst/>
          </a:prstGeom>
          <a:noFill/>
          <a:ln/>
        </p:spPr>
        <p:txBody>
          <a:bodyPr wrap="square" rtlCol="0" anchor="ctr"/>
          <a:lstStyle/>
          <a:p>
            <a:pPr algn="ctr" indent="0" marL="0">
              <a:buNone/>
            </a:pPr>
            <a:r>
              <a:rPr lang="en-US" sz="1800" b="1" dirty="0">
                <a:solidFill>
                  <a:srgbClr val="FFFFFF"/>
                </a:solidFill>
                <a:latin typeface="Calibri Black" pitchFamily="34" charset="0"/>
                <a:ea typeface="Calibri Black" pitchFamily="34" charset="-122"/>
                <a:cs typeface="Calibri Black" pitchFamily="34" charset="-120"/>
              </a:rPr>
              <a:t>3</a:t>
            </a:r>
            <a:endParaRPr lang="en-US" sz="1800" dirty="0"/>
          </a:p>
        </p:txBody>
      </p:sp>
      <p:sp>
        <p:nvSpPr>
          <p:cNvPr id="17" name="Shape 15"/>
          <p:cNvSpPr/>
          <p:nvPr/>
        </p:nvSpPr>
        <p:spPr>
          <a:xfrm>
            <a:off x="685800" y="2395728"/>
            <a:ext cx="3703320" cy="685800"/>
          </a:xfrm>
          <a:prstGeom prst="rect">
            <a:avLst/>
          </a:prstGeom>
          <a:solidFill>
            <a:srgbClr val="FFFFFF"/>
          </a:solidFill>
          <a:ln w="12700">
            <a:solidFill>
              <a:srgbClr val="E2E8F0"/>
            </a:solidFill>
            <a:prstDash val="solid"/>
          </a:ln>
        </p:spPr>
      </p:sp>
      <p:sp>
        <p:nvSpPr>
          <p:cNvPr id="18" name="Text 16"/>
          <p:cNvSpPr/>
          <p:nvPr/>
        </p:nvSpPr>
        <p:spPr>
          <a:xfrm>
            <a:off x="777240" y="2395728"/>
            <a:ext cx="3520440" cy="320040"/>
          </a:xfrm>
          <a:prstGeom prst="rect">
            <a:avLst/>
          </a:prstGeom>
          <a:noFill/>
          <a:ln/>
        </p:spPr>
        <p:txBody>
          <a:bodyPr wrap="square"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Métodos encadenados</a:t>
            </a:r>
            <a:endParaRPr lang="en-US" sz="1200" dirty="0"/>
          </a:p>
        </p:txBody>
      </p:sp>
      <p:sp>
        <p:nvSpPr>
          <p:cNvPr id="19" name="Text 17"/>
          <p:cNvSpPr/>
          <p:nvPr/>
        </p:nvSpPr>
        <p:spPr>
          <a:xfrm>
            <a:off x="777240" y="2670048"/>
            <a:ext cx="3520440" cy="347472"/>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cliente(), prenda(), conDomicilio() → todos retornan this</a:t>
            </a:r>
            <a:endParaRPr lang="en-US" sz="1000" dirty="0"/>
          </a:p>
        </p:txBody>
      </p:sp>
      <p:sp>
        <p:nvSpPr>
          <p:cNvPr id="20" name="Shape 18"/>
          <p:cNvSpPr/>
          <p:nvPr/>
        </p:nvSpPr>
        <p:spPr>
          <a:xfrm>
            <a:off x="228600" y="3182112"/>
            <a:ext cx="457200" cy="685800"/>
          </a:xfrm>
          <a:prstGeom prst="rect">
            <a:avLst/>
          </a:prstGeom>
          <a:solidFill>
            <a:srgbClr val="7B2D8B"/>
          </a:solidFill>
          <a:ln w="12700">
            <a:solidFill>
              <a:srgbClr val="7B2D8B"/>
            </a:solidFill>
            <a:prstDash val="solid"/>
          </a:ln>
        </p:spPr>
      </p:sp>
      <p:sp>
        <p:nvSpPr>
          <p:cNvPr id="21" name="Text 19"/>
          <p:cNvSpPr/>
          <p:nvPr/>
        </p:nvSpPr>
        <p:spPr>
          <a:xfrm>
            <a:off x="228600" y="3182112"/>
            <a:ext cx="457200" cy="685800"/>
          </a:xfrm>
          <a:prstGeom prst="rect">
            <a:avLst/>
          </a:prstGeom>
          <a:noFill/>
          <a:ln/>
        </p:spPr>
        <p:txBody>
          <a:bodyPr wrap="square" rtlCol="0" anchor="ctr"/>
          <a:lstStyle/>
          <a:p>
            <a:pPr algn="ctr" indent="0" marL="0">
              <a:buNone/>
            </a:pPr>
            <a:r>
              <a:rPr lang="en-US" sz="1800" b="1" dirty="0">
                <a:solidFill>
                  <a:srgbClr val="FFFFFF"/>
                </a:solidFill>
                <a:latin typeface="Calibri Black" pitchFamily="34" charset="0"/>
                <a:ea typeface="Calibri Black" pitchFamily="34" charset="-122"/>
                <a:cs typeface="Calibri Black" pitchFamily="34" charset="-120"/>
              </a:rPr>
              <a:t>4</a:t>
            </a:r>
            <a:endParaRPr lang="en-US" sz="1800" dirty="0"/>
          </a:p>
        </p:txBody>
      </p:sp>
      <p:sp>
        <p:nvSpPr>
          <p:cNvPr id="22" name="Shape 20"/>
          <p:cNvSpPr/>
          <p:nvPr/>
        </p:nvSpPr>
        <p:spPr>
          <a:xfrm>
            <a:off x="685800" y="3182112"/>
            <a:ext cx="3703320" cy="685800"/>
          </a:xfrm>
          <a:prstGeom prst="rect">
            <a:avLst/>
          </a:prstGeom>
          <a:solidFill>
            <a:srgbClr val="FFFFFF"/>
          </a:solidFill>
          <a:ln w="12700">
            <a:solidFill>
              <a:srgbClr val="E2E8F0"/>
            </a:solidFill>
            <a:prstDash val="solid"/>
          </a:ln>
        </p:spPr>
      </p:sp>
      <p:sp>
        <p:nvSpPr>
          <p:cNvPr id="23" name="Text 21"/>
          <p:cNvSpPr/>
          <p:nvPr/>
        </p:nvSpPr>
        <p:spPr>
          <a:xfrm>
            <a:off x="777240" y="3182112"/>
            <a:ext cx="3520440" cy="320040"/>
          </a:xfrm>
          <a:prstGeom prst="rect">
            <a:avLst/>
          </a:prstGeom>
          <a:noFill/>
          <a:ln/>
        </p:spPr>
        <p:txBody>
          <a:bodyPr wrap="square"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Constructor privado</a:t>
            </a:r>
            <a:endParaRPr lang="en-US" sz="1200" dirty="0"/>
          </a:p>
        </p:txBody>
      </p:sp>
      <p:sp>
        <p:nvSpPr>
          <p:cNvPr id="24" name="Text 22"/>
          <p:cNvSpPr/>
          <p:nvPr/>
        </p:nvSpPr>
        <p:spPr>
          <a:xfrm>
            <a:off x="777240" y="3456432"/>
            <a:ext cx="3520440" cy="347472"/>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Solo el Builder puede invocar new PedidoRopa(builder)</a:t>
            </a:r>
            <a:endParaRPr lang="en-US" sz="1000" dirty="0"/>
          </a:p>
        </p:txBody>
      </p:sp>
      <p:sp>
        <p:nvSpPr>
          <p:cNvPr id="25" name="Shape 23"/>
          <p:cNvSpPr/>
          <p:nvPr/>
        </p:nvSpPr>
        <p:spPr>
          <a:xfrm>
            <a:off x="228600" y="3968496"/>
            <a:ext cx="457200" cy="685800"/>
          </a:xfrm>
          <a:prstGeom prst="rect">
            <a:avLst/>
          </a:prstGeom>
          <a:solidFill>
            <a:srgbClr val="7B2D8B"/>
          </a:solidFill>
          <a:ln w="12700">
            <a:solidFill>
              <a:srgbClr val="7B2D8B"/>
            </a:solidFill>
            <a:prstDash val="solid"/>
          </a:ln>
        </p:spPr>
      </p:sp>
      <p:sp>
        <p:nvSpPr>
          <p:cNvPr id="26" name="Text 24"/>
          <p:cNvSpPr/>
          <p:nvPr/>
        </p:nvSpPr>
        <p:spPr>
          <a:xfrm>
            <a:off x="228600" y="3968496"/>
            <a:ext cx="457200" cy="685800"/>
          </a:xfrm>
          <a:prstGeom prst="rect">
            <a:avLst/>
          </a:prstGeom>
          <a:noFill/>
          <a:ln/>
        </p:spPr>
        <p:txBody>
          <a:bodyPr wrap="square" rtlCol="0" anchor="ctr"/>
          <a:lstStyle/>
          <a:p>
            <a:pPr algn="ctr" indent="0" marL="0">
              <a:buNone/>
            </a:pPr>
            <a:r>
              <a:rPr lang="en-US" sz="1800" b="1" dirty="0">
                <a:solidFill>
                  <a:srgbClr val="FFFFFF"/>
                </a:solidFill>
                <a:latin typeface="Calibri Black" pitchFamily="34" charset="0"/>
                <a:ea typeface="Calibri Black" pitchFamily="34" charset="-122"/>
                <a:cs typeface="Calibri Black" pitchFamily="34" charset="-120"/>
              </a:rPr>
              <a:t>5</a:t>
            </a:r>
            <a:endParaRPr lang="en-US" sz="1800" dirty="0"/>
          </a:p>
        </p:txBody>
      </p:sp>
      <p:sp>
        <p:nvSpPr>
          <p:cNvPr id="27" name="Shape 25"/>
          <p:cNvSpPr/>
          <p:nvPr/>
        </p:nvSpPr>
        <p:spPr>
          <a:xfrm>
            <a:off x="685800" y="3968496"/>
            <a:ext cx="3703320" cy="685800"/>
          </a:xfrm>
          <a:prstGeom prst="rect">
            <a:avLst/>
          </a:prstGeom>
          <a:solidFill>
            <a:srgbClr val="FFFFFF"/>
          </a:solidFill>
          <a:ln w="12700">
            <a:solidFill>
              <a:srgbClr val="E2E8F0"/>
            </a:solidFill>
            <a:prstDash val="solid"/>
          </a:ln>
        </p:spPr>
      </p:sp>
      <p:sp>
        <p:nvSpPr>
          <p:cNvPr id="28" name="Text 26"/>
          <p:cNvSpPr/>
          <p:nvPr/>
        </p:nvSpPr>
        <p:spPr>
          <a:xfrm>
            <a:off x="777240" y="3968496"/>
            <a:ext cx="3520440" cy="320040"/>
          </a:xfrm>
          <a:prstGeom prst="rect">
            <a:avLst/>
          </a:prstGeom>
          <a:noFill/>
          <a:ln/>
        </p:spPr>
        <p:txBody>
          <a:bodyPr wrap="square"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Llamar build()</a:t>
            </a:r>
            <a:endParaRPr lang="en-US" sz="1200" dirty="0"/>
          </a:p>
        </p:txBody>
      </p:sp>
      <p:sp>
        <p:nvSpPr>
          <p:cNvPr id="29" name="Text 27"/>
          <p:cNvSpPr/>
          <p:nvPr/>
        </p:nvSpPr>
        <p:spPr>
          <a:xfrm>
            <a:off x="777240" y="4242816"/>
            <a:ext cx="3520440" cy="347472"/>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Valida campos obligatorios y retorna el objeto final</a:t>
            </a:r>
            <a:endParaRPr lang="en-US" sz="1000" dirty="0"/>
          </a:p>
        </p:txBody>
      </p:sp>
      <p:sp>
        <p:nvSpPr>
          <p:cNvPr id="30" name="Shape 28"/>
          <p:cNvSpPr/>
          <p:nvPr/>
        </p:nvSpPr>
        <p:spPr>
          <a:xfrm>
            <a:off x="4617720" y="822960"/>
            <a:ext cx="4343400" cy="3200400"/>
          </a:xfrm>
          <a:prstGeom prst="rect">
            <a:avLst/>
          </a:prstGeom>
          <a:solidFill>
            <a:srgbClr val="0F172A"/>
          </a:solidFill>
          <a:ln w="12700">
            <a:solidFill>
              <a:srgbClr val="334155"/>
            </a:solidFill>
            <a:prstDash val="solid"/>
          </a:ln>
          <a:effectLst>
            <a:outerShdw sx="100000" sy="100000" kx="0" ky="0" algn="bl" rotWithShape="0" blurRad="101600" dist="38100" dir="8100000">
              <a:srgbClr val="000000">
                <a:alpha val="15000"/>
              </a:srgbClr>
            </a:outerShdw>
          </a:effectLst>
        </p:spPr>
      </p:sp>
      <p:sp>
        <p:nvSpPr>
          <p:cNvPr id="31" name="Shape 29"/>
          <p:cNvSpPr/>
          <p:nvPr/>
        </p:nvSpPr>
        <p:spPr>
          <a:xfrm>
            <a:off x="4617720" y="822960"/>
            <a:ext cx="4343400" cy="201168"/>
          </a:xfrm>
          <a:prstGeom prst="rect">
            <a:avLst/>
          </a:prstGeom>
          <a:solidFill>
            <a:srgbClr val="1E293B"/>
          </a:solidFill>
          <a:ln w="12700">
            <a:solidFill>
              <a:srgbClr val="334155"/>
            </a:solidFill>
            <a:prstDash val="solid"/>
          </a:ln>
        </p:spPr>
      </p:sp>
      <p:sp>
        <p:nvSpPr>
          <p:cNvPr id="32" name="Text 30"/>
          <p:cNvSpPr/>
          <p:nvPr/>
        </p:nvSpPr>
        <p:spPr>
          <a:xfrm>
            <a:off x="4709160" y="832104"/>
            <a:ext cx="4160520" cy="182880"/>
          </a:xfrm>
          <a:prstGeom prst="rect">
            <a:avLst/>
          </a:prstGeom>
          <a:noFill/>
          <a:ln/>
        </p:spPr>
        <p:txBody>
          <a:bodyPr wrap="square"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Java  •  Almacén Don José</a:t>
            </a:r>
            <a:endParaRPr lang="en-US" sz="750" dirty="0"/>
          </a:p>
        </p:txBody>
      </p:sp>
      <p:sp>
        <p:nvSpPr>
          <p:cNvPr id="33" name="Text 31"/>
          <p:cNvSpPr/>
          <p:nvPr/>
        </p:nvSpPr>
        <p:spPr>
          <a:xfrm>
            <a:off x="4709160" y="1042416"/>
            <a:ext cx="4160520" cy="2926080"/>
          </a:xfrm>
          <a:prstGeom prst="rect">
            <a:avLst/>
          </a:prstGeom>
          <a:noFill/>
          <a:ln/>
        </p:spPr>
        <p:txBody>
          <a:bodyPr wrap="square" rtlCol="0" anchor="t"/>
          <a:lstStyle/>
          <a:p>
            <a:pPr indent="0" marL="0">
              <a:buNone/>
            </a:pPr>
            <a:r>
              <a:rPr lang="en-US" sz="850" dirty="0">
                <a:solidFill>
                  <a:srgbClr val="E2E8F0"/>
                </a:solidFill>
                <a:latin typeface="Consolas" pitchFamily="34" charset="0"/>
                <a:ea typeface="Consolas" pitchFamily="34" charset="-122"/>
                <a:cs typeface="Consolas" pitchFamily="34" charset="-120"/>
              </a:rPr>
              <a:t>// Uso del Builder en el sistema</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PedidoRopa pedido = new PedidoRopa.Builder()</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.cliente("Maria Páez")</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.prenda("Ruana lana Nobsa")</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.talla("M")</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.color("Café oscuro")</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.conDomicilio()</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.notaEspecial("Envolver para regalo")</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.formaPago("Nequi")</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.descuento(0.10)</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.build();</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System.out.println(pedido);</a:t>
            </a:r>
            <a:endParaRPr lang="en-US" sz="850" dirty="0"/>
          </a:p>
        </p:txBody>
      </p:sp>
      <p:sp>
        <p:nvSpPr>
          <p:cNvPr id="34" name="Shape 32"/>
          <p:cNvSpPr/>
          <p:nvPr/>
        </p:nvSpPr>
        <p:spPr>
          <a:xfrm>
            <a:off x="0" y="4846320"/>
            <a:ext cx="9144000" cy="297180"/>
          </a:xfrm>
          <a:prstGeom prst="rect">
            <a:avLst/>
          </a:prstGeom>
          <a:solidFill>
            <a:srgbClr val="1F3864"/>
          </a:solidFill>
          <a:ln w="12700">
            <a:solidFill>
              <a:srgbClr val="1F3864"/>
            </a:solidFill>
            <a:prstDash val="solid"/>
          </a:ln>
        </p:spPr>
      </p:sp>
      <p:sp>
        <p:nvSpPr>
          <p:cNvPr id="35" name="Text 33"/>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36" name="Text 34"/>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19/32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7B2D8B"/>
          </a:solidFill>
          <a:ln w="12700">
            <a:solidFill>
              <a:srgbClr val="7B2D8B"/>
            </a:solidFill>
            <a:prstDash val="solid"/>
          </a:ln>
        </p:spPr>
      </p:sp>
      <p:sp>
        <p:nvSpPr>
          <p:cNvPr id="3" name="Shape 1"/>
          <p:cNvSpPr/>
          <p:nvPr/>
        </p:nvSpPr>
        <p:spPr>
          <a:xfrm>
            <a:off x="0" y="109728"/>
            <a:ext cx="73152" cy="5033772"/>
          </a:xfrm>
          <a:prstGeom prst="rect">
            <a:avLst/>
          </a:prstGeom>
          <a:solidFill>
            <a:srgbClr val="7B2D8B"/>
          </a:solidFill>
          <a:ln w="12700">
            <a:solidFill>
              <a:srgbClr val="7B2D8B"/>
            </a:solidFill>
            <a:prstDash val="solid"/>
          </a:ln>
        </p:spPr>
      </p:sp>
      <p:sp>
        <p:nvSpPr>
          <p:cNvPr id="4" name="Text 2"/>
          <p:cNvSpPr/>
          <p:nvPr/>
        </p:nvSpPr>
        <p:spPr>
          <a:xfrm>
            <a:off x="274320" y="182880"/>
            <a:ext cx="8595360" cy="530352"/>
          </a:xfrm>
          <a:prstGeom prst="rect">
            <a:avLst/>
          </a:prstGeom>
          <a:noFill/>
          <a:ln/>
        </p:spPr>
        <p:txBody>
          <a:bodyPr wrap="square" rtlCol="0" anchor="ctr"/>
          <a:lstStyle/>
          <a:p>
            <a:pPr indent="0" marL="0">
              <a:buNone/>
            </a:pPr>
            <a:r>
              <a:rPr lang="en-US" sz="2200" b="1" dirty="0">
                <a:solidFill>
                  <a:srgbClr val="1F3864"/>
                </a:solidFill>
                <a:latin typeface="Calibri Black" pitchFamily="34" charset="0"/>
                <a:ea typeface="Calibri Black" pitchFamily="34" charset="-122"/>
                <a:cs typeface="Calibri Black" pitchFamily="34" charset="-120"/>
              </a:rPr>
              <a:t>Builder — Estructura y Roles</a:t>
            </a:r>
            <a:endParaRPr lang="en-US" sz="2200" dirty="0"/>
          </a:p>
        </p:txBody>
      </p:sp>
      <p:sp>
        <p:nvSpPr>
          <p:cNvPr id="5" name="Shape 3"/>
          <p:cNvSpPr/>
          <p:nvPr/>
        </p:nvSpPr>
        <p:spPr>
          <a:xfrm>
            <a:off x="228600" y="822960"/>
            <a:ext cx="8686800" cy="13258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6" name="Shape 4"/>
          <p:cNvSpPr/>
          <p:nvPr/>
        </p:nvSpPr>
        <p:spPr>
          <a:xfrm>
            <a:off x="228600" y="822960"/>
            <a:ext cx="2286000" cy="1325880"/>
          </a:xfrm>
          <a:prstGeom prst="rect">
            <a:avLst/>
          </a:prstGeom>
          <a:solidFill>
            <a:srgbClr val="1F3864"/>
          </a:solidFill>
          <a:ln w="12700">
            <a:solidFill>
              <a:srgbClr val="1F3864"/>
            </a:solidFill>
            <a:prstDash val="solid"/>
          </a:ln>
        </p:spPr>
      </p:sp>
      <p:sp>
        <p:nvSpPr>
          <p:cNvPr id="7" name="Text 5"/>
          <p:cNvSpPr/>
          <p:nvPr/>
        </p:nvSpPr>
        <p:spPr>
          <a:xfrm>
            <a:off x="292608" y="822960"/>
            <a:ext cx="2148840" cy="5029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PedidoRopa</a:t>
            </a:r>
            <a:endParaRPr lang="en-US" sz="1300" dirty="0"/>
          </a:p>
        </p:txBody>
      </p:sp>
      <p:sp>
        <p:nvSpPr>
          <p:cNvPr id="8" name="Text 6"/>
          <p:cNvSpPr/>
          <p:nvPr/>
        </p:nvSpPr>
        <p:spPr>
          <a:xfrm>
            <a:off x="292608" y="1280160"/>
            <a:ext cx="2148840" cy="274320"/>
          </a:xfrm>
          <a:prstGeom prst="rect">
            <a:avLst/>
          </a:prstGeom>
          <a:noFill/>
          <a:ln/>
        </p:spPr>
        <p:txBody>
          <a:bodyPr wrap="square" rtlCol="0" anchor="ctr"/>
          <a:lstStyle/>
          <a:p>
            <a:pPr indent="0" marL="0">
              <a:buNone/>
            </a:pPr>
            <a:r>
              <a:rPr lang="en-US" sz="950" i="1" dirty="0">
                <a:solidFill>
                  <a:srgbClr val="DDEECC"/>
                </a:solidFill>
                <a:latin typeface="Calibri" pitchFamily="34" charset="0"/>
                <a:ea typeface="Calibri" pitchFamily="34" charset="-122"/>
                <a:cs typeface="Calibri" pitchFamily="34" charset="-120"/>
              </a:rPr>
              <a:t>«Product»</a:t>
            </a:r>
            <a:endParaRPr lang="en-US" sz="950" dirty="0"/>
          </a:p>
        </p:txBody>
      </p:sp>
      <p:sp>
        <p:nvSpPr>
          <p:cNvPr id="9" name="Text 7"/>
          <p:cNvSpPr/>
          <p:nvPr/>
        </p:nvSpPr>
        <p:spPr>
          <a:xfrm>
            <a:off x="2651760" y="896112"/>
            <a:ext cx="6126480" cy="114300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El objeto complejo resultante con todos sus atributos (cliente, prenda, talla, color, envío, nota, pago, descuento). Constructor privado — solo Builder puede crearlo.</a:t>
            </a:r>
            <a:endParaRPr lang="en-US" sz="1100" dirty="0"/>
          </a:p>
        </p:txBody>
      </p:sp>
      <p:sp>
        <p:nvSpPr>
          <p:cNvPr id="10" name="Shape 8"/>
          <p:cNvSpPr/>
          <p:nvPr/>
        </p:nvSpPr>
        <p:spPr>
          <a:xfrm>
            <a:off x="228600" y="2240280"/>
            <a:ext cx="8686800" cy="13258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1" name="Shape 9"/>
          <p:cNvSpPr/>
          <p:nvPr/>
        </p:nvSpPr>
        <p:spPr>
          <a:xfrm>
            <a:off x="228600" y="2240280"/>
            <a:ext cx="2286000" cy="1325880"/>
          </a:xfrm>
          <a:prstGeom prst="rect">
            <a:avLst/>
          </a:prstGeom>
          <a:solidFill>
            <a:srgbClr val="7B2D8B"/>
          </a:solidFill>
          <a:ln w="12700">
            <a:solidFill>
              <a:srgbClr val="7B2D8B"/>
            </a:solidFill>
            <a:prstDash val="solid"/>
          </a:ln>
        </p:spPr>
      </p:sp>
      <p:sp>
        <p:nvSpPr>
          <p:cNvPr id="12" name="Text 10"/>
          <p:cNvSpPr/>
          <p:nvPr/>
        </p:nvSpPr>
        <p:spPr>
          <a:xfrm>
            <a:off x="292608" y="2240280"/>
            <a:ext cx="2148840" cy="5029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PedidoRopa.Builder</a:t>
            </a:r>
            <a:endParaRPr lang="en-US" sz="1300" dirty="0"/>
          </a:p>
        </p:txBody>
      </p:sp>
      <p:sp>
        <p:nvSpPr>
          <p:cNvPr id="13" name="Text 11"/>
          <p:cNvSpPr/>
          <p:nvPr/>
        </p:nvSpPr>
        <p:spPr>
          <a:xfrm>
            <a:off x="292608" y="2697480"/>
            <a:ext cx="2148840" cy="274320"/>
          </a:xfrm>
          <a:prstGeom prst="rect">
            <a:avLst/>
          </a:prstGeom>
          <a:noFill/>
          <a:ln/>
        </p:spPr>
        <p:txBody>
          <a:bodyPr wrap="square" rtlCol="0" anchor="ctr"/>
          <a:lstStyle/>
          <a:p>
            <a:pPr indent="0" marL="0">
              <a:buNone/>
            </a:pPr>
            <a:r>
              <a:rPr lang="en-US" sz="950" i="1" dirty="0">
                <a:solidFill>
                  <a:srgbClr val="DDEECC"/>
                </a:solidFill>
                <a:latin typeface="Calibri" pitchFamily="34" charset="0"/>
                <a:ea typeface="Calibri" pitchFamily="34" charset="-122"/>
                <a:cs typeface="Calibri" pitchFamily="34" charset="-120"/>
              </a:rPr>
              <a:t>«Builder (interno)»</a:t>
            </a:r>
            <a:endParaRPr lang="en-US" sz="950" dirty="0"/>
          </a:p>
        </p:txBody>
      </p:sp>
      <p:sp>
        <p:nvSpPr>
          <p:cNvPr id="14" name="Text 12"/>
          <p:cNvSpPr/>
          <p:nvPr/>
        </p:nvSpPr>
        <p:spPr>
          <a:xfrm>
            <a:off x="2651760" y="2313432"/>
            <a:ext cx="6126480" cy="114300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Clase estática interna con métodos encadenados. Almacena temporalmente los valores. build() valida y crea el PedidoRopa final.</a:t>
            </a:r>
            <a:endParaRPr lang="en-US" sz="1100" dirty="0"/>
          </a:p>
        </p:txBody>
      </p:sp>
      <p:sp>
        <p:nvSpPr>
          <p:cNvPr id="15" name="Shape 13"/>
          <p:cNvSpPr/>
          <p:nvPr/>
        </p:nvSpPr>
        <p:spPr>
          <a:xfrm>
            <a:off x="228600" y="3657600"/>
            <a:ext cx="8686800" cy="13258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6" name="Shape 14"/>
          <p:cNvSpPr/>
          <p:nvPr/>
        </p:nvSpPr>
        <p:spPr>
          <a:xfrm>
            <a:off x="228600" y="3657600"/>
            <a:ext cx="2286000" cy="1325880"/>
          </a:xfrm>
          <a:prstGeom prst="rect">
            <a:avLst/>
          </a:prstGeom>
          <a:solidFill>
            <a:srgbClr val="39A900"/>
          </a:solidFill>
          <a:ln w="12700">
            <a:solidFill>
              <a:srgbClr val="39A900"/>
            </a:solidFill>
            <a:prstDash val="solid"/>
          </a:ln>
        </p:spPr>
      </p:sp>
      <p:sp>
        <p:nvSpPr>
          <p:cNvPr id="17" name="Text 15"/>
          <p:cNvSpPr/>
          <p:nvPr/>
        </p:nvSpPr>
        <p:spPr>
          <a:xfrm>
            <a:off x="292608" y="3657600"/>
            <a:ext cx="2148840" cy="5029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GestorPedidos / Main</a:t>
            </a:r>
            <a:endParaRPr lang="en-US" sz="1300" dirty="0"/>
          </a:p>
        </p:txBody>
      </p:sp>
      <p:sp>
        <p:nvSpPr>
          <p:cNvPr id="18" name="Text 16"/>
          <p:cNvSpPr/>
          <p:nvPr/>
        </p:nvSpPr>
        <p:spPr>
          <a:xfrm>
            <a:off x="292608" y="4114800"/>
            <a:ext cx="2148840" cy="274320"/>
          </a:xfrm>
          <a:prstGeom prst="rect">
            <a:avLst/>
          </a:prstGeom>
          <a:noFill/>
          <a:ln/>
        </p:spPr>
        <p:txBody>
          <a:bodyPr wrap="square" rtlCol="0" anchor="ctr"/>
          <a:lstStyle/>
          <a:p>
            <a:pPr indent="0" marL="0">
              <a:buNone/>
            </a:pPr>
            <a:r>
              <a:rPr lang="en-US" sz="950" i="1" dirty="0">
                <a:solidFill>
                  <a:srgbClr val="DDEECC"/>
                </a:solidFill>
                <a:latin typeface="Calibri" pitchFamily="34" charset="0"/>
                <a:ea typeface="Calibri" pitchFamily="34" charset="-122"/>
                <a:cs typeface="Calibri" pitchFamily="34" charset="-120"/>
              </a:rPr>
              <a:t>«Director / Client»</a:t>
            </a:r>
            <a:endParaRPr lang="en-US" sz="950" dirty="0"/>
          </a:p>
        </p:txBody>
      </p:sp>
      <p:sp>
        <p:nvSpPr>
          <p:cNvPr id="19" name="Text 17"/>
          <p:cNvSpPr/>
          <p:nvPr/>
        </p:nvSpPr>
        <p:spPr>
          <a:xfrm>
            <a:off x="2651760" y="3730752"/>
            <a:ext cx="6126480" cy="114300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Usa el Builder para construir pedidos. Define el orden y combinación de llamadas. Cada pedido puede ser diferente.</a:t>
            </a:r>
            <a:endParaRPr lang="en-US" sz="1100" dirty="0"/>
          </a:p>
        </p:txBody>
      </p:sp>
      <p:sp>
        <p:nvSpPr>
          <p:cNvPr id="20" name="Shape 18"/>
          <p:cNvSpPr/>
          <p:nvPr/>
        </p:nvSpPr>
        <p:spPr>
          <a:xfrm>
            <a:off x="228600" y="4480560"/>
            <a:ext cx="8686800" cy="640080"/>
          </a:xfrm>
          <a:prstGeom prst="rect">
            <a:avLst/>
          </a:prstGeom>
          <a:solidFill>
            <a:srgbClr val="F3E8FF"/>
          </a:solidFill>
          <a:ln w="12700">
            <a:solidFill>
              <a:srgbClr val="7B2D8B"/>
            </a:solidFill>
            <a:prstDash val="solid"/>
          </a:ln>
        </p:spPr>
      </p:sp>
      <p:sp>
        <p:nvSpPr>
          <p:cNvPr id="21" name="Text 19"/>
          <p:cNvSpPr/>
          <p:nvPr/>
        </p:nvSpPr>
        <p:spPr>
          <a:xfrm>
            <a:off x="365760" y="4498848"/>
            <a:ext cx="8412480" cy="603504"/>
          </a:xfrm>
          <a:prstGeom prst="rect">
            <a:avLst/>
          </a:prstGeom>
          <a:noFill/>
          <a:ln/>
        </p:spPr>
        <p:txBody>
          <a:bodyPr wrap="square" rtlCol="0" anchor="ctr"/>
          <a:lstStyle/>
          <a:p>
            <a:pPr indent="0" marL="0">
              <a:buNone/>
            </a:pPr>
            <a:r>
              <a:rPr lang="en-US" sz="1050" dirty="0">
                <a:solidFill>
                  <a:srgbClr val="5B21B6"/>
                </a:solidFill>
                <a:latin typeface="Calibri" pitchFamily="34" charset="0"/>
                <a:ea typeface="Calibri" pitchFamily="34" charset="-122"/>
                <a:cs typeface="Calibri" pitchFamily="34" charset="-120"/>
              </a:rPr>
              <a:t>💡  Ventaja clave: el mismo proceso de construcción puede crear pedidos completamente diferentes — pedido mínimo vs. pedido premium con domicilio y nota especial.</a:t>
            </a:r>
            <a:endParaRPr lang="en-US" sz="1050" dirty="0"/>
          </a:p>
        </p:txBody>
      </p:sp>
      <p:sp>
        <p:nvSpPr>
          <p:cNvPr id="22" name="Shape 20"/>
          <p:cNvSpPr/>
          <p:nvPr/>
        </p:nvSpPr>
        <p:spPr>
          <a:xfrm>
            <a:off x="0" y="4846320"/>
            <a:ext cx="9144000" cy="297180"/>
          </a:xfrm>
          <a:prstGeom prst="rect">
            <a:avLst/>
          </a:prstGeom>
          <a:solidFill>
            <a:srgbClr val="1F3864"/>
          </a:solidFill>
          <a:ln w="12700">
            <a:solidFill>
              <a:srgbClr val="1F3864"/>
            </a:solidFill>
            <a:prstDash val="solid"/>
          </a:ln>
        </p:spPr>
      </p:sp>
      <p:sp>
        <p:nvSpPr>
          <p:cNvPr id="23" name="Text 21"/>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24" name="Text 22"/>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20/32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7B2D8B"/>
          </a:solidFill>
          <a:ln w="12700">
            <a:solidFill>
              <a:srgbClr val="7B2D8B"/>
            </a:solidFill>
            <a:prstDash val="solid"/>
          </a:ln>
        </p:spPr>
      </p:sp>
      <p:sp>
        <p:nvSpPr>
          <p:cNvPr id="3" name="Shape 1"/>
          <p:cNvSpPr/>
          <p:nvPr/>
        </p:nvSpPr>
        <p:spPr>
          <a:xfrm>
            <a:off x="0" y="109728"/>
            <a:ext cx="73152" cy="5033772"/>
          </a:xfrm>
          <a:prstGeom prst="rect">
            <a:avLst/>
          </a:prstGeom>
          <a:solidFill>
            <a:srgbClr val="7B2D8B"/>
          </a:solidFill>
          <a:ln w="12700">
            <a:solidFill>
              <a:srgbClr val="7B2D8B"/>
            </a:solidFill>
            <a:prstDash val="solid"/>
          </a:ln>
        </p:spPr>
      </p:sp>
      <p:sp>
        <p:nvSpPr>
          <p:cNvPr id="4" name="Text 2"/>
          <p:cNvSpPr/>
          <p:nvPr/>
        </p:nvSpPr>
        <p:spPr>
          <a:xfrm>
            <a:off x="274320" y="182880"/>
            <a:ext cx="8595360" cy="530352"/>
          </a:xfrm>
          <a:prstGeom prst="rect">
            <a:avLst/>
          </a:prstGeom>
          <a:noFill/>
          <a:ln/>
        </p:spPr>
        <p:txBody>
          <a:bodyPr wrap="square" rtlCol="0" anchor="ctr"/>
          <a:lstStyle/>
          <a:p>
            <a:pPr indent="0" marL="0">
              <a:buNone/>
            </a:pPr>
            <a:r>
              <a:rPr lang="en-US" sz="2200" b="1" dirty="0">
                <a:solidFill>
                  <a:srgbClr val="1F3864"/>
                </a:solidFill>
                <a:latin typeface="Calibri Black" pitchFamily="34" charset="0"/>
                <a:ea typeface="Calibri Black" pitchFamily="34" charset="-122"/>
                <a:cs typeface="Calibri Black" pitchFamily="34" charset="-120"/>
              </a:rPr>
              <a:t>Builder — Código y Resumen</a:t>
            </a:r>
            <a:endParaRPr lang="en-US" sz="2200" dirty="0"/>
          </a:p>
        </p:txBody>
      </p:sp>
      <p:sp>
        <p:nvSpPr>
          <p:cNvPr id="5" name="Shape 3"/>
          <p:cNvSpPr/>
          <p:nvPr/>
        </p:nvSpPr>
        <p:spPr>
          <a:xfrm>
            <a:off x="228600" y="822960"/>
            <a:ext cx="5029200" cy="3154680"/>
          </a:xfrm>
          <a:prstGeom prst="rect">
            <a:avLst/>
          </a:prstGeom>
          <a:solidFill>
            <a:srgbClr val="0F172A"/>
          </a:solidFill>
          <a:ln w="12700">
            <a:solidFill>
              <a:srgbClr val="334155"/>
            </a:solidFill>
            <a:prstDash val="solid"/>
          </a:ln>
          <a:effectLst>
            <a:outerShdw sx="100000" sy="100000" kx="0" ky="0" algn="bl" rotWithShape="0" blurRad="101600" dist="38100" dir="8100000">
              <a:srgbClr val="000000">
                <a:alpha val="15000"/>
              </a:srgbClr>
            </a:outerShdw>
          </a:effectLst>
        </p:spPr>
      </p:sp>
      <p:sp>
        <p:nvSpPr>
          <p:cNvPr id="6" name="Shape 4"/>
          <p:cNvSpPr/>
          <p:nvPr/>
        </p:nvSpPr>
        <p:spPr>
          <a:xfrm>
            <a:off x="228600" y="822960"/>
            <a:ext cx="5029200" cy="201168"/>
          </a:xfrm>
          <a:prstGeom prst="rect">
            <a:avLst/>
          </a:prstGeom>
          <a:solidFill>
            <a:srgbClr val="1E293B"/>
          </a:solidFill>
          <a:ln w="12700">
            <a:solidFill>
              <a:srgbClr val="334155"/>
            </a:solidFill>
            <a:prstDash val="solid"/>
          </a:ln>
        </p:spPr>
      </p:sp>
      <p:sp>
        <p:nvSpPr>
          <p:cNvPr id="7" name="Text 5"/>
          <p:cNvSpPr/>
          <p:nvPr/>
        </p:nvSpPr>
        <p:spPr>
          <a:xfrm>
            <a:off x="320040" y="832104"/>
            <a:ext cx="4846320" cy="182880"/>
          </a:xfrm>
          <a:prstGeom prst="rect">
            <a:avLst/>
          </a:prstGeom>
          <a:noFill/>
          <a:ln/>
        </p:spPr>
        <p:txBody>
          <a:bodyPr wrap="square"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Java  •  Almacén Don José</a:t>
            </a:r>
            <a:endParaRPr lang="en-US" sz="750" dirty="0"/>
          </a:p>
        </p:txBody>
      </p:sp>
      <p:sp>
        <p:nvSpPr>
          <p:cNvPr id="8" name="Text 6"/>
          <p:cNvSpPr/>
          <p:nvPr/>
        </p:nvSpPr>
        <p:spPr>
          <a:xfrm>
            <a:off x="320040" y="1042416"/>
            <a:ext cx="4846320" cy="2880360"/>
          </a:xfrm>
          <a:prstGeom prst="rect">
            <a:avLst/>
          </a:prstGeom>
          <a:noFill/>
          <a:ln/>
        </p:spPr>
        <p:txBody>
          <a:bodyPr wrap="square" rtlCol="0" anchor="t"/>
          <a:lstStyle/>
          <a:p>
            <a:pPr indent="0" marL="0">
              <a:buNone/>
            </a:pPr>
            <a:r>
              <a:rPr lang="en-US" sz="850" dirty="0">
                <a:solidFill>
                  <a:srgbClr val="E2E8F0"/>
                </a:solidFill>
                <a:latin typeface="Consolas" pitchFamily="34" charset="0"/>
                <a:ea typeface="Consolas" pitchFamily="34" charset="-122"/>
                <a:cs typeface="Consolas" pitchFamily="34" charset="-120"/>
              </a:rPr>
              <a:t>public static class Builder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private String cliente, prenda, talla, color;</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private boolean envioADomicilio = false;</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private String  notaEspecial = null;</a:t>
            </a:r>
            <a:endParaRPr lang="en-US" sz="850" dirty="0"/>
          </a:p>
          <a:p>
            <a:pPr indent="0" marL="0">
              <a:buNone/>
            </a:pP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Builder cliente(String c)   { this.cliente = c; return this;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Builder prenda(String p)    { this.prenda  = p; return this;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Builder conDomicilio()      { this.envioADomicilio = true; return this;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PedidoRopa build()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if(cliente==null||prenda==null)</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throw new IllegalStateException("Faltan campos obligatorios");</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return new PedidoRopa(this);</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a:t>
            </a:r>
            <a:endParaRPr lang="en-US" sz="850" dirty="0"/>
          </a:p>
        </p:txBody>
      </p:sp>
      <p:sp>
        <p:nvSpPr>
          <p:cNvPr id="9" name="Shape 7"/>
          <p:cNvSpPr/>
          <p:nvPr/>
        </p:nvSpPr>
        <p:spPr>
          <a:xfrm>
            <a:off x="5394960" y="822960"/>
            <a:ext cx="3520440" cy="3154680"/>
          </a:xfrm>
          <a:prstGeom prst="rect">
            <a:avLst/>
          </a:prstGeom>
          <a:solidFill>
            <a:srgbClr val="1F3864"/>
          </a:solidFill>
          <a:ln w="12700">
            <a:solidFill>
              <a:srgbClr val="1F3864"/>
            </a:solidFill>
            <a:prstDash val="solid"/>
          </a:ln>
          <a:effectLst>
            <a:outerShdw sx="100000" sy="100000" kx="0" ky="0" algn="bl" rotWithShape="0" blurRad="101600" dist="38100" dir="8100000">
              <a:srgbClr val="000000">
                <a:alpha val="15000"/>
              </a:srgbClr>
            </a:outerShdw>
          </a:effectLst>
        </p:spPr>
      </p:sp>
      <p:sp>
        <p:nvSpPr>
          <p:cNvPr id="10" name="Text 8"/>
          <p:cNvSpPr/>
          <p:nvPr/>
        </p:nvSpPr>
        <p:spPr>
          <a:xfrm>
            <a:off x="5486400" y="868680"/>
            <a:ext cx="3291840" cy="320040"/>
          </a:xfrm>
          <a:prstGeom prst="rect">
            <a:avLst/>
          </a:prstGeom>
          <a:noFill/>
          <a:ln/>
        </p:spPr>
        <p:txBody>
          <a:bodyPr wrap="square" rtlCol="0" anchor="ctr"/>
          <a:lstStyle/>
          <a:p>
            <a:pPr indent="0" marL="0">
              <a:buNone/>
            </a:pPr>
            <a:r>
              <a:rPr lang="en-US" sz="1300" b="1" dirty="0">
                <a:solidFill>
                  <a:srgbClr val="7B2D8B"/>
                </a:solidFill>
                <a:latin typeface="Calibri" pitchFamily="34" charset="0"/>
                <a:ea typeface="Calibri" pitchFamily="34" charset="-122"/>
                <a:cs typeface="Calibri" pitchFamily="34" charset="-120"/>
              </a:rPr>
              <a:t>Resumen personal</a:t>
            </a:r>
            <a:endParaRPr lang="en-US" sz="1300" dirty="0"/>
          </a:p>
        </p:txBody>
      </p:sp>
      <p:sp>
        <p:nvSpPr>
          <p:cNvPr id="11" name="Shape 9"/>
          <p:cNvSpPr/>
          <p:nvPr/>
        </p:nvSpPr>
        <p:spPr>
          <a:xfrm>
            <a:off x="5486400" y="1207008"/>
            <a:ext cx="3291840" cy="0"/>
          </a:xfrm>
          <a:prstGeom prst="line">
            <a:avLst/>
          </a:prstGeom>
          <a:noFill/>
          <a:ln w="12700">
            <a:solidFill>
              <a:srgbClr val="7B2D8B"/>
            </a:solidFill>
            <a:prstDash val="solid"/>
          </a:ln>
        </p:spPr>
      </p:sp>
      <p:sp>
        <p:nvSpPr>
          <p:cNvPr id="12" name="Text 10"/>
          <p:cNvSpPr/>
          <p:nvPr/>
        </p:nvSpPr>
        <p:spPr>
          <a:xfrm>
            <a:off x="5486400" y="1325880"/>
            <a:ext cx="3337560" cy="2514600"/>
          </a:xfrm>
          <a:prstGeom prst="rect">
            <a:avLst/>
          </a:prstGeom>
          <a:noFill/>
          <a:ln/>
        </p:spPr>
        <p:txBody>
          <a:bodyPr wrap="square" rtlCol="0" anchor="ctr"/>
          <a:lstStyle/>
          <a:p>
            <a:pPr indent="0" marL="0">
              <a:buNone/>
            </a:pPr>
            <a:r>
              <a:rPr lang="en-US" sz="1000" i="1" dirty="0">
                <a:solidFill>
                  <a:srgbClr val="AABBCC"/>
                </a:solidFill>
                <a:latin typeface="Calibri" pitchFamily="34" charset="0"/>
                <a:ea typeface="Calibri" pitchFamily="34" charset="-122"/>
                <a:cs typeface="Calibri" pitchFamily="34" charset="-120"/>
              </a:rPr>
              <a:t>"El Builder es como el vendedor tomando el pedido en el Almacén Don José: va anotando paso a paso lo que el cliente quiere — talla, color, si es para regalo, si necesita domicilio. Al final consolida todo en una orden. Cada pedido es diferente, pero el proceso es siempre el mismo. Legible, flexible, sin constructores monstruosos."</a:t>
            </a:r>
            <a:endParaRPr lang="en-US" sz="1000" dirty="0"/>
          </a:p>
        </p:txBody>
      </p:sp>
      <p:sp>
        <p:nvSpPr>
          <p:cNvPr id="13" name="Shape 11"/>
          <p:cNvSpPr/>
          <p:nvPr/>
        </p:nvSpPr>
        <p:spPr>
          <a:xfrm>
            <a:off x="228600" y="4069080"/>
            <a:ext cx="8686800" cy="7498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4" name="Shape 12"/>
          <p:cNvSpPr/>
          <p:nvPr/>
        </p:nvSpPr>
        <p:spPr>
          <a:xfrm>
            <a:off x="228600" y="4069080"/>
            <a:ext cx="64008" cy="749808"/>
          </a:xfrm>
          <a:prstGeom prst="rect">
            <a:avLst/>
          </a:prstGeom>
          <a:solidFill>
            <a:srgbClr val="7B2D8B"/>
          </a:solidFill>
          <a:ln w="12700">
            <a:solidFill>
              <a:srgbClr val="7B2D8B"/>
            </a:solidFill>
            <a:prstDash val="solid"/>
          </a:ln>
        </p:spPr>
      </p:sp>
      <p:sp>
        <p:nvSpPr>
          <p:cNvPr id="15" name="Text 13"/>
          <p:cNvSpPr/>
          <p:nvPr/>
        </p:nvSpPr>
        <p:spPr>
          <a:xfrm>
            <a:off x="365760" y="4160520"/>
            <a:ext cx="850392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¿Cuándo usarlo?</a:t>
            </a:r>
            <a:endParaRPr lang="en-US" sz="1100" dirty="0"/>
          </a:p>
        </p:txBody>
      </p:sp>
      <p:sp>
        <p:nvSpPr>
          <p:cNvPr id="16" name="Text 14"/>
          <p:cNvSpPr/>
          <p:nvPr/>
        </p:nvSpPr>
        <p:spPr>
          <a:xfrm>
            <a:off x="365760" y="4398264"/>
            <a:ext cx="8503920" cy="347472"/>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 Objetos con muchos parámetros opcionales</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Cuando los parámetros pueden variar mucho entre instancias</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Para mejorar la legibilidad del código de construcción</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Para evitar errores por orden incorrecto de parámetros</a:t>
            </a:r>
            <a:endParaRPr lang="en-US" sz="1000" dirty="0"/>
          </a:p>
        </p:txBody>
      </p:sp>
      <p:sp>
        <p:nvSpPr>
          <p:cNvPr id="17" name="Shape 15"/>
          <p:cNvSpPr/>
          <p:nvPr/>
        </p:nvSpPr>
        <p:spPr>
          <a:xfrm>
            <a:off x="0" y="4846320"/>
            <a:ext cx="9144000" cy="297180"/>
          </a:xfrm>
          <a:prstGeom prst="rect">
            <a:avLst/>
          </a:prstGeom>
          <a:solidFill>
            <a:srgbClr val="1F3864"/>
          </a:solidFill>
          <a:ln w="12700">
            <a:solidFill>
              <a:srgbClr val="1F3864"/>
            </a:solidFill>
            <a:prstDash val="solid"/>
          </a:ln>
        </p:spPr>
      </p:sp>
      <p:sp>
        <p:nvSpPr>
          <p:cNvPr id="18" name="Text 16"/>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19" name="Text 17"/>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21/32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D1B00"/>
        </a:solidFill>
      </p:bgPr>
    </p:bg>
    <p:spTree>
      <p:nvGrpSpPr>
        <p:cNvPr id="1" name=""/>
        <p:cNvGrpSpPr/>
        <p:nvPr/>
      </p:nvGrpSpPr>
      <p:grpSpPr>
        <a:xfrm>
          <a:off x="0" y="0"/>
          <a:ext cx="0" cy="0"/>
          <a:chOff x="0" y="0"/>
          <a:chExt cx="0" cy="0"/>
        </a:xfrm>
      </p:grpSpPr>
      <p:sp>
        <p:nvSpPr>
          <p:cNvPr id="2" name="Shape 0"/>
          <p:cNvSpPr/>
          <p:nvPr/>
        </p:nvSpPr>
        <p:spPr>
          <a:xfrm>
            <a:off x="6583680" y="-457200"/>
            <a:ext cx="3200400" cy="6400800"/>
          </a:xfrm>
          <a:prstGeom prst="rect">
            <a:avLst/>
          </a:prstGeom>
          <a:solidFill>
            <a:srgbClr val="39A900">
              <a:alpha val="15000"/>
            </a:srgbClr>
          </a:solidFill>
          <a:ln w="12700">
            <a:solidFill>
              <a:srgbClr val="39A900"/>
            </a:solidFill>
            <a:prstDash val="solid"/>
          </a:ln>
        </p:spPr>
      </p:sp>
      <p:sp>
        <p:nvSpPr>
          <p:cNvPr id="3" name="Shape 1"/>
          <p:cNvSpPr/>
          <p:nvPr/>
        </p:nvSpPr>
        <p:spPr>
          <a:xfrm>
            <a:off x="7772400" y="-457200"/>
            <a:ext cx="1828800" cy="6400800"/>
          </a:xfrm>
          <a:prstGeom prst="rect">
            <a:avLst/>
          </a:prstGeom>
          <a:solidFill>
            <a:srgbClr val="39A900">
              <a:alpha val="30000"/>
            </a:srgbClr>
          </a:solidFill>
          <a:ln w="12700">
            <a:solidFill>
              <a:srgbClr val="39A900"/>
            </a:solidFill>
            <a:prstDash val="solid"/>
          </a:ln>
        </p:spPr>
      </p:sp>
      <p:sp>
        <p:nvSpPr>
          <p:cNvPr id="4" name="Shape 2"/>
          <p:cNvSpPr/>
          <p:nvPr/>
        </p:nvSpPr>
        <p:spPr>
          <a:xfrm>
            <a:off x="457200" y="822960"/>
            <a:ext cx="2194560" cy="347472"/>
          </a:xfrm>
          <a:prstGeom prst="roundRect">
            <a:avLst>
              <a:gd name="adj" fmla="val 26316"/>
            </a:avLst>
          </a:prstGeom>
          <a:solidFill>
            <a:srgbClr val="39A900"/>
          </a:solidFill>
          <a:ln w="12700">
            <a:solidFill>
              <a:srgbClr val="39A900"/>
            </a:solidFill>
            <a:prstDash val="solid"/>
          </a:ln>
        </p:spPr>
      </p:sp>
      <p:sp>
        <p:nvSpPr>
          <p:cNvPr id="5" name="Text 3"/>
          <p:cNvSpPr/>
          <p:nvPr/>
        </p:nvSpPr>
        <p:spPr>
          <a:xfrm>
            <a:off x="457200" y="822960"/>
            <a:ext cx="219456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PATRÓN CREACIONAL</a:t>
            </a:r>
            <a:endParaRPr lang="en-US" sz="1000" dirty="0"/>
          </a:p>
        </p:txBody>
      </p:sp>
      <p:sp>
        <p:nvSpPr>
          <p:cNvPr id="6" name="Text 4"/>
          <p:cNvSpPr/>
          <p:nvPr/>
        </p:nvSpPr>
        <p:spPr>
          <a:xfrm>
            <a:off x="457200" y="1280160"/>
            <a:ext cx="7315200" cy="1280160"/>
          </a:xfrm>
          <a:prstGeom prst="rect">
            <a:avLst/>
          </a:prstGeom>
          <a:noFill/>
          <a:ln/>
        </p:spPr>
        <p:txBody>
          <a:bodyPr wrap="square" rtlCol="0" anchor="ctr"/>
          <a:lstStyle/>
          <a:p>
            <a:pPr indent="0" marL="0">
              <a:buNone/>
            </a:pPr>
            <a:r>
              <a:rPr lang="en-US" sz="4400" b="1" dirty="0">
                <a:solidFill>
                  <a:srgbClr val="FFFFFF"/>
                </a:solidFill>
                <a:latin typeface="Calibri Black" pitchFamily="34" charset="0"/>
                <a:ea typeface="Calibri Black" pitchFamily="34" charset="-122"/>
                <a:cs typeface="Calibri Black" pitchFamily="34" charset="-120"/>
              </a:rPr>
              <a:t>Singleton</a:t>
            </a:r>
            <a:endParaRPr lang="en-US" sz="4400" dirty="0"/>
          </a:p>
        </p:txBody>
      </p:sp>
      <p:sp>
        <p:nvSpPr>
          <p:cNvPr id="7" name="Text 5"/>
          <p:cNvSpPr/>
          <p:nvPr/>
        </p:nvSpPr>
        <p:spPr>
          <a:xfrm>
            <a:off x="457200" y="2606040"/>
            <a:ext cx="6400800" cy="822960"/>
          </a:xfrm>
          <a:prstGeom prst="rect">
            <a:avLst/>
          </a:prstGeom>
          <a:noFill/>
          <a:ln/>
        </p:spPr>
        <p:txBody>
          <a:bodyPr wrap="square" rtlCol="0" anchor="ctr"/>
          <a:lstStyle/>
          <a:p>
            <a:pPr indent="0" marL="0">
              <a:buNone/>
            </a:pPr>
            <a:r>
              <a:rPr lang="en-US" sz="1600" i="1" dirty="0">
                <a:solidFill>
                  <a:srgbClr val="AABBCC"/>
                </a:solidFill>
                <a:latin typeface="Calibri" pitchFamily="34" charset="0"/>
                <a:ea typeface="Calibri" pitchFamily="34" charset="-122"/>
                <a:cs typeface="Calibri" pitchFamily="34" charset="-120"/>
              </a:rPr>
              <a:t>Garantiza que una clase tenga una única instancia y proporciona</a:t>
            </a:r>
            <a:endParaRPr lang="en-US" sz="1600" dirty="0"/>
          </a:p>
          <a:p>
            <a:pPr indent="0" marL="0">
              <a:buNone/>
            </a:pPr>
            <a:r>
              <a:rPr lang="en-US" sz="1600" i="1" dirty="0">
                <a:solidFill>
                  <a:srgbClr val="AABBCC"/>
                </a:solidFill>
                <a:latin typeface="Calibri" pitchFamily="34" charset="0"/>
                <a:ea typeface="Calibri" pitchFamily="34" charset="-122"/>
                <a:cs typeface="Calibri" pitchFamily="34" charset="-120"/>
              </a:rPr>
              <a:t>un punto de acceso global a ella.</a:t>
            </a:r>
            <a:endParaRPr lang="en-US" sz="1600" dirty="0"/>
          </a:p>
        </p:txBody>
      </p:sp>
      <p:sp>
        <p:nvSpPr>
          <p:cNvPr id="8" name="Shape 6"/>
          <p:cNvSpPr/>
          <p:nvPr/>
        </p:nvSpPr>
        <p:spPr>
          <a:xfrm>
            <a:off x="457200" y="3493008"/>
            <a:ext cx="5943600" cy="0"/>
          </a:xfrm>
          <a:prstGeom prst="line">
            <a:avLst/>
          </a:prstGeom>
          <a:noFill/>
          <a:ln w="25400">
            <a:solidFill>
              <a:srgbClr val="39A900"/>
            </a:solidFill>
            <a:prstDash val="solid"/>
          </a:ln>
        </p:spPr>
      </p:sp>
      <p:sp>
        <p:nvSpPr>
          <p:cNvPr id="9" name="Text 7"/>
          <p:cNvSpPr/>
          <p:nvPr/>
        </p:nvSpPr>
        <p:spPr>
          <a:xfrm>
            <a:off x="457200" y="3639312"/>
            <a:ext cx="7315200" cy="320040"/>
          </a:xfrm>
          <a:prstGeom prst="rect">
            <a:avLst/>
          </a:prstGeom>
          <a:noFill/>
          <a:ln/>
        </p:spPr>
        <p:txBody>
          <a:bodyPr wrap="square" rtlCol="0" anchor="ctr"/>
          <a:lstStyle/>
          <a:p>
            <a:pPr indent="0" marL="0">
              <a:buNone/>
            </a:pPr>
            <a:r>
              <a:rPr lang="en-US" sz="1200" dirty="0">
                <a:solidFill>
                  <a:srgbClr val="7A9CC0"/>
                </a:solidFill>
                <a:latin typeface="Calibri" pitchFamily="34" charset="0"/>
                <a:ea typeface="Calibri" pitchFamily="34" charset="-122"/>
                <a:cs typeface="Calibri" pitchFamily="34" charset="-120"/>
              </a:rPr>
              <a:t>Almacén Don José de Chiquinquirá  •  Boyacá, Colombia</a:t>
            </a:r>
            <a:endParaRPr lang="en-US" sz="1200" dirty="0"/>
          </a:p>
        </p:txBody>
      </p:sp>
      <p:sp>
        <p:nvSpPr>
          <p:cNvPr id="10" name="Shape 8"/>
          <p:cNvSpPr/>
          <p:nvPr/>
        </p:nvSpPr>
        <p:spPr>
          <a:xfrm>
            <a:off x="0" y="4846320"/>
            <a:ext cx="9144000" cy="297180"/>
          </a:xfrm>
          <a:prstGeom prst="rect">
            <a:avLst/>
          </a:prstGeom>
          <a:solidFill>
            <a:srgbClr val="1F3864"/>
          </a:solidFill>
          <a:ln w="12700">
            <a:solidFill>
              <a:srgbClr val="1F3864"/>
            </a:solidFill>
            <a:prstDash val="solid"/>
          </a:ln>
        </p:spPr>
      </p:sp>
      <p:sp>
        <p:nvSpPr>
          <p:cNvPr id="11" name="Text 9"/>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12" name="Text 10"/>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22/32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9E0B"/>
          </a:solidFill>
          <a:ln w="12700">
            <a:solidFill>
              <a:srgbClr val="F59E0B"/>
            </a:solidFill>
            <a:prstDash val="solid"/>
          </a:ln>
        </p:spPr>
      </p:sp>
      <p:sp>
        <p:nvSpPr>
          <p:cNvPr id="3" name="Shape 1"/>
          <p:cNvSpPr/>
          <p:nvPr/>
        </p:nvSpPr>
        <p:spPr>
          <a:xfrm>
            <a:off x="0" y="109728"/>
            <a:ext cx="73152" cy="5033772"/>
          </a:xfrm>
          <a:prstGeom prst="rect">
            <a:avLst/>
          </a:prstGeom>
          <a:solidFill>
            <a:srgbClr val="F59E0B"/>
          </a:solidFill>
          <a:ln w="12700">
            <a:solidFill>
              <a:srgbClr val="F59E0B"/>
            </a:solidFill>
            <a:prstDash val="solid"/>
          </a:ln>
        </p:spPr>
      </p:sp>
      <p:sp>
        <p:nvSpPr>
          <p:cNvPr id="4" name="Text 2"/>
          <p:cNvSpPr/>
          <p:nvPr/>
        </p:nvSpPr>
        <p:spPr>
          <a:xfrm>
            <a:off x="274320" y="182880"/>
            <a:ext cx="8595360" cy="530352"/>
          </a:xfrm>
          <a:prstGeom prst="rect">
            <a:avLst/>
          </a:prstGeom>
          <a:noFill/>
          <a:ln/>
        </p:spPr>
        <p:txBody>
          <a:bodyPr wrap="square" rtlCol="0" anchor="ctr"/>
          <a:lstStyle/>
          <a:p>
            <a:pPr indent="0" marL="0">
              <a:buNone/>
            </a:pPr>
            <a:r>
              <a:rPr lang="en-US" sz="2200" b="1" dirty="0">
                <a:solidFill>
                  <a:srgbClr val="1F3864"/>
                </a:solidFill>
                <a:latin typeface="Calibri Black" pitchFamily="34" charset="0"/>
                <a:ea typeface="Calibri Black" pitchFamily="34" charset="-122"/>
                <a:cs typeface="Calibri Black" pitchFamily="34" charset="-120"/>
              </a:rPr>
              <a:t>Singleton — Definición y Propósito</a:t>
            </a:r>
            <a:endParaRPr lang="en-US" sz="2200" dirty="0"/>
          </a:p>
        </p:txBody>
      </p:sp>
      <p:sp>
        <p:nvSpPr>
          <p:cNvPr id="5" name="Shape 3"/>
          <p:cNvSpPr/>
          <p:nvPr/>
        </p:nvSpPr>
        <p:spPr>
          <a:xfrm>
            <a:off x="228600" y="822960"/>
            <a:ext cx="4206240" cy="138988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6" name="Shape 4"/>
          <p:cNvSpPr/>
          <p:nvPr/>
        </p:nvSpPr>
        <p:spPr>
          <a:xfrm>
            <a:off x="228600" y="822960"/>
            <a:ext cx="64008" cy="1389888"/>
          </a:xfrm>
          <a:prstGeom prst="rect">
            <a:avLst/>
          </a:prstGeom>
          <a:solidFill>
            <a:srgbClr val="F59E0B"/>
          </a:solidFill>
          <a:ln w="12700">
            <a:solidFill>
              <a:srgbClr val="F59E0B"/>
            </a:solidFill>
            <a:prstDash val="solid"/>
          </a:ln>
        </p:spPr>
      </p:sp>
      <p:sp>
        <p:nvSpPr>
          <p:cNvPr id="7" name="Text 5"/>
          <p:cNvSpPr/>
          <p:nvPr/>
        </p:nvSpPr>
        <p:spPr>
          <a:xfrm>
            <a:off x="365760" y="914400"/>
            <a:ext cx="402336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¿Qué garantiza?</a:t>
            </a:r>
            <a:endParaRPr lang="en-US" sz="1100" dirty="0"/>
          </a:p>
        </p:txBody>
      </p:sp>
      <p:sp>
        <p:nvSpPr>
          <p:cNvPr id="8" name="Text 6"/>
          <p:cNvSpPr/>
          <p:nvPr/>
        </p:nvSpPr>
        <p:spPr>
          <a:xfrm>
            <a:off x="365760" y="1152144"/>
            <a:ext cx="4023360" cy="987552"/>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Una sola instancia en toda la aplicación. Todos los módulos que pidan InventarioAlmacen.getInstance() reciben EXACTAMENTE el mismo objeto. No hay dos inventarios distintos.</a:t>
            </a:r>
            <a:endParaRPr lang="en-US" sz="1000" dirty="0"/>
          </a:p>
        </p:txBody>
      </p:sp>
      <p:sp>
        <p:nvSpPr>
          <p:cNvPr id="9" name="Shape 7"/>
          <p:cNvSpPr/>
          <p:nvPr/>
        </p:nvSpPr>
        <p:spPr>
          <a:xfrm>
            <a:off x="228600" y="2286000"/>
            <a:ext cx="4206240" cy="138988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0" name="Shape 8"/>
          <p:cNvSpPr/>
          <p:nvPr/>
        </p:nvSpPr>
        <p:spPr>
          <a:xfrm>
            <a:off x="228600" y="2286000"/>
            <a:ext cx="64008" cy="1389888"/>
          </a:xfrm>
          <a:prstGeom prst="rect">
            <a:avLst/>
          </a:prstGeom>
          <a:solidFill>
            <a:srgbClr val="F59E0B"/>
          </a:solidFill>
          <a:ln w="12700">
            <a:solidFill>
              <a:srgbClr val="F59E0B"/>
            </a:solidFill>
            <a:prstDash val="solid"/>
          </a:ln>
        </p:spPr>
      </p:sp>
      <p:sp>
        <p:nvSpPr>
          <p:cNvPr id="11" name="Text 9"/>
          <p:cNvSpPr/>
          <p:nvPr/>
        </p:nvSpPr>
        <p:spPr>
          <a:xfrm>
            <a:off x="365760" y="2377440"/>
            <a:ext cx="402336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En el Almacén Don José</a:t>
            </a:r>
            <a:endParaRPr lang="en-US" sz="1100" dirty="0"/>
          </a:p>
        </p:txBody>
      </p:sp>
      <p:sp>
        <p:nvSpPr>
          <p:cNvPr id="12" name="Text 10"/>
          <p:cNvSpPr/>
          <p:nvPr/>
        </p:nvSpPr>
        <p:spPr>
          <a:xfrm>
            <a:off x="365760" y="2615184"/>
            <a:ext cx="4023360" cy="987552"/>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El inventario es el recurso crítico compartido. Si el vendedor y el administrador tuvieran instancias diferentes, una venta registrada por el vendedor no se reflejaría en el inventario del admin.</a:t>
            </a:r>
            <a:endParaRPr lang="en-US" sz="1000" dirty="0"/>
          </a:p>
        </p:txBody>
      </p:sp>
      <p:sp>
        <p:nvSpPr>
          <p:cNvPr id="13" name="Shape 11"/>
          <p:cNvSpPr/>
          <p:nvPr/>
        </p:nvSpPr>
        <p:spPr>
          <a:xfrm>
            <a:off x="4617720" y="822960"/>
            <a:ext cx="4297680" cy="285292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4" name="Text 12"/>
          <p:cNvSpPr/>
          <p:nvPr/>
        </p:nvSpPr>
        <p:spPr>
          <a:xfrm>
            <a:off x="4709160" y="868680"/>
            <a:ext cx="4114800" cy="320040"/>
          </a:xfrm>
          <a:prstGeom prst="rect">
            <a:avLst/>
          </a:prstGeom>
          <a:noFill/>
          <a:ln/>
        </p:spPr>
        <p:txBody>
          <a:bodyPr wrap="square"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3 elementos del Singleton</a:t>
            </a:r>
            <a:endParaRPr lang="en-US" sz="1200" dirty="0"/>
          </a:p>
        </p:txBody>
      </p:sp>
      <p:sp>
        <p:nvSpPr>
          <p:cNvPr id="15" name="Shape 13"/>
          <p:cNvSpPr/>
          <p:nvPr/>
        </p:nvSpPr>
        <p:spPr>
          <a:xfrm>
            <a:off x="4709160" y="1261872"/>
            <a:ext cx="384048" cy="749808"/>
          </a:xfrm>
          <a:prstGeom prst="rect">
            <a:avLst/>
          </a:prstGeom>
          <a:solidFill>
            <a:srgbClr val="F59E0B"/>
          </a:solidFill>
          <a:ln w="12700">
            <a:solidFill>
              <a:srgbClr val="F59E0B"/>
            </a:solidFill>
            <a:prstDash val="solid"/>
          </a:ln>
        </p:spPr>
      </p:sp>
      <p:sp>
        <p:nvSpPr>
          <p:cNvPr id="16" name="Text 14"/>
          <p:cNvSpPr/>
          <p:nvPr/>
        </p:nvSpPr>
        <p:spPr>
          <a:xfrm>
            <a:off x="4709160" y="1261872"/>
            <a:ext cx="384048" cy="749808"/>
          </a:xfrm>
          <a:prstGeom prst="rect">
            <a:avLst/>
          </a:prstGeom>
          <a:noFill/>
          <a:ln/>
        </p:spPr>
        <p:txBody>
          <a:bodyPr wrap="square" rtlCol="0" anchor="ctr"/>
          <a:lstStyle/>
          <a:p>
            <a:pPr algn="ctr" indent="0" marL="0">
              <a:buNone/>
            </a:pPr>
            <a:r>
              <a:rPr lang="en-US" sz="1600" b="1" dirty="0">
                <a:solidFill>
                  <a:srgbClr val="FFFFFF"/>
                </a:solidFill>
                <a:latin typeface="Calibri Black" pitchFamily="34" charset="0"/>
                <a:ea typeface="Calibri Black" pitchFamily="34" charset="-122"/>
                <a:cs typeface="Calibri Black" pitchFamily="34" charset="-120"/>
              </a:rPr>
              <a:t>1</a:t>
            </a:r>
            <a:endParaRPr lang="en-US" sz="1600" dirty="0"/>
          </a:p>
        </p:txBody>
      </p:sp>
      <p:sp>
        <p:nvSpPr>
          <p:cNvPr id="17" name="Shape 15"/>
          <p:cNvSpPr/>
          <p:nvPr/>
        </p:nvSpPr>
        <p:spPr>
          <a:xfrm>
            <a:off x="5093208" y="1261872"/>
            <a:ext cx="3730752" cy="749808"/>
          </a:xfrm>
          <a:prstGeom prst="rect">
            <a:avLst/>
          </a:prstGeom>
          <a:solidFill>
            <a:srgbClr val="F4F6F8"/>
          </a:solidFill>
          <a:ln w="12700">
            <a:solidFill>
              <a:srgbClr val="E2E8F0"/>
            </a:solidFill>
            <a:prstDash val="solid"/>
          </a:ln>
        </p:spPr>
      </p:sp>
      <p:sp>
        <p:nvSpPr>
          <p:cNvPr id="18" name="Text 16"/>
          <p:cNvSpPr/>
          <p:nvPr/>
        </p:nvSpPr>
        <p:spPr>
          <a:xfrm>
            <a:off x="5166360" y="1280160"/>
            <a:ext cx="3566160" cy="274320"/>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Constructor PRIVADO</a:t>
            </a:r>
            <a:endParaRPr lang="en-US" sz="1100" dirty="0"/>
          </a:p>
        </p:txBody>
      </p:sp>
      <p:sp>
        <p:nvSpPr>
          <p:cNvPr id="19" name="Text 17"/>
          <p:cNvSpPr/>
          <p:nvPr/>
        </p:nvSpPr>
        <p:spPr>
          <a:xfrm>
            <a:off x="5166360" y="1554480"/>
            <a:ext cx="3566160" cy="41148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Nadie puede usar 'new' desde fuera de la clase.</a:t>
            </a:r>
            <a:endParaRPr lang="en-US" sz="950" dirty="0"/>
          </a:p>
        </p:txBody>
      </p:sp>
      <p:sp>
        <p:nvSpPr>
          <p:cNvPr id="20" name="Shape 18"/>
          <p:cNvSpPr/>
          <p:nvPr/>
        </p:nvSpPr>
        <p:spPr>
          <a:xfrm>
            <a:off x="4709160" y="2121408"/>
            <a:ext cx="384048" cy="749808"/>
          </a:xfrm>
          <a:prstGeom prst="rect">
            <a:avLst/>
          </a:prstGeom>
          <a:solidFill>
            <a:srgbClr val="F59E0B"/>
          </a:solidFill>
          <a:ln w="12700">
            <a:solidFill>
              <a:srgbClr val="F59E0B"/>
            </a:solidFill>
            <a:prstDash val="solid"/>
          </a:ln>
        </p:spPr>
      </p:sp>
      <p:sp>
        <p:nvSpPr>
          <p:cNvPr id="21" name="Text 19"/>
          <p:cNvSpPr/>
          <p:nvPr/>
        </p:nvSpPr>
        <p:spPr>
          <a:xfrm>
            <a:off x="4709160" y="2121408"/>
            <a:ext cx="384048" cy="749808"/>
          </a:xfrm>
          <a:prstGeom prst="rect">
            <a:avLst/>
          </a:prstGeom>
          <a:noFill/>
          <a:ln/>
        </p:spPr>
        <p:txBody>
          <a:bodyPr wrap="square" rtlCol="0" anchor="ctr"/>
          <a:lstStyle/>
          <a:p>
            <a:pPr algn="ctr" indent="0" marL="0">
              <a:buNone/>
            </a:pPr>
            <a:r>
              <a:rPr lang="en-US" sz="1600" b="1" dirty="0">
                <a:solidFill>
                  <a:srgbClr val="FFFFFF"/>
                </a:solidFill>
                <a:latin typeface="Calibri Black" pitchFamily="34" charset="0"/>
                <a:ea typeface="Calibri Black" pitchFamily="34" charset="-122"/>
                <a:cs typeface="Calibri Black" pitchFamily="34" charset="-120"/>
              </a:rPr>
              <a:t>2</a:t>
            </a:r>
            <a:endParaRPr lang="en-US" sz="1600" dirty="0"/>
          </a:p>
        </p:txBody>
      </p:sp>
      <p:sp>
        <p:nvSpPr>
          <p:cNvPr id="22" name="Shape 20"/>
          <p:cNvSpPr/>
          <p:nvPr/>
        </p:nvSpPr>
        <p:spPr>
          <a:xfrm>
            <a:off x="5093208" y="2121408"/>
            <a:ext cx="3730752" cy="749808"/>
          </a:xfrm>
          <a:prstGeom prst="rect">
            <a:avLst/>
          </a:prstGeom>
          <a:solidFill>
            <a:srgbClr val="F4F6F8"/>
          </a:solidFill>
          <a:ln w="12700">
            <a:solidFill>
              <a:srgbClr val="E2E8F0"/>
            </a:solidFill>
            <a:prstDash val="solid"/>
          </a:ln>
        </p:spPr>
      </p:sp>
      <p:sp>
        <p:nvSpPr>
          <p:cNvPr id="23" name="Text 21"/>
          <p:cNvSpPr/>
          <p:nvPr/>
        </p:nvSpPr>
        <p:spPr>
          <a:xfrm>
            <a:off x="5166360" y="2139696"/>
            <a:ext cx="3566160" cy="274320"/>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Variable estática volatile</a:t>
            </a:r>
            <a:endParaRPr lang="en-US" sz="1100" dirty="0"/>
          </a:p>
        </p:txBody>
      </p:sp>
      <p:sp>
        <p:nvSpPr>
          <p:cNvPr id="24" name="Text 22"/>
          <p:cNvSpPr/>
          <p:nvPr/>
        </p:nvSpPr>
        <p:spPr>
          <a:xfrm>
            <a:off x="5166360" y="2414016"/>
            <a:ext cx="3566160" cy="41148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Almacena la única instancia. volatile garantiza visibilidad entre hilos.</a:t>
            </a:r>
            <a:endParaRPr lang="en-US" sz="950" dirty="0"/>
          </a:p>
        </p:txBody>
      </p:sp>
      <p:sp>
        <p:nvSpPr>
          <p:cNvPr id="25" name="Shape 23"/>
          <p:cNvSpPr/>
          <p:nvPr/>
        </p:nvSpPr>
        <p:spPr>
          <a:xfrm>
            <a:off x="4709160" y="2980944"/>
            <a:ext cx="384048" cy="749808"/>
          </a:xfrm>
          <a:prstGeom prst="rect">
            <a:avLst/>
          </a:prstGeom>
          <a:solidFill>
            <a:srgbClr val="F59E0B"/>
          </a:solidFill>
          <a:ln w="12700">
            <a:solidFill>
              <a:srgbClr val="F59E0B"/>
            </a:solidFill>
            <a:prstDash val="solid"/>
          </a:ln>
        </p:spPr>
      </p:sp>
      <p:sp>
        <p:nvSpPr>
          <p:cNvPr id="26" name="Text 24"/>
          <p:cNvSpPr/>
          <p:nvPr/>
        </p:nvSpPr>
        <p:spPr>
          <a:xfrm>
            <a:off x="4709160" y="2980944"/>
            <a:ext cx="384048" cy="749808"/>
          </a:xfrm>
          <a:prstGeom prst="rect">
            <a:avLst/>
          </a:prstGeom>
          <a:noFill/>
          <a:ln/>
        </p:spPr>
        <p:txBody>
          <a:bodyPr wrap="square" rtlCol="0" anchor="ctr"/>
          <a:lstStyle/>
          <a:p>
            <a:pPr algn="ctr" indent="0" marL="0">
              <a:buNone/>
            </a:pPr>
            <a:r>
              <a:rPr lang="en-US" sz="1600" b="1" dirty="0">
                <a:solidFill>
                  <a:srgbClr val="FFFFFF"/>
                </a:solidFill>
                <a:latin typeface="Calibri Black" pitchFamily="34" charset="0"/>
                <a:ea typeface="Calibri Black" pitchFamily="34" charset="-122"/>
                <a:cs typeface="Calibri Black" pitchFamily="34" charset="-120"/>
              </a:rPr>
              <a:t>3</a:t>
            </a:r>
            <a:endParaRPr lang="en-US" sz="1600" dirty="0"/>
          </a:p>
        </p:txBody>
      </p:sp>
      <p:sp>
        <p:nvSpPr>
          <p:cNvPr id="27" name="Shape 25"/>
          <p:cNvSpPr/>
          <p:nvPr/>
        </p:nvSpPr>
        <p:spPr>
          <a:xfrm>
            <a:off x="5093208" y="2980944"/>
            <a:ext cx="3730752" cy="749808"/>
          </a:xfrm>
          <a:prstGeom prst="rect">
            <a:avLst/>
          </a:prstGeom>
          <a:solidFill>
            <a:srgbClr val="F4F6F8"/>
          </a:solidFill>
          <a:ln w="12700">
            <a:solidFill>
              <a:srgbClr val="E2E8F0"/>
            </a:solidFill>
            <a:prstDash val="solid"/>
          </a:ln>
        </p:spPr>
      </p:sp>
      <p:sp>
        <p:nvSpPr>
          <p:cNvPr id="28" name="Text 26"/>
          <p:cNvSpPr/>
          <p:nvPr/>
        </p:nvSpPr>
        <p:spPr>
          <a:xfrm>
            <a:off x="5166360" y="2999232"/>
            <a:ext cx="3566160" cy="274320"/>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Método getInstance()</a:t>
            </a:r>
            <a:endParaRPr lang="en-US" sz="1100" dirty="0"/>
          </a:p>
        </p:txBody>
      </p:sp>
      <p:sp>
        <p:nvSpPr>
          <p:cNvPr id="29" name="Text 27"/>
          <p:cNvSpPr/>
          <p:nvPr/>
        </p:nvSpPr>
        <p:spPr>
          <a:xfrm>
            <a:off x="5166360" y="3273552"/>
            <a:ext cx="3566160" cy="41148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Double-checked locking: sincronizado solo la primera vez para máximo rendimiento.</a:t>
            </a:r>
            <a:endParaRPr lang="en-US" sz="950" dirty="0"/>
          </a:p>
        </p:txBody>
      </p:sp>
      <p:sp>
        <p:nvSpPr>
          <p:cNvPr id="30" name="Shape 28"/>
          <p:cNvSpPr/>
          <p:nvPr/>
        </p:nvSpPr>
        <p:spPr>
          <a:xfrm>
            <a:off x="0" y="4846320"/>
            <a:ext cx="9144000" cy="297180"/>
          </a:xfrm>
          <a:prstGeom prst="rect">
            <a:avLst/>
          </a:prstGeom>
          <a:solidFill>
            <a:srgbClr val="1F3864"/>
          </a:solidFill>
          <a:ln w="12700">
            <a:solidFill>
              <a:srgbClr val="1F3864"/>
            </a:solidFill>
            <a:prstDash val="solid"/>
          </a:ln>
        </p:spPr>
      </p:sp>
      <p:sp>
        <p:nvSpPr>
          <p:cNvPr id="31" name="Text 29"/>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32" name="Text 30"/>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23/32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9E0B"/>
          </a:solidFill>
          <a:ln w="12700">
            <a:solidFill>
              <a:srgbClr val="F59E0B"/>
            </a:solidFill>
            <a:prstDash val="solid"/>
          </a:ln>
        </p:spPr>
      </p:sp>
      <p:sp>
        <p:nvSpPr>
          <p:cNvPr id="3" name="Shape 1"/>
          <p:cNvSpPr/>
          <p:nvPr/>
        </p:nvSpPr>
        <p:spPr>
          <a:xfrm>
            <a:off x="0" y="109728"/>
            <a:ext cx="73152" cy="5033772"/>
          </a:xfrm>
          <a:prstGeom prst="rect">
            <a:avLst/>
          </a:prstGeom>
          <a:solidFill>
            <a:srgbClr val="F59E0B"/>
          </a:solidFill>
          <a:ln w="12700">
            <a:solidFill>
              <a:srgbClr val="F59E0B"/>
            </a:solidFill>
            <a:prstDash val="solid"/>
          </a:ln>
        </p:spPr>
      </p:sp>
      <p:sp>
        <p:nvSpPr>
          <p:cNvPr id="4" name="Text 2"/>
          <p:cNvSpPr/>
          <p:nvPr/>
        </p:nvSpPr>
        <p:spPr>
          <a:xfrm>
            <a:off x="274320" y="182880"/>
            <a:ext cx="8595360" cy="530352"/>
          </a:xfrm>
          <a:prstGeom prst="rect">
            <a:avLst/>
          </a:prstGeom>
          <a:noFill/>
          <a:ln/>
        </p:spPr>
        <p:txBody>
          <a:bodyPr wrap="square" rtlCol="0" anchor="ctr"/>
          <a:lstStyle/>
          <a:p>
            <a:pPr indent="0" marL="0">
              <a:buNone/>
            </a:pPr>
            <a:r>
              <a:rPr lang="en-US" sz="2200" b="1" dirty="0">
                <a:solidFill>
                  <a:srgbClr val="1F3864"/>
                </a:solidFill>
                <a:latin typeface="Calibri Black" pitchFamily="34" charset="0"/>
                <a:ea typeface="Calibri Black" pitchFamily="34" charset="-122"/>
                <a:cs typeface="Calibri Black" pitchFamily="34" charset="-120"/>
              </a:rPr>
              <a:t>Singleton — Problema y Solución</a:t>
            </a:r>
            <a:endParaRPr lang="en-US" sz="2200" dirty="0"/>
          </a:p>
        </p:txBody>
      </p:sp>
      <p:sp>
        <p:nvSpPr>
          <p:cNvPr id="5" name="Shape 3"/>
          <p:cNvSpPr/>
          <p:nvPr/>
        </p:nvSpPr>
        <p:spPr>
          <a:xfrm>
            <a:off x="228600" y="822960"/>
            <a:ext cx="8686800" cy="13258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6" name="Shape 4"/>
          <p:cNvSpPr/>
          <p:nvPr/>
        </p:nvSpPr>
        <p:spPr>
          <a:xfrm>
            <a:off x="228600" y="822960"/>
            <a:ext cx="64008" cy="1325880"/>
          </a:xfrm>
          <a:prstGeom prst="rect">
            <a:avLst/>
          </a:prstGeom>
          <a:solidFill>
            <a:srgbClr val="DC2626"/>
          </a:solidFill>
          <a:ln w="12700">
            <a:solidFill>
              <a:srgbClr val="DC2626"/>
            </a:solidFill>
            <a:prstDash val="solid"/>
          </a:ln>
        </p:spPr>
      </p:sp>
      <p:sp>
        <p:nvSpPr>
          <p:cNvPr id="7" name="Text 5"/>
          <p:cNvSpPr/>
          <p:nvPr/>
        </p:nvSpPr>
        <p:spPr>
          <a:xfrm>
            <a:off x="365760" y="914400"/>
            <a:ext cx="850392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 Sin Singleton (Problema)</a:t>
            </a:r>
            <a:endParaRPr lang="en-US" sz="1100" dirty="0"/>
          </a:p>
        </p:txBody>
      </p:sp>
      <p:sp>
        <p:nvSpPr>
          <p:cNvPr id="8" name="Text 6"/>
          <p:cNvSpPr/>
          <p:nvPr/>
        </p:nvSpPr>
        <p:spPr>
          <a:xfrm>
            <a:off x="365760" y="1152144"/>
            <a:ext cx="8503920" cy="923544"/>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InventarioAlmacen inv1 = new InventarioAlmacen(); // Vendedor</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InventarioAlmacen inv2 = new InventarioAlmacen(); // Admin</a:t>
            </a:r>
            <a:endParaRPr lang="en-US" sz="1000" dirty="0"/>
          </a:p>
          <a:p>
            <a:pPr indent="0" marL="0">
              <a:buNone/>
            </a:pP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inv1.vender("Ruana", 5); // Descuenta del inventario del vendedor</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inv2.mostrar();          // El admin ve el stock original ← ¡INCONSISTENCIA!</a:t>
            </a:r>
            <a:endParaRPr lang="en-US" sz="1000" dirty="0"/>
          </a:p>
        </p:txBody>
      </p:sp>
      <p:sp>
        <p:nvSpPr>
          <p:cNvPr id="9" name="Shape 7"/>
          <p:cNvSpPr/>
          <p:nvPr/>
        </p:nvSpPr>
        <p:spPr>
          <a:xfrm>
            <a:off x="228600" y="2240280"/>
            <a:ext cx="8686800" cy="146304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0" name="Shape 8"/>
          <p:cNvSpPr/>
          <p:nvPr/>
        </p:nvSpPr>
        <p:spPr>
          <a:xfrm>
            <a:off x="228600" y="2240280"/>
            <a:ext cx="64008" cy="1463040"/>
          </a:xfrm>
          <a:prstGeom prst="rect">
            <a:avLst/>
          </a:prstGeom>
          <a:solidFill>
            <a:srgbClr val="2D8200"/>
          </a:solidFill>
          <a:ln w="12700">
            <a:solidFill>
              <a:srgbClr val="2D8200"/>
            </a:solidFill>
            <a:prstDash val="solid"/>
          </a:ln>
        </p:spPr>
      </p:sp>
      <p:sp>
        <p:nvSpPr>
          <p:cNvPr id="11" name="Text 9"/>
          <p:cNvSpPr/>
          <p:nvPr/>
        </p:nvSpPr>
        <p:spPr>
          <a:xfrm>
            <a:off x="365760" y="2331720"/>
            <a:ext cx="850392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 Con Singleton (Solución)</a:t>
            </a:r>
            <a:endParaRPr lang="en-US" sz="1100" dirty="0"/>
          </a:p>
        </p:txBody>
      </p:sp>
      <p:sp>
        <p:nvSpPr>
          <p:cNvPr id="12" name="Text 10"/>
          <p:cNvSpPr/>
          <p:nvPr/>
        </p:nvSpPr>
        <p:spPr>
          <a:xfrm>
            <a:off x="365760" y="2569464"/>
            <a:ext cx="8503920" cy="1060704"/>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InventarioAlmacen inv1 = InventarioAlmacen.getInstance();</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InventarioAlmacen inv2 = InventarioAlmacen.getInstance();</a:t>
            </a:r>
            <a:endParaRPr lang="en-US" sz="1000" dirty="0"/>
          </a:p>
          <a:p>
            <a:pPr indent="0" marL="0">
              <a:buNone/>
            </a:pP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inv1.vender("Ruana", 5); // Ambas referencias al mismo objeto</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inv2.mostrar();          // Refleja la venta correctamente ✓</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System.out.println(inv1 == inv2); // true — misma instancia</a:t>
            </a:r>
            <a:endParaRPr lang="en-US" sz="1000" dirty="0"/>
          </a:p>
        </p:txBody>
      </p:sp>
      <p:sp>
        <p:nvSpPr>
          <p:cNvPr id="13" name="Shape 11"/>
          <p:cNvSpPr/>
          <p:nvPr/>
        </p:nvSpPr>
        <p:spPr>
          <a:xfrm>
            <a:off x="228600" y="3794760"/>
            <a:ext cx="8686800" cy="89611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4" name="Shape 12"/>
          <p:cNvSpPr/>
          <p:nvPr/>
        </p:nvSpPr>
        <p:spPr>
          <a:xfrm>
            <a:off x="228600" y="3794760"/>
            <a:ext cx="64008" cy="896112"/>
          </a:xfrm>
          <a:prstGeom prst="rect">
            <a:avLst/>
          </a:prstGeom>
          <a:solidFill>
            <a:srgbClr val="F59E0B"/>
          </a:solidFill>
          <a:ln w="12700">
            <a:solidFill>
              <a:srgbClr val="F59E0B"/>
            </a:solidFill>
            <a:prstDash val="solid"/>
          </a:ln>
        </p:spPr>
      </p:sp>
      <p:sp>
        <p:nvSpPr>
          <p:cNvPr id="15" name="Text 13"/>
          <p:cNvSpPr/>
          <p:nvPr/>
        </p:nvSpPr>
        <p:spPr>
          <a:xfrm>
            <a:off x="365760" y="3886200"/>
            <a:ext cx="850392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Thread-Safety con Double-Checked Locking</a:t>
            </a:r>
            <a:endParaRPr lang="en-US" sz="1100" dirty="0"/>
          </a:p>
        </p:txBody>
      </p:sp>
      <p:sp>
        <p:nvSpPr>
          <p:cNvPr id="16" name="Text 14"/>
          <p:cNvSpPr/>
          <p:nvPr/>
        </p:nvSpPr>
        <p:spPr>
          <a:xfrm>
            <a:off x="365760" y="4123944"/>
            <a:ext cx="8503920" cy="493776"/>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private static volatile InventarioAlmacen instancia;</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public static InventarioAlmacen getInstance() {</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if (instancia == null) {           // Primera verificación (sin lock)</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synchronized(InventarioAlmacen.class) {</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if (instancia == null)      // Segunda verificación (con lock)</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instancia = new InventarioAlmacen();</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return instancia;</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17" name="Shape 15"/>
          <p:cNvSpPr/>
          <p:nvPr/>
        </p:nvSpPr>
        <p:spPr>
          <a:xfrm>
            <a:off x="0" y="4846320"/>
            <a:ext cx="9144000" cy="297180"/>
          </a:xfrm>
          <a:prstGeom prst="rect">
            <a:avLst/>
          </a:prstGeom>
          <a:solidFill>
            <a:srgbClr val="1F3864"/>
          </a:solidFill>
          <a:ln w="12700">
            <a:solidFill>
              <a:srgbClr val="1F3864"/>
            </a:solidFill>
            <a:prstDash val="solid"/>
          </a:ln>
        </p:spPr>
      </p:sp>
      <p:sp>
        <p:nvSpPr>
          <p:cNvPr id="18" name="Text 16"/>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19" name="Text 17"/>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24/32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9E0B"/>
          </a:solidFill>
          <a:ln w="12700">
            <a:solidFill>
              <a:srgbClr val="F59E0B"/>
            </a:solidFill>
            <a:prstDash val="solid"/>
          </a:ln>
        </p:spPr>
      </p:sp>
      <p:sp>
        <p:nvSpPr>
          <p:cNvPr id="3" name="Text 1"/>
          <p:cNvSpPr/>
          <p:nvPr/>
        </p:nvSpPr>
        <p:spPr>
          <a:xfrm>
            <a:off x="274320" y="164592"/>
            <a:ext cx="8229600" cy="457200"/>
          </a:xfrm>
          <a:prstGeom prst="rect">
            <a:avLst/>
          </a:prstGeom>
          <a:noFill/>
          <a:ln/>
        </p:spPr>
        <p:txBody>
          <a:bodyPr wrap="square" rtlCol="0" anchor="ctr"/>
          <a:lstStyle/>
          <a:p>
            <a:pPr indent="0" marL="0">
              <a:buNone/>
            </a:pPr>
            <a:r>
              <a:rPr lang="en-US" sz="2000" b="1" dirty="0">
                <a:solidFill>
                  <a:srgbClr val="FFFFFF"/>
                </a:solidFill>
                <a:latin typeface="Calibri Black" pitchFamily="34" charset="0"/>
                <a:ea typeface="Calibri Black" pitchFamily="34" charset="-122"/>
                <a:cs typeface="Calibri Black" pitchFamily="34" charset="-120"/>
              </a:rPr>
              <a:t>Singleton — Código Java (Thread-Safe)</a:t>
            </a:r>
            <a:endParaRPr lang="en-US" sz="2000" dirty="0"/>
          </a:p>
        </p:txBody>
      </p:sp>
      <p:sp>
        <p:nvSpPr>
          <p:cNvPr id="4" name="Shape 2"/>
          <p:cNvSpPr/>
          <p:nvPr/>
        </p:nvSpPr>
        <p:spPr>
          <a:xfrm>
            <a:off x="182880" y="713232"/>
            <a:ext cx="8778240" cy="3822192"/>
          </a:xfrm>
          <a:prstGeom prst="rect">
            <a:avLst/>
          </a:prstGeom>
          <a:solidFill>
            <a:srgbClr val="0F172A"/>
          </a:solidFill>
          <a:ln w="12700">
            <a:solidFill>
              <a:srgbClr val="334155"/>
            </a:solidFill>
            <a:prstDash val="solid"/>
          </a:ln>
          <a:effectLst>
            <a:outerShdw sx="100000" sy="100000" kx="0" ky="0" algn="bl" rotWithShape="0" blurRad="101600" dist="38100" dir="8100000">
              <a:srgbClr val="000000">
                <a:alpha val="15000"/>
              </a:srgbClr>
            </a:outerShdw>
          </a:effectLst>
        </p:spPr>
      </p:sp>
      <p:sp>
        <p:nvSpPr>
          <p:cNvPr id="5" name="Shape 3"/>
          <p:cNvSpPr/>
          <p:nvPr/>
        </p:nvSpPr>
        <p:spPr>
          <a:xfrm>
            <a:off x="182880" y="713232"/>
            <a:ext cx="8778240" cy="201168"/>
          </a:xfrm>
          <a:prstGeom prst="rect">
            <a:avLst/>
          </a:prstGeom>
          <a:solidFill>
            <a:srgbClr val="1E293B"/>
          </a:solidFill>
          <a:ln w="12700">
            <a:solidFill>
              <a:srgbClr val="334155"/>
            </a:solidFill>
            <a:prstDash val="solid"/>
          </a:ln>
        </p:spPr>
      </p:sp>
      <p:sp>
        <p:nvSpPr>
          <p:cNvPr id="6" name="Text 4"/>
          <p:cNvSpPr/>
          <p:nvPr/>
        </p:nvSpPr>
        <p:spPr>
          <a:xfrm>
            <a:off x="274320" y="722376"/>
            <a:ext cx="8595360" cy="182880"/>
          </a:xfrm>
          <a:prstGeom prst="rect">
            <a:avLst/>
          </a:prstGeom>
          <a:noFill/>
          <a:ln/>
        </p:spPr>
        <p:txBody>
          <a:bodyPr wrap="square"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Java  •  Almacén Don José</a:t>
            </a:r>
            <a:endParaRPr lang="en-US" sz="750" dirty="0"/>
          </a:p>
        </p:txBody>
      </p:sp>
      <p:sp>
        <p:nvSpPr>
          <p:cNvPr id="7" name="Text 5"/>
          <p:cNvSpPr/>
          <p:nvPr/>
        </p:nvSpPr>
        <p:spPr>
          <a:xfrm>
            <a:off x="274320" y="932688"/>
            <a:ext cx="8595360" cy="3547872"/>
          </a:xfrm>
          <a:prstGeom prst="rect">
            <a:avLst/>
          </a:prstGeom>
          <a:noFill/>
          <a:ln/>
        </p:spPr>
        <p:txBody>
          <a:bodyPr wrap="square" rtlCol="0" anchor="t"/>
          <a:lstStyle/>
          <a:p>
            <a:pPr indent="0" marL="0">
              <a:buNone/>
            </a:pPr>
            <a:r>
              <a:rPr lang="en-US" sz="850" dirty="0">
                <a:solidFill>
                  <a:srgbClr val="E2E8F0"/>
                </a:solidFill>
                <a:latin typeface="Consolas" pitchFamily="34" charset="0"/>
                <a:ea typeface="Consolas" pitchFamily="34" charset="-122"/>
                <a:cs typeface="Consolas" pitchFamily="34" charset="-120"/>
              </a:rPr>
              <a:t>public class InventarioAlmacen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private static volatile InventarioAlmacen instancia;</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private Map&lt;String, Integer&gt; stock;</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private Map&lt;String, Double&gt;  precios;</a:t>
            </a:r>
            <a:endParaRPr lang="en-US" sz="850" dirty="0"/>
          </a:p>
          <a:p>
            <a:pPr indent="0" marL="0">
              <a:buNone/>
            </a:pP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 Constructor PRIVADO</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private InventarioAlmacen()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stock = new HashMap&lt;&gt;();</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stock.put("Ruana lana Nobsa", 30);</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stock.put("Camisa artesanal", 50);</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System.out.println("Inventario inicializado.");</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a:t>
            </a:r>
            <a:endParaRPr lang="en-US" sz="850" dirty="0"/>
          </a:p>
          <a:p>
            <a:pPr indent="0" marL="0">
              <a:buNone/>
            </a:pP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static InventarioAlmacen getInstance()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if (instancia == null)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synchronized (InventarioAlmacen.class)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if (instancia == null)</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instancia = new InventarioAlmacen();</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return instancia;</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boolean vender(String prenda, int cant) { ...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void mostrarInventario() { ...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a:t>
            </a:r>
            <a:endParaRPr lang="en-US" sz="850" dirty="0"/>
          </a:p>
        </p:txBody>
      </p:sp>
      <p:sp>
        <p:nvSpPr>
          <p:cNvPr id="8" name="Shape 6"/>
          <p:cNvSpPr/>
          <p:nvPr/>
        </p:nvSpPr>
        <p:spPr>
          <a:xfrm>
            <a:off x="0" y="4846320"/>
            <a:ext cx="9144000" cy="297180"/>
          </a:xfrm>
          <a:prstGeom prst="rect">
            <a:avLst/>
          </a:prstGeom>
          <a:solidFill>
            <a:srgbClr val="1F3864"/>
          </a:solidFill>
          <a:ln w="12700">
            <a:solidFill>
              <a:srgbClr val="1F3864"/>
            </a:solidFill>
            <a:prstDash val="solid"/>
          </a:ln>
        </p:spPr>
      </p:sp>
      <p:sp>
        <p:nvSpPr>
          <p:cNvPr id="9" name="Text 7"/>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10" name="Text 8"/>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25/32</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9E0B"/>
          </a:solidFill>
          <a:ln w="12700">
            <a:solidFill>
              <a:srgbClr val="F59E0B"/>
            </a:solidFill>
            <a:prstDash val="solid"/>
          </a:ln>
        </p:spPr>
      </p:sp>
      <p:sp>
        <p:nvSpPr>
          <p:cNvPr id="3" name="Shape 1"/>
          <p:cNvSpPr/>
          <p:nvPr/>
        </p:nvSpPr>
        <p:spPr>
          <a:xfrm>
            <a:off x="0" y="109728"/>
            <a:ext cx="73152" cy="5033772"/>
          </a:xfrm>
          <a:prstGeom prst="rect">
            <a:avLst/>
          </a:prstGeom>
          <a:solidFill>
            <a:srgbClr val="F59E0B"/>
          </a:solidFill>
          <a:ln w="12700">
            <a:solidFill>
              <a:srgbClr val="F59E0B"/>
            </a:solidFill>
            <a:prstDash val="solid"/>
          </a:ln>
        </p:spPr>
      </p:sp>
      <p:sp>
        <p:nvSpPr>
          <p:cNvPr id="4" name="Text 2"/>
          <p:cNvSpPr/>
          <p:nvPr/>
        </p:nvSpPr>
        <p:spPr>
          <a:xfrm>
            <a:off x="274320" y="182880"/>
            <a:ext cx="8595360" cy="530352"/>
          </a:xfrm>
          <a:prstGeom prst="rect">
            <a:avLst/>
          </a:prstGeom>
          <a:noFill/>
          <a:ln/>
        </p:spPr>
        <p:txBody>
          <a:bodyPr wrap="square" rtlCol="0" anchor="ctr"/>
          <a:lstStyle/>
          <a:p>
            <a:pPr indent="0" marL="0">
              <a:buNone/>
            </a:pPr>
            <a:r>
              <a:rPr lang="en-US" sz="2200" b="1" dirty="0">
                <a:solidFill>
                  <a:srgbClr val="1F3864"/>
                </a:solidFill>
                <a:latin typeface="Calibri Black" pitchFamily="34" charset="0"/>
                <a:ea typeface="Calibri Black" pitchFamily="34" charset="-122"/>
                <a:cs typeface="Calibri Black" pitchFamily="34" charset="-120"/>
              </a:rPr>
              <a:t>Singleton — Aplicabilidad y Resumen</a:t>
            </a:r>
            <a:endParaRPr lang="en-US" sz="2200" dirty="0"/>
          </a:p>
        </p:txBody>
      </p:sp>
      <p:sp>
        <p:nvSpPr>
          <p:cNvPr id="5" name="Shape 3"/>
          <p:cNvSpPr/>
          <p:nvPr/>
        </p:nvSpPr>
        <p:spPr>
          <a:xfrm>
            <a:off x="228600" y="822960"/>
            <a:ext cx="4206240" cy="15544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6" name="Shape 4"/>
          <p:cNvSpPr/>
          <p:nvPr/>
        </p:nvSpPr>
        <p:spPr>
          <a:xfrm>
            <a:off x="228600" y="822960"/>
            <a:ext cx="64008" cy="1554480"/>
          </a:xfrm>
          <a:prstGeom prst="rect">
            <a:avLst/>
          </a:prstGeom>
          <a:solidFill>
            <a:srgbClr val="F59E0B"/>
          </a:solidFill>
          <a:ln w="12700">
            <a:solidFill>
              <a:srgbClr val="F59E0B"/>
            </a:solidFill>
            <a:prstDash val="solid"/>
          </a:ln>
        </p:spPr>
      </p:sp>
      <p:sp>
        <p:nvSpPr>
          <p:cNvPr id="7" name="Text 5"/>
          <p:cNvSpPr/>
          <p:nvPr/>
        </p:nvSpPr>
        <p:spPr>
          <a:xfrm>
            <a:off x="365760" y="914400"/>
            <a:ext cx="402336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¿Cuándo usarlo?</a:t>
            </a:r>
            <a:endParaRPr lang="en-US" sz="1100" dirty="0"/>
          </a:p>
        </p:txBody>
      </p:sp>
      <p:sp>
        <p:nvSpPr>
          <p:cNvPr id="8" name="Text 6"/>
          <p:cNvSpPr/>
          <p:nvPr/>
        </p:nvSpPr>
        <p:spPr>
          <a:xfrm>
            <a:off x="365760" y="1152144"/>
            <a:ext cx="4023360" cy="1152144"/>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 Inventario único compartido por toda la tienda</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Pool de conexiones a la base de datos</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Configuración global de la aplicación</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Logger de eventos del sistema</a:t>
            </a:r>
            <a:endParaRPr lang="en-US" sz="1000" dirty="0"/>
          </a:p>
        </p:txBody>
      </p:sp>
      <p:sp>
        <p:nvSpPr>
          <p:cNvPr id="9" name="Shape 7"/>
          <p:cNvSpPr/>
          <p:nvPr/>
        </p:nvSpPr>
        <p:spPr>
          <a:xfrm>
            <a:off x="228600" y="2450592"/>
            <a:ext cx="4206240" cy="15544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0" name="Shape 8"/>
          <p:cNvSpPr/>
          <p:nvPr/>
        </p:nvSpPr>
        <p:spPr>
          <a:xfrm>
            <a:off x="228600" y="2450592"/>
            <a:ext cx="64008" cy="1554480"/>
          </a:xfrm>
          <a:prstGeom prst="rect">
            <a:avLst/>
          </a:prstGeom>
          <a:solidFill>
            <a:srgbClr val="DC2626"/>
          </a:solidFill>
          <a:ln w="12700">
            <a:solidFill>
              <a:srgbClr val="DC2626"/>
            </a:solidFill>
            <a:prstDash val="solid"/>
          </a:ln>
        </p:spPr>
      </p:sp>
      <p:sp>
        <p:nvSpPr>
          <p:cNvPr id="11" name="Text 9"/>
          <p:cNvSpPr/>
          <p:nvPr/>
        </p:nvSpPr>
        <p:spPr>
          <a:xfrm>
            <a:off x="365760" y="2542032"/>
            <a:ext cx="402336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 Precauciones</a:t>
            </a:r>
            <a:endParaRPr lang="en-US" sz="1100" dirty="0"/>
          </a:p>
        </p:txBody>
      </p:sp>
      <p:sp>
        <p:nvSpPr>
          <p:cNvPr id="12" name="Text 10"/>
          <p:cNvSpPr/>
          <p:nvPr/>
        </p:nvSpPr>
        <p:spPr>
          <a:xfrm>
            <a:off x="365760" y="2779776"/>
            <a:ext cx="4023360" cy="1152144"/>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 Dificulta las pruebas unitarias (estado compartido)</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Puede convertirse en variable global encubierta</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Usar synchronized en entornos multihilo (Servlets)</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Algunos lo consideran un anti-patrón si se abusa</a:t>
            </a:r>
            <a:endParaRPr lang="en-US" sz="1000" dirty="0"/>
          </a:p>
        </p:txBody>
      </p:sp>
      <p:sp>
        <p:nvSpPr>
          <p:cNvPr id="13" name="Shape 11"/>
          <p:cNvSpPr/>
          <p:nvPr/>
        </p:nvSpPr>
        <p:spPr>
          <a:xfrm>
            <a:off x="4617720" y="822960"/>
            <a:ext cx="4297680" cy="3182112"/>
          </a:xfrm>
          <a:prstGeom prst="rect">
            <a:avLst/>
          </a:prstGeom>
          <a:solidFill>
            <a:srgbClr val="1F3864"/>
          </a:solidFill>
          <a:ln w="12700">
            <a:solidFill>
              <a:srgbClr val="1F3864"/>
            </a:solidFill>
            <a:prstDash val="solid"/>
          </a:ln>
          <a:effectLst>
            <a:outerShdw sx="100000" sy="100000" kx="0" ky="0" algn="bl" rotWithShape="0" blurRad="101600" dist="38100" dir="8100000">
              <a:srgbClr val="000000">
                <a:alpha val="15000"/>
              </a:srgbClr>
            </a:outerShdw>
          </a:effectLst>
        </p:spPr>
      </p:sp>
      <p:sp>
        <p:nvSpPr>
          <p:cNvPr id="14" name="Text 12"/>
          <p:cNvSpPr/>
          <p:nvPr/>
        </p:nvSpPr>
        <p:spPr>
          <a:xfrm>
            <a:off x="4709160" y="868680"/>
            <a:ext cx="4114800" cy="320040"/>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Resumen personal</a:t>
            </a:r>
            <a:endParaRPr lang="en-US" sz="1300" dirty="0"/>
          </a:p>
        </p:txBody>
      </p:sp>
      <p:sp>
        <p:nvSpPr>
          <p:cNvPr id="15" name="Shape 13"/>
          <p:cNvSpPr/>
          <p:nvPr/>
        </p:nvSpPr>
        <p:spPr>
          <a:xfrm>
            <a:off x="4709160" y="1216152"/>
            <a:ext cx="4114800" cy="0"/>
          </a:xfrm>
          <a:prstGeom prst="line">
            <a:avLst/>
          </a:prstGeom>
          <a:noFill/>
          <a:ln w="12700">
            <a:solidFill>
              <a:srgbClr val="F59E0B"/>
            </a:solidFill>
            <a:prstDash val="solid"/>
          </a:ln>
        </p:spPr>
      </p:sp>
      <p:sp>
        <p:nvSpPr>
          <p:cNvPr id="16" name="Text 14"/>
          <p:cNvSpPr/>
          <p:nvPr/>
        </p:nvSpPr>
        <p:spPr>
          <a:xfrm>
            <a:off x="4709160" y="1325880"/>
            <a:ext cx="4114800" cy="2560320"/>
          </a:xfrm>
          <a:prstGeom prst="rect">
            <a:avLst/>
          </a:prstGeom>
          <a:noFill/>
          <a:ln/>
        </p:spPr>
        <p:txBody>
          <a:bodyPr wrap="square" rtlCol="0" anchor="ctr"/>
          <a:lstStyle/>
          <a:p>
            <a:pPr indent="0" marL="0">
              <a:buNone/>
            </a:pPr>
            <a:r>
              <a:rPr lang="en-US" sz="1000" i="1" dirty="0">
                <a:solidFill>
                  <a:srgbClr val="AABBCC"/>
                </a:solidFill>
                <a:latin typeface="Calibri" pitchFamily="34" charset="0"/>
                <a:ea typeface="Calibri" pitchFamily="34" charset="-122"/>
                <a:cs typeface="Calibri" pitchFamily="34" charset="-120"/>
              </a:rPr>
              <a:t>"El Singleton es como el libro mayor del Almacén Don José: hay uno solo, todos los empleados lo consultan y lo actualizan, nadie puede crearse su copia privada. En código garantiza que un recurso crítico como el inventario exista una sola vez en memoria. Debe usarse con cuidado: en aplicaciones web con Servlets, synchronized es esencial para evitar condiciones de carrera."</a:t>
            </a:r>
            <a:endParaRPr lang="en-US" sz="1000" dirty="0"/>
          </a:p>
        </p:txBody>
      </p:sp>
      <p:sp>
        <p:nvSpPr>
          <p:cNvPr id="17" name="Shape 15"/>
          <p:cNvSpPr/>
          <p:nvPr/>
        </p:nvSpPr>
        <p:spPr>
          <a:xfrm>
            <a:off x="0" y="4846320"/>
            <a:ext cx="9144000" cy="297180"/>
          </a:xfrm>
          <a:prstGeom prst="rect">
            <a:avLst/>
          </a:prstGeom>
          <a:solidFill>
            <a:srgbClr val="1F3864"/>
          </a:solidFill>
          <a:ln w="12700">
            <a:solidFill>
              <a:srgbClr val="1F3864"/>
            </a:solidFill>
            <a:prstDash val="solid"/>
          </a:ln>
        </p:spPr>
      </p:sp>
      <p:sp>
        <p:nvSpPr>
          <p:cNvPr id="18" name="Text 16"/>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19" name="Text 17"/>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26/32</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2040"/>
        </a:solidFill>
      </p:bgPr>
    </p:bg>
    <p:spTree>
      <p:nvGrpSpPr>
        <p:cNvPr id="1" name=""/>
        <p:cNvGrpSpPr/>
        <p:nvPr/>
      </p:nvGrpSpPr>
      <p:grpSpPr>
        <a:xfrm>
          <a:off x="0" y="0"/>
          <a:ext cx="0" cy="0"/>
          <a:chOff x="0" y="0"/>
          <a:chExt cx="0" cy="0"/>
        </a:xfrm>
      </p:grpSpPr>
      <p:sp>
        <p:nvSpPr>
          <p:cNvPr id="2" name="Shape 0"/>
          <p:cNvSpPr/>
          <p:nvPr/>
        </p:nvSpPr>
        <p:spPr>
          <a:xfrm>
            <a:off x="6583680" y="-457200"/>
            <a:ext cx="3200400" cy="6400800"/>
          </a:xfrm>
          <a:prstGeom prst="rect">
            <a:avLst/>
          </a:prstGeom>
          <a:solidFill>
            <a:srgbClr val="39A900">
              <a:alpha val="15000"/>
            </a:srgbClr>
          </a:solidFill>
          <a:ln w="12700">
            <a:solidFill>
              <a:srgbClr val="39A900"/>
            </a:solidFill>
            <a:prstDash val="solid"/>
          </a:ln>
        </p:spPr>
      </p:sp>
      <p:sp>
        <p:nvSpPr>
          <p:cNvPr id="3" name="Shape 1"/>
          <p:cNvSpPr/>
          <p:nvPr/>
        </p:nvSpPr>
        <p:spPr>
          <a:xfrm>
            <a:off x="7772400" y="-457200"/>
            <a:ext cx="1828800" cy="6400800"/>
          </a:xfrm>
          <a:prstGeom prst="rect">
            <a:avLst/>
          </a:prstGeom>
          <a:solidFill>
            <a:srgbClr val="39A900">
              <a:alpha val="30000"/>
            </a:srgbClr>
          </a:solidFill>
          <a:ln w="12700">
            <a:solidFill>
              <a:srgbClr val="39A900"/>
            </a:solidFill>
            <a:prstDash val="solid"/>
          </a:ln>
        </p:spPr>
      </p:sp>
      <p:sp>
        <p:nvSpPr>
          <p:cNvPr id="4" name="Shape 2"/>
          <p:cNvSpPr/>
          <p:nvPr/>
        </p:nvSpPr>
        <p:spPr>
          <a:xfrm>
            <a:off x="457200" y="822960"/>
            <a:ext cx="2194560" cy="347472"/>
          </a:xfrm>
          <a:prstGeom prst="roundRect">
            <a:avLst>
              <a:gd name="adj" fmla="val 26316"/>
            </a:avLst>
          </a:prstGeom>
          <a:solidFill>
            <a:srgbClr val="39A900"/>
          </a:solidFill>
          <a:ln w="12700">
            <a:solidFill>
              <a:srgbClr val="39A900"/>
            </a:solidFill>
            <a:prstDash val="solid"/>
          </a:ln>
        </p:spPr>
      </p:sp>
      <p:sp>
        <p:nvSpPr>
          <p:cNvPr id="5" name="Text 3"/>
          <p:cNvSpPr/>
          <p:nvPr/>
        </p:nvSpPr>
        <p:spPr>
          <a:xfrm>
            <a:off x="457200" y="822960"/>
            <a:ext cx="219456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PATRÓN ARQUITECTÓNICO</a:t>
            </a:r>
            <a:endParaRPr lang="en-US" sz="1000" dirty="0"/>
          </a:p>
        </p:txBody>
      </p:sp>
      <p:sp>
        <p:nvSpPr>
          <p:cNvPr id="6" name="Text 4"/>
          <p:cNvSpPr/>
          <p:nvPr/>
        </p:nvSpPr>
        <p:spPr>
          <a:xfrm>
            <a:off x="457200" y="1280160"/>
            <a:ext cx="7315200" cy="1280160"/>
          </a:xfrm>
          <a:prstGeom prst="rect">
            <a:avLst/>
          </a:prstGeom>
          <a:noFill/>
          <a:ln/>
        </p:spPr>
        <p:txBody>
          <a:bodyPr wrap="square" rtlCol="0" anchor="ctr"/>
          <a:lstStyle/>
          <a:p>
            <a:pPr indent="0" marL="0">
              <a:buNone/>
            </a:pPr>
            <a:r>
              <a:rPr lang="en-US" sz="4400" b="1" dirty="0">
                <a:solidFill>
                  <a:srgbClr val="FFFFFF"/>
                </a:solidFill>
                <a:latin typeface="Calibri Black" pitchFamily="34" charset="0"/>
                <a:ea typeface="Calibri Black" pitchFamily="34" charset="-122"/>
                <a:cs typeface="Calibri Black" pitchFamily="34" charset="-120"/>
              </a:rPr>
              <a:t>MVC</a:t>
            </a:r>
            <a:endParaRPr lang="en-US" sz="4400" dirty="0"/>
          </a:p>
        </p:txBody>
      </p:sp>
      <p:sp>
        <p:nvSpPr>
          <p:cNvPr id="7" name="Text 5"/>
          <p:cNvSpPr/>
          <p:nvPr/>
        </p:nvSpPr>
        <p:spPr>
          <a:xfrm>
            <a:off x="457200" y="2606040"/>
            <a:ext cx="6400800" cy="822960"/>
          </a:xfrm>
          <a:prstGeom prst="rect">
            <a:avLst/>
          </a:prstGeom>
          <a:noFill/>
          <a:ln/>
        </p:spPr>
        <p:txBody>
          <a:bodyPr wrap="square" rtlCol="0" anchor="ctr"/>
          <a:lstStyle/>
          <a:p>
            <a:pPr indent="0" marL="0">
              <a:buNone/>
            </a:pPr>
            <a:r>
              <a:rPr lang="en-US" sz="1600" i="1" dirty="0">
                <a:solidFill>
                  <a:srgbClr val="AABBCC"/>
                </a:solidFill>
                <a:latin typeface="Calibri" pitchFamily="34" charset="0"/>
                <a:ea typeface="Calibri" pitchFamily="34" charset="-122"/>
                <a:cs typeface="Calibri" pitchFamily="34" charset="-120"/>
              </a:rPr>
              <a:t>Modelo–Vista–Controlador: separa los datos, la presentación</a:t>
            </a:r>
            <a:endParaRPr lang="en-US" sz="1600" dirty="0"/>
          </a:p>
          <a:p>
            <a:pPr indent="0" marL="0">
              <a:buNone/>
            </a:pPr>
            <a:r>
              <a:rPr lang="en-US" sz="1600" i="1" dirty="0">
                <a:solidFill>
                  <a:srgbClr val="AABBCC"/>
                </a:solidFill>
                <a:latin typeface="Calibri" pitchFamily="34" charset="0"/>
                <a:ea typeface="Calibri" pitchFamily="34" charset="-122"/>
                <a:cs typeface="Calibri" pitchFamily="34" charset="-120"/>
              </a:rPr>
              <a:t>y la lógica de negocio en capas independientes.</a:t>
            </a:r>
            <a:endParaRPr lang="en-US" sz="1600" dirty="0"/>
          </a:p>
        </p:txBody>
      </p:sp>
      <p:sp>
        <p:nvSpPr>
          <p:cNvPr id="8" name="Shape 6"/>
          <p:cNvSpPr/>
          <p:nvPr/>
        </p:nvSpPr>
        <p:spPr>
          <a:xfrm>
            <a:off x="457200" y="3493008"/>
            <a:ext cx="5943600" cy="0"/>
          </a:xfrm>
          <a:prstGeom prst="line">
            <a:avLst/>
          </a:prstGeom>
          <a:noFill/>
          <a:ln w="25400">
            <a:solidFill>
              <a:srgbClr val="39A900"/>
            </a:solidFill>
            <a:prstDash val="solid"/>
          </a:ln>
        </p:spPr>
      </p:sp>
      <p:sp>
        <p:nvSpPr>
          <p:cNvPr id="9" name="Text 7"/>
          <p:cNvSpPr/>
          <p:nvPr/>
        </p:nvSpPr>
        <p:spPr>
          <a:xfrm>
            <a:off x="457200" y="3639312"/>
            <a:ext cx="7315200" cy="320040"/>
          </a:xfrm>
          <a:prstGeom prst="rect">
            <a:avLst/>
          </a:prstGeom>
          <a:noFill/>
          <a:ln/>
        </p:spPr>
        <p:txBody>
          <a:bodyPr wrap="square" rtlCol="0" anchor="ctr"/>
          <a:lstStyle/>
          <a:p>
            <a:pPr indent="0" marL="0">
              <a:buNone/>
            </a:pPr>
            <a:r>
              <a:rPr lang="en-US" sz="1200" dirty="0">
                <a:solidFill>
                  <a:srgbClr val="7A9CC0"/>
                </a:solidFill>
                <a:latin typeface="Calibri" pitchFamily="34" charset="0"/>
                <a:ea typeface="Calibri" pitchFamily="34" charset="-122"/>
                <a:cs typeface="Calibri" pitchFamily="34" charset="-120"/>
              </a:rPr>
              <a:t>Almacén Don José de Chiquinquirá  •  Boyacá, Colombia</a:t>
            </a:r>
            <a:endParaRPr lang="en-US" sz="1200" dirty="0"/>
          </a:p>
        </p:txBody>
      </p:sp>
      <p:sp>
        <p:nvSpPr>
          <p:cNvPr id="10" name="Shape 8"/>
          <p:cNvSpPr/>
          <p:nvPr/>
        </p:nvSpPr>
        <p:spPr>
          <a:xfrm>
            <a:off x="0" y="4846320"/>
            <a:ext cx="9144000" cy="297180"/>
          </a:xfrm>
          <a:prstGeom prst="rect">
            <a:avLst/>
          </a:prstGeom>
          <a:solidFill>
            <a:srgbClr val="1F3864"/>
          </a:solidFill>
          <a:ln w="12700">
            <a:solidFill>
              <a:srgbClr val="1F3864"/>
            </a:solidFill>
            <a:prstDash val="solid"/>
          </a:ln>
        </p:spPr>
      </p:sp>
      <p:sp>
        <p:nvSpPr>
          <p:cNvPr id="11" name="Text 9"/>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12" name="Text 10"/>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27/32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65A82"/>
          </a:solidFill>
          <a:ln w="12700">
            <a:solidFill>
              <a:srgbClr val="065A82"/>
            </a:solidFill>
            <a:prstDash val="solid"/>
          </a:ln>
        </p:spPr>
      </p:sp>
      <p:sp>
        <p:nvSpPr>
          <p:cNvPr id="3" name="Shape 1"/>
          <p:cNvSpPr/>
          <p:nvPr/>
        </p:nvSpPr>
        <p:spPr>
          <a:xfrm>
            <a:off x="0" y="109728"/>
            <a:ext cx="73152" cy="5033772"/>
          </a:xfrm>
          <a:prstGeom prst="rect">
            <a:avLst/>
          </a:prstGeom>
          <a:solidFill>
            <a:srgbClr val="065A82"/>
          </a:solidFill>
          <a:ln w="12700">
            <a:solidFill>
              <a:srgbClr val="065A82"/>
            </a:solidFill>
            <a:prstDash val="solid"/>
          </a:ln>
        </p:spPr>
      </p:sp>
      <p:sp>
        <p:nvSpPr>
          <p:cNvPr id="4" name="Text 2"/>
          <p:cNvSpPr/>
          <p:nvPr/>
        </p:nvSpPr>
        <p:spPr>
          <a:xfrm>
            <a:off x="274320" y="182880"/>
            <a:ext cx="8595360" cy="530352"/>
          </a:xfrm>
          <a:prstGeom prst="rect">
            <a:avLst/>
          </a:prstGeom>
          <a:noFill/>
          <a:ln/>
        </p:spPr>
        <p:txBody>
          <a:bodyPr wrap="square" rtlCol="0" anchor="ctr"/>
          <a:lstStyle/>
          <a:p>
            <a:pPr indent="0" marL="0">
              <a:buNone/>
            </a:pPr>
            <a:r>
              <a:rPr lang="en-US" sz="2200" b="1" dirty="0">
                <a:solidFill>
                  <a:srgbClr val="1F3864"/>
                </a:solidFill>
                <a:latin typeface="Calibri Black" pitchFamily="34" charset="0"/>
                <a:ea typeface="Calibri Black" pitchFamily="34" charset="-122"/>
                <a:cs typeface="Calibri Black" pitchFamily="34" charset="-120"/>
              </a:rPr>
              <a:t>MVC — Las 3 Capas Explicadas</a:t>
            </a:r>
            <a:endParaRPr lang="en-US" sz="2200" dirty="0"/>
          </a:p>
        </p:txBody>
      </p:sp>
      <p:sp>
        <p:nvSpPr>
          <p:cNvPr id="5" name="Shape 3"/>
          <p:cNvSpPr/>
          <p:nvPr/>
        </p:nvSpPr>
        <p:spPr>
          <a:xfrm>
            <a:off x="228600" y="822960"/>
            <a:ext cx="2834640" cy="475488"/>
          </a:xfrm>
          <a:prstGeom prst="rect">
            <a:avLst/>
          </a:prstGeom>
          <a:solidFill>
            <a:srgbClr val="1F3864"/>
          </a:solidFill>
          <a:ln w="12700">
            <a:solidFill>
              <a:srgbClr val="1F3864"/>
            </a:solidFill>
            <a:prstDash val="solid"/>
          </a:ln>
        </p:spPr>
      </p:sp>
      <p:sp>
        <p:nvSpPr>
          <p:cNvPr id="6" name="Text 4"/>
          <p:cNvSpPr/>
          <p:nvPr/>
        </p:nvSpPr>
        <p:spPr>
          <a:xfrm>
            <a:off x="228600" y="822960"/>
            <a:ext cx="2834640"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MODELO</a:t>
            </a:r>
            <a:endParaRPr lang="en-US" sz="1400" dirty="0"/>
          </a:p>
        </p:txBody>
      </p:sp>
      <p:sp>
        <p:nvSpPr>
          <p:cNvPr id="7" name="Shape 5"/>
          <p:cNvSpPr/>
          <p:nvPr/>
        </p:nvSpPr>
        <p:spPr>
          <a:xfrm>
            <a:off x="228600" y="1298448"/>
            <a:ext cx="2834640" cy="30358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8" name="Text 6"/>
          <p:cNvSpPr/>
          <p:nvPr/>
        </p:nvSpPr>
        <p:spPr>
          <a:xfrm>
            <a:off x="320040" y="1371600"/>
            <a:ext cx="2651760" cy="256032"/>
          </a:xfrm>
          <a:prstGeom prst="rect">
            <a:avLst/>
          </a:prstGeom>
          <a:noFill/>
          <a:ln/>
        </p:spPr>
        <p:txBody>
          <a:bodyPr wrap="square" rtlCol="0" anchor="ctr"/>
          <a:lstStyle/>
          <a:p>
            <a:pPr indent="0" marL="0">
              <a:buNone/>
            </a:pPr>
            <a:r>
              <a:rPr lang="en-US" sz="1000" b="1" dirty="0">
                <a:solidFill>
                  <a:srgbClr val="1F3864"/>
                </a:solidFill>
                <a:latin typeface="Calibri" pitchFamily="34" charset="0"/>
                <a:ea typeface="Calibri" pitchFamily="34" charset="-122"/>
                <a:cs typeface="Calibri" pitchFamily="34" charset="-120"/>
              </a:rPr>
              <a:t>En Java:</a:t>
            </a:r>
            <a:endParaRPr lang="en-US" sz="1000" dirty="0"/>
          </a:p>
        </p:txBody>
      </p:sp>
      <p:sp>
        <p:nvSpPr>
          <p:cNvPr id="9" name="Text 7"/>
          <p:cNvSpPr/>
          <p:nvPr/>
        </p:nvSpPr>
        <p:spPr>
          <a:xfrm>
            <a:off x="320040" y="1618488"/>
            <a:ext cx="2651760" cy="457200"/>
          </a:xfrm>
          <a:prstGeom prst="rect">
            <a:avLst/>
          </a:prstGeom>
          <a:noFill/>
          <a:ln/>
        </p:spPr>
        <p:txBody>
          <a:bodyPr wrap="square" rtlCol="0" anchor="ctr"/>
          <a:lstStyle/>
          <a:p>
            <a:pPr indent="0" marL="0">
              <a:buNone/>
            </a:pPr>
            <a:r>
              <a:rPr lang="en-US" sz="950" dirty="0">
                <a:solidFill>
                  <a:srgbClr val="1F3864"/>
                </a:solidFill>
                <a:latin typeface="Consolas" pitchFamily="34" charset="0"/>
                <a:ea typeface="Consolas" pitchFamily="34" charset="-122"/>
                <a:cs typeface="Consolas" pitchFamily="34" charset="-120"/>
              </a:rPr>
              <a:t>Producto.java, Pedido.java, Usuario.java</a:t>
            </a:r>
            <a:endParaRPr lang="en-US" sz="950" dirty="0"/>
          </a:p>
        </p:txBody>
      </p:sp>
      <p:sp>
        <p:nvSpPr>
          <p:cNvPr id="10" name="Shape 8"/>
          <p:cNvSpPr/>
          <p:nvPr/>
        </p:nvSpPr>
        <p:spPr>
          <a:xfrm>
            <a:off x="320040" y="2103120"/>
            <a:ext cx="2651760" cy="0"/>
          </a:xfrm>
          <a:prstGeom prst="line">
            <a:avLst/>
          </a:prstGeom>
          <a:noFill/>
          <a:ln w="12700">
            <a:solidFill>
              <a:srgbClr val="E2E8F0"/>
            </a:solidFill>
            <a:prstDash val="solid"/>
          </a:ln>
        </p:spPr>
      </p:sp>
      <p:sp>
        <p:nvSpPr>
          <p:cNvPr id="11" name="Text 9"/>
          <p:cNvSpPr/>
          <p:nvPr/>
        </p:nvSpPr>
        <p:spPr>
          <a:xfrm>
            <a:off x="320040" y="2157984"/>
            <a:ext cx="2651760" cy="256032"/>
          </a:xfrm>
          <a:prstGeom prst="rect">
            <a:avLst/>
          </a:prstGeom>
          <a:noFill/>
          <a:ln/>
        </p:spPr>
        <p:txBody>
          <a:bodyPr wrap="square" rtlCol="0" anchor="ctr"/>
          <a:lstStyle/>
          <a:p>
            <a:pPr indent="0" marL="0">
              <a:buNone/>
            </a:pPr>
            <a:r>
              <a:rPr lang="en-US" sz="1000" b="1" dirty="0">
                <a:solidFill>
                  <a:srgbClr val="1F3864"/>
                </a:solidFill>
                <a:latin typeface="Calibri" pitchFamily="34" charset="0"/>
                <a:ea typeface="Calibri" pitchFamily="34" charset="-122"/>
                <a:cs typeface="Calibri" pitchFamily="34" charset="-120"/>
              </a:rPr>
              <a:t>En la Tienda:</a:t>
            </a:r>
            <a:endParaRPr lang="en-US" sz="1000" dirty="0"/>
          </a:p>
        </p:txBody>
      </p:sp>
      <p:sp>
        <p:nvSpPr>
          <p:cNvPr id="12" name="Text 10"/>
          <p:cNvSpPr/>
          <p:nvPr/>
        </p:nvSpPr>
        <p:spPr>
          <a:xfrm>
            <a:off x="320040" y="2404872"/>
            <a:ext cx="2651760" cy="56692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La ficha de inventario con datos reales del producto</a:t>
            </a:r>
            <a:endParaRPr lang="en-US" sz="950" dirty="0"/>
          </a:p>
        </p:txBody>
      </p:sp>
      <p:sp>
        <p:nvSpPr>
          <p:cNvPr id="13" name="Shape 11"/>
          <p:cNvSpPr/>
          <p:nvPr/>
        </p:nvSpPr>
        <p:spPr>
          <a:xfrm>
            <a:off x="320040" y="2999232"/>
            <a:ext cx="2651760" cy="0"/>
          </a:xfrm>
          <a:prstGeom prst="line">
            <a:avLst/>
          </a:prstGeom>
          <a:noFill/>
          <a:ln w="12700">
            <a:solidFill>
              <a:srgbClr val="E2E8F0"/>
            </a:solidFill>
            <a:prstDash val="solid"/>
          </a:ln>
        </p:spPr>
      </p:sp>
      <p:sp>
        <p:nvSpPr>
          <p:cNvPr id="14" name="Text 12"/>
          <p:cNvSpPr/>
          <p:nvPr/>
        </p:nvSpPr>
        <p:spPr>
          <a:xfrm>
            <a:off x="320040" y="3054096"/>
            <a:ext cx="2651760" cy="256032"/>
          </a:xfrm>
          <a:prstGeom prst="rect">
            <a:avLst/>
          </a:prstGeom>
          <a:noFill/>
          <a:ln/>
        </p:spPr>
        <p:txBody>
          <a:bodyPr wrap="square" rtlCol="0" anchor="ctr"/>
          <a:lstStyle/>
          <a:p>
            <a:pPr indent="0" marL="0">
              <a:buNone/>
            </a:pPr>
            <a:r>
              <a:rPr lang="en-US" sz="1000" b="1" dirty="0">
                <a:solidFill>
                  <a:srgbClr val="1F3864"/>
                </a:solidFill>
                <a:latin typeface="Calibri" pitchFamily="34" charset="0"/>
                <a:ea typeface="Calibri" pitchFamily="34" charset="-122"/>
                <a:cs typeface="Calibri" pitchFamily="34" charset="-120"/>
              </a:rPr>
              <a:t>Responsabilidad:</a:t>
            </a:r>
            <a:endParaRPr lang="en-US" sz="1000" dirty="0"/>
          </a:p>
        </p:txBody>
      </p:sp>
      <p:sp>
        <p:nvSpPr>
          <p:cNvPr id="15" name="Text 13"/>
          <p:cNvSpPr/>
          <p:nvPr/>
        </p:nvSpPr>
        <p:spPr>
          <a:xfrm>
            <a:off x="320040" y="3310128"/>
            <a:ext cx="2651760" cy="950976"/>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Encapsula datos y reglas de negocio. Puede conectar con BD via DAO.</a:t>
            </a:r>
            <a:endParaRPr lang="en-US" sz="950" dirty="0"/>
          </a:p>
        </p:txBody>
      </p:sp>
      <p:sp>
        <p:nvSpPr>
          <p:cNvPr id="16" name="Shape 14"/>
          <p:cNvSpPr/>
          <p:nvPr/>
        </p:nvSpPr>
        <p:spPr>
          <a:xfrm>
            <a:off x="3200400" y="822960"/>
            <a:ext cx="2834640" cy="475488"/>
          </a:xfrm>
          <a:prstGeom prst="rect">
            <a:avLst/>
          </a:prstGeom>
          <a:solidFill>
            <a:srgbClr val="2D8200"/>
          </a:solidFill>
          <a:ln w="12700">
            <a:solidFill>
              <a:srgbClr val="2D8200"/>
            </a:solidFill>
            <a:prstDash val="solid"/>
          </a:ln>
        </p:spPr>
      </p:sp>
      <p:sp>
        <p:nvSpPr>
          <p:cNvPr id="17" name="Text 15"/>
          <p:cNvSpPr/>
          <p:nvPr/>
        </p:nvSpPr>
        <p:spPr>
          <a:xfrm>
            <a:off x="3200400" y="822960"/>
            <a:ext cx="2834640"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VISTA</a:t>
            </a:r>
            <a:endParaRPr lang="en-US" sz="1400" dirty="0"/>
          </a:p>
        </p:txBody>
      </p:sp>
      <p:sp>
        <p:nvSpPr>
          <p:cNvPr id="18" name="Shape 16"/>
          <p:cNvSpPr/>
          <p:nvPr/>
        </p:nvSpPr>
        <p:spPr>
          <a:xfrm>
            <a:off x="3200400" y="1298448"/>
            <a:ext cx="2834640" cy="30358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9" name="Text 17"/>
          <p:cNvSpPr/>
          <p:nvPr/>
        </p:nvSpPr>
        <p:spPr>
          <a:xfrm>
            <a:off x="3291840" y="1371600"/>
            <a:ext cx="2651760" cy="256032"/>
          </a:xfrm>
          <a:prstGeom prst="rect">
            <a:avLst/>
          </a:prstGeom>
          <a:noFill/>
          <a:ln/>
        </p:spPr>
        <p:txBody>
          <a:bodyPr wrap="square" rtlCol="0" anchor="ctr"/>
          <a:lstStyle/>
          <a:p>
            <a:pPr indent="0" marL="0">
              <a:buNone/>
            </a:pPr>
            <a:r>
              <a:rPr lang="en-US" sz="1000" b="1" dirty="0">
                <a:solidFill>
                  <a:srgbClr val="1F3864"/>
                </a:solidFill>
                <a:latin typeface="Calibri" pitchFamily="34" charset="0"/>
                <a:ea typeface="Calibri" pitchFamily="34" charset="-122"/>
                <a:cs typeface="Calibri" pitchFamily="34" charset="-120"/>
              </a:rPr>
              <a:t>En Java:</a:t>
            </a:r>
            <a:endParaRPr lang="en-US" sz="1000" dirty="0"/>
          </a:p>
        </p:txBody>
      </p:sp>
      <p:sp>
        <p:nvSpPr>
          <p:cNvPr id="20" name="Text 18"/>
          <p:cNvSpPr/>
          <p:nvPr/>
        </p:nvSpPr>
        <p:spPr>
          <a:xfrm>
            <a:off x="3291840" y="1618488"/>
            <a:ext cx="2651760" cy="457200"/>
          </a:xfrm>
          <a:prstGeom prst="rect">
            <a:avLst/>
          </a:prstGeom>
          <a:noFill/>
          <a:ln/>
        </p:spPr>
        <p:txBody>
          <a:bodyPr wrap="square" rtlCol="0" anchor="ctr"/>
          <a:lstStyle/>
          <a:p>
            <a:pPr indent="0" marL="0">
              <a:buNone/>
            </a:pPr>
            <a:r>
              <a:rPr lang="en-US" sz="950" dirty="0">
                <a:solidFill>
                  <a:srgbClr val="2D8200"/>
                </a:solidFill>
                <a:latin typeface="Consolas" pitchFamily="34" charset="0"/>
                <a:ea typeface="Consolas" pitchFamily="34" charset="-122"/>
                <a:cs typeface="Consolas" pitchFamily="34" charset="-120"/>
              </a:rPr>
              <a:t>inventario.jsp, pedidos.jsp, login.jsp</a:t>
            </a:r>
            <a:endParaRPr lang="en-US" sz="950" dirty="0"/>
          </a:p>
        </p:txBody>
      </p:sp>
      <p:sp>
        <p:nvSpPr>
          <p:cNvPr id="21" name="Shape 19"/>
          <p:cNvSpPr/>
          <p:nvPr/>
        </p:nvSpPr>
        <p:spPr>
          <a:xfrm>
            <a:off x="3291840" y="2103120"/>
            <a:ext cx="2651760" cy="0"/>
          </a:xfrm>
          <a:prstGeom prst="line">
            <a:avLst/>
          </a:prstGeom>
          <a:noFill/>
          <a:ln w="12700">
            <a:solidFill>
              <a:srgbClr val="E2E8F0"/>
            </a:solidFill>
            <a:prstDash val="solid"/>
          </a:ln>
        </p:spPr>
      </p:sp>
      <p:sp>
        <p:nvSpPr>
          <p:cNvPr id="22" name="Text 20"/>
          <p:cNvSpPr/>
          <p:nvPr/>
        </p:nvSpPr>
        <p:spPr>
          <a:xfrm>
            <a:off x="3291840" y="2157984"/>
            <a:ext cx="2651760" cy="256032"/>
          </a:xfrm>
          <a:prstGeom prst="rect">
            <a:avLst/>
          </a:prstGeom>
          <a:noFill/>
          <a:ln/>
        </p:spPr>
        <p:txBody>
          <a:bodyPr wrap="square" rtlCol="0" anchor="ctr"/>
          <a:lstStyle/>
          <a:p>
            <a:pPr indent="0" marL="0">
              <a:buNone/>
            </a:pPr>
            <a:r>
              <a:rPr lang="en-US" sz="1000" b="1" dirty="0">
                <a:solidFill>
                  <a:srgbClr val="1F3864"/>
                </a:solidFill>
                <a:latin typeface="Calibri" pitchFamily="34" charset="0"/>
                <a:ea typeface="Calibri" pitchFamily="34" charset="-122"/>
                <a:cs typeface="Calibri" pitchFamily="34" charset="-120"/>
              </a:rPr>
              <a:t>En la Tienda:</a:t>
            </a:r>
            <a:endParaRPr lang="en-US" sz="1000" dirty="0"/>
          </a:p>
        </p:txBody>
      </p:sp>
      <p:sp>
        <p:nvSpPr>
          <p:cNvPr id="23" name="Text 21"/>
          <p:cNvSpPr/>
          <p:nvPr/>
        </p:nvSpPr>
        <p:spPr>
          <a:xfrm>
            <a:off x="3291840" y="2404872"/>
            <a:ext cx="2651760" cy="56692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El letrero o vitrina que ve el cliente en la tienda</a:t>
            </a:r>
            <a:endParaRPr lang="en-US" sz="950" dirty="0"/>
          </a:p>
        </p:txBody>
      </p:sp>
      <p:sp>
        <p:nvSpPr>
          <p:cNvPr id="24" name="Shape 22"/>
          <p:cNvSpPr/>
          <p:nvPr/>
        </p:nvSpPr>
        <p:spPr>
          <a:xfrm>
            <a:off x="3291840" y="2999232"/>
            <a:ext cx="2651760" cy="0"/>
          </a:xfrm>
          <a:prstGeom prst="line">
            <a:avLst/>
          </a:prstGeom>
          <a:noFill/>
          <a:ln w="12700">
            <a:solidFill>
              <a:srgbClr val="E2E8F0"/>
            </a:solidFill>
            <a:prstDash val="solid"/>
          </a:ln>
        </p:spPr>
      </p:sp>
      <p:sp>
        <p:nvSpPr>
          <p:cNvPr id="25" name="Text 23"/>
          <p:cNvSpPr/>
          <p:nvPr/>
        </p:nvSpPr>
        <p:spPr>
          <a:xfrm>
            <a:off x="3291840" y="3054096"/>
            <a:ext cx="2651760" cy="256032"/>
          </a:xfrm>
          <a:prstGeom prst="rect">
            <a:avLst/>
          </a:prstGeom>
          <a:noFill/>
          <a:ln/>
        </p:spPr>
        <p:txBody>
          <a:bodyPr wrap="square" rtlCol="0" anchor="ctr"/>
          <a:lstStyle/>
          <a:p>
            <a:pPr indent="0" marL="0">
              <a:buNone/>
            </a:pPr>
            <a:r>
              <a:rPr lang="en-US" sz="1000" b="1" dirty="0">
                <a:solidFill>
                  <a:srgbClr val="1F3864"/>
                </a:solidFill>
                <a:latin typeface="Calibri" pitchFamily="34" charset="0"/>
                <a:ea typeface="Calibri" pitchFamily="34" charset="-122"/>
                <a:cs typeface="Calibri" pitchFamily="34" charset="-120"/>
              </a:rPr>
              <a:t>Responsabilidad:</a:t>
            </a:r>
            <a:endParaRPr lang="en-US" sz="1000" dirty="0"/>
          </a:p>
        </p:txBody>
      </p:sp>
      <p:sp>
        <p:nvSpPr>
          <p:cNvPr id="26" name="Text 24"/>
          <p:cNvSpPr/>
          <p:nvPr/>
        </p:nvSpPr>
        <p:spPr>
          <a:xfrm>
            <a:off x="3291840" y="3310128"/>
            <a:ext cx="2651760" cy="950976"/>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Solo muestra datos. No contiene lógica. Usa JSTL y Expression Language (${}).</a:t>
            </a:r>
            <a:endParaRPr lang="en-US" sz="950" dirty="0"/>
          </a:p>
        </p:txBody>
      </p:sp>
      <p:sp>
        <p:nvSpPr>
          <p:cNvPr id="27" name="Shape 25"/>
          <p:cNvSpPr/>
          <p:nvPr/>
        </p:nvSpPr>
        <p:spPr>
          <a:xfrm>
            <a:off x="6172200" y="822960"/>
            <a:ext cx="2834640" cy="475488"/>
          </a:xfrm>
          <a:prstGeom prst="rect">
            <a:avLst/>
          </a:prstGeom>
          <a:solidFill>
            <a:srgbClr val="065A82"/>
          </a:solidFill>
          <a:ln w="12700">
            <a:solidFill>
              <a:srgbClr val="065A82"/>
            </a:solidFill>
            <a:prstDash val="solid"/>
          </a:ln>
        </p:spPr>
      </p:sp>
      <p:sp>
        <p:nvSpPr>
          <p:cNvPr id="28" name="Text 26"/>
          <p:cNvSpPr/>
          <p:nvPr/>
        </p:nvSpPr>
        <p:spPr>
          <a:xfrm>
            <a:off x="6172200" y="822960"/>
            <a:ext cx="2834640"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CONTROLADOR</a:t>
            </a:r>
            <a:endParaRPr lang="en-US" sz="1400" dirty="0"/>
          </a:p>
        </p:txBody>
      </p:sp>
      <p:sp>
        <p:nvSpPr>
          <p:cNvPr id="29" name="Shape 27"/>
          <p:cNvSpPr/>
          <p:nvPr/>
        </p:nvSpPr>
        <p:spPr>
          <a:xfrm>
            <a:off x="6172200" y="1298448"/>
            <a:ext cx="2834640" cy="303580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30" name="Text 28"/>
          <p:cNvSpPr/>
          <p:nvPr/>
        </p:nvSpPr>
        <p:spPr>
          <a:xfrm>
            <a:off x="6263640" y="1371600"/>
            <a:ext cx="2651760" cy="256032"/>
          </a:xfrm>
          <a:prstGeom prst="rect">
            <a:avLst/>
          </a:prstGeom>
          <a:noFill/>
          <a:ln/>
        </p:spPr>
        <p:txBody>
          <a:bodyPr wrap="square" rtlCol="0" anchor="ctr"/>
          <a:lstStyle/>
          <a:p>
            <a:pPr indent="0" marL="0">
              <a:buNone/>
            </a:pPr>
            <a:r>
              <a:rPr lang="en-US" sz="1000" b="1" dirty="0">
                <a:solidFill>
                  <a:srgbClr val="1F3864"/>
                </a:solidFill>
                <a:latin typeface="Calibri" pitchFamily="34" charset="0"/>
                <a:ea typeface="Calibri" pitchFamily="34" charset="-122"/>
                <a:cs typeface="Calibri" pitchFamily="34" charset="-120"/>
              </a:rPr>
              <a:t>En Java:</a:t>
            </a:r>
            <a:endParaRPr lang="en-US" sz="1000" dirty="0"/>
          </a:p>
        </p:txBody>
      </p:sp>
      <p:sp>
        <p:nvSpPr>
          <p:cNvPr id="31" name="Text 29"/>
          <p:cNvSpPr/>
          <p:nvPr/>
        </p:nvSpPr>
        <p:spPr>
          <a:xfrm>
            <a:off x="6263640" y="1618488"/>
            <a:ext cx="2651760" cy="457200"/>
          </a:xfrm>
          <a:prstGeom prst="rect">
            <a:avLst/>
          </a:prstGeom>
          <a:noFill/>
          <a:ln/>
        </p:spPr>
        <p:txBody>
          <a:bodyPr wrap="square" rtlCol="0" anchor="ctr"/>
          <a:lstStyle/>
          <a:p>
            <a:pPr indent="0" marL="0">
              <a:buNone/>
            </a:pPr>
            <a:r>
              <a:rPr lang="en-US" sz="950" dirty="0">
                <a:solidFill>
                  <a:srgbClr val="065A82"/>
                </a:solidFill>
                <a:latin typeface="Consolas" pitchFamily="34" charset="0"/>
                <a:ea typeface="Consolas" pitchFamily="34" charset="-122"/>
                <a:cs typeface="Consolas" pitchFamily="34" charset="-120"/>
              </a:rPr>
              <a:t>InventarioServlet.java (@WebServlet)</a:t>
            </a:r>
            <a:endParaRPr lang="en-US" sz="950" dirty="0"/>
          </a:p>
        </p:txBody>
      </p:sp>
      <p:sp>
        <p:nvSpPr>
          <p:cNvPr id="32" name="Shape 30"/>
          <p:cNvSpPr/>
          <p:nvPr/>
        </p:nvSpPr>
        <p:spPr>
          <a:xfrm>
            <a:off x="6263640" y="2103120"/>
            <a:ext cx="2651760" cy="0"/>
          </a:xfrm>
          <a:prstGeom prst="line">
            <a:avLst/>
          </a:prstGeom>
          <a:noFill/>
          <a:ln w="12700">
            <a:solidFill>
              <a:srgbClr val="E2E8F0"/>
            </a:solidFill>
            <a:prstDash val="solid"/>
          </a:ln>
        </p:spPr>
      </p:sp>
      <p:sp>
        <p:nvSpPr>
          <p:cNvPr id="33" name="Text 31"/>
          <p:cNvSpPr/>
          <p:nvPr/>
        </p:nvSpPr>
        <p:spPr>
          <a:xfrm>
            <a:off x="6263640" y="2157984"/>
            <a:ext cx="2651760" cy="256032"/>
          </a:xfrm>
          <a:prstGeom prst="rect">
            <a:avLst/>
          </a:prstGeom>
          <a:noFill/>
          <a:ln/>
        </p:spPr>
        <p:txBody>
          <a:bodyPr wrap="square" rtlCol="0" anchor="ctr"/>
          <a:lstStyle/>
          <a:p>
            <a:pPr indent="0" marL="0">
              <a:buNone/>
            </a:pPr>
            <a:r>
              <a:rPr lang="en-US" sz="1000" b="1" dirty="0">
                <a:solidFill>
                  <a:srgbClr val="1F3864"/>
                </a:solidFill>
                <a:latin typeface="Calibri" pitchFamily="34" charset="0"/>
                <a:ea typeface="Calibri" pitchFamily="34" charset="-122"/>
                <a:cs typeface="Calibri" pitchFamily="34" charset="-120"/>
              </a:rPr>
              <a:t>En la Tienda:</a:t>
            </a:r>
            <a:endParaRPr lang="en-US" sz="1000" dirty="0"/>
          </a:p>
        </p:txBody>
      </p:sp>
      <p:sp>
        <p:nvSpPr>
          <p:cNvPr id="34" name="Text 32"/>
          <p:cNvSpPr/>
          <p:nvPr/>
        </p:nvSpPr>
        <p:spPr>
          <a:xfrm>
            <a:off x="6263640" y="2404872"/>
            <a:ext cx="2651760" cy="566928"/>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El vendedor que atiende al cliente y coordina con el almacén</a:t>
            </a:r>
            <a:endParaRPr lang="en-US" sz="950" dirty="0"/>
          </a:p>
        </p:txBody>
      </p:sp>
      <p:sp>
        <p:nvSpPr>
          <p:cNvPr id="35" name="Shape 33"/>
          <p:cNvSpPr/>
          <p:nvPr/>
        </p:nvSpPr>
        <p:spPr>
          <a:xfrm>
            <a:off x="6263640" y="2999232"/>
            <a:ext cx="2651760" cy="0"/>
          </a:xfrm>
          <a:prstGeom prst="line">
            <a:avLst/>
          </a:prstGeom>
          <a:noFill/>
          <a:ln w="12700">
            <a:solidFill>
              <a:srgbClr val="E2E8F0"/>
            </a:solidFill>
            <a:prstDash val="solid"/>
          </a:ln>
        </p:spPr>
      </p:sp>
      <p:sp>
        <p:nvSpPr>
          <p:cNvPr id="36" name="Text 34"/>
          <p:cNvSpPr/>
          <p:nvPr/>
        </p:nvSpPr>
        <p:spPr>
          <a:xfrm>
            <a:off x="6263640" y="3054096"/>
            <a:ext cx="2651760" cy="256032"/>
          </a:xfrm>
          <a:prstGeom prst="rect">
            <a:avLst/>
          </a:prstGeom>
          <a:noFill/>
          <a:ln/>
        </p:spPr>
        <p:txBody>
          <a:bodyPr wrap="square" rtlCol="0" anchor="ctr"/>
          <a:lstStyle/>
          <a:p>
            <a:pPr indent="0" marL="0">
              <a:buNone/>
            </a:pPr>
            <a:r>
              <a:rPr lang="en-US" sz="1000" b="1" dirty="0">
                <a:solidFill>
                  <a:srgbClr val="1F3864"/>
                </a:solidFill>
                <a:latin typeface="Calibri" pitchFamily="34" charset="0"/>
                <a:ea typeface="Calibri" pitchFamily="34" charset="-122"/>
                <a:cs typeface="Calibri" pitchFamily="34" charset="-120"/>
              </a:rPr>
              <a:t>Responsabilidad:</a:t>
            </a:r>
            <a:endParaRPr lang="en-US" sz="1000" dirty="0"/>
          </a:p>
        </p:txBody>
      </p:sp>
      <p:sp>
        <p:nvSpPr>
          <p:cNvPr id="37" name="Text 35"/>
          <p:cNvSpPr/>
          <p:nvPr/>
        </p:nvSpPr>
        <p:spPr>
          <a:xfrm>
            <a:off x="6263640" y="3310128"/>
            <a:ext cx="2651760" cy="950976"/>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Recibe requests HTTP, invoca el Modelo, selecciona la Vista. doGet() / doPost().</a:t>
            </a:r>
            <a:endParaRPr lang="en-US" sz="950" dirty="0"/>
          </a:p>
        </p:txBody>
      </p:sp>
      <p:sp>
        <p:nvSpPr>
          <p:cNvPr id="38" name="Shape 36"/>
          <p:cNvSpPr/>
          <p:nvPr/>
        </p:nvSpPr>
        <p:spPr>
          <a:xfrm>
            <a:off x="0" y="4846320"/>
            <a:ext cx="9144000" cy="297180"/>
          </a:xfrm>
          <a:prstGeom prst="rect">
            <a:avLst/>
          </a:prstGeom>
          <a:solidFill>
            <a:srgbClr val="1F3864"/>
          </a:solidFill>
          <a:ln w="12700">
            <a:solidFill>
              <a:srgbClr val="1F3864"/>
            </a:solidFill>
            <a:prstDash val="solid"/>
          </a:ln>
        </p:spPr>
      </p:sp>
      <p:sp>
        <p:nvSpPr>
          <p:cNvPr id="39" name="Text 37"/>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40" name="Text 38"/>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28/32</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65A82"/>
          </a:solidFill>
          <a:ln w="12700">
            <a:solidFill>
              <a:srgbClr val="065A82"/>
            </a:solidFill>
            <a:prstDash val="solid"/>
          </a:ln>
        </p:spPr>
      </p:sp>
      <p:sp>
        <p:nvSpPr>
          <p:cNvPr id="3" name="Shape 1"/>
          <p:cNvSpPr/>
          <p:nvPr/>
        </p:nvSpPr>
        <p:spPr>
          <a:xfrm>
            <a:off x="0" y="109728"/>
            <a:ext cx="73152" cy="5033772"/>
          </a:xfrm>
          <a:prstGeom prst="rect">
            <a:avLst/>
          </a:prstGeom>
          <a:solidFill>
            <a:srgbClr val="065A82"/>
          </a:solidFill>
          <a:ln w="12700">
            <a:solidFill>
              <a:srgbClr val="065A82"/>
            </a:solidFill>
            <a:prstDash val="solid"/>
          </a:ln>
        </p:spPr>
      </p:sp>
      <p:sp>
        <p:nvSpPr>
          <p:cNvPr id="4" name="Text 2"/>
          <p:cNvSpPr/>
          <p:nvPr/>
        </p:nvSpPr>
        <p:spPr>
          <a:xfrm>
            <a:off x="274320" y="182880"/>
            <a:ext cx="8595360" cy="530352"/>
          </a:xfrm>
          <a:prstGeom prst="rect">
            <a:avLst/>
          </a:prstGeom>
          <a:noFill/>
          <a:ln/>
        </p:spPr>
        <p:txBody>
          <a:bodyPr wrap="square" rtlCol="0" anchor="ctr"/>
          <a:lstStyle/>
          <a:p>
            <a:pPr indent="0" marL="0">
              <a:buNone/>
            </a:pPr>
            <a:r>
              <a:rPr lang="en-US" sz="2200" b="1" dirty="0">
                <a:solidFill>
                  <a:srgbClr val="1F3864"/>
                </a:solidFill>
                <a:latin typeface="Calibri Black" pitchFamily="34" charset="0"/>
                <a:ea typeface="Calibri Black" pitchFamily="34" charset="-122"/>
                <a:cs typeface="Calibri Black" pitchFamily="34" charset="-120"/>
              </a:rPr>
              <a:t>MVC — Flujo con JSP y Servlets</a:t>
            </a:r>
            <a:endParaRPr lang="en-US" sz="2200" dirty="0"/>
          </a:p>
        </p:txBody>
      </p:sp>
      <p:sp>
        <p:nvSpPr>
          <p:cNvPr id="5" name="Shape 3"/>
          <p:cNvSpPr/>
          <p:nvPr/>
        </p:nvSpPr>
        <p:spPr>
          <a:xfrm>
            <a:off x="228600" y="822960"/>
            <a:ext cx="4160520" cy="11887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6" name="Shape 4"/>
          <p:cNvSpPr/>
          <p:nvPr/>
        </p:nvSpPr>
        <p:spPr>
          <a:xfrm>
            <a:off x="228600" y="822960"/>
            <a:ext cx="457200" cy="1188720"/>
          </a:xfrm>
          <a:prstGeom prst="rect">
            <a:avLst/>
          </a:prstGeom>
          <a:solidFill>
            <a:srgbClr val="1F3864"/>
          </a:solidFill>
          <a:ln w="12700">
            <a:solidFill>
              <a:srgbClr val="1F3864"/>
            </a:solidFill>
            <a:prstDash val="solid"/>
          </a:ln>
        </p:spPr>
      </p:sp>
      <p:sp>
        <p:nvSpPr>
          <p:cNvPr id="7" name="Text 5"/>
          <p:cNvSpPr/>
          <p:nvPr/>
        </p:nvSpPr>
        <p:spPr>
          <a:xfrm>
            <a:off x="228600" y="822960"/>
            <a:ext cx="457200" cy="1188720"/>
          </a:xfrm>
          <a:prstGeom prst="rect">
            <a:avLst/>
          </a:prstGeom>
          <a:noFill/>
          <a:ln/>
        </p:spPr>
        <p:txBody>
          <a:bodyPr wrap="square" rtlCol="0" anchor="ctr"/>
          <a:lstStyle/>
          <a:p>
            <a:pPr algn="ctr" indent="0" marL="0">
              <a:buNone/>
            </a:pPr>
            <a:r>
              <a:rPr lang="en-US" sz="1800" b="1" dirty="0">
                <a:solidFill>
                  <a:srgbClr val="FFFFFF"/>
                </a:solidFill>
                <a:latin typeface="Calibri Black" pitchFamily="34" charset="0"/>
                <a:ea typeface="Calibri Black" pitchFamily="34" charset="-122"/>
                <a:cs typeface="Calibri Black" pitchFamily="34" charset="-120"/>
              </a:rPr>
              <a:t>1</a:t>
            </a:r>
            <a:endParaRPr lang="en-US" sz="1800" dirty="0"/>
          </a:p>
        </p:txBody>
      </p:sp>
      <p:sp>
        <p:nvSpPr>
          <p:cNvPr id="8" name="Text 6"/>
          <p:cNvSpPr/>
          <p:nvPr/>
        </p:nvSpPr>
        <p:spPr>
          <a:xfrm>
            <a:off x="758952" y="932688"/>
            <a:ext cx="3520440" cy="347472"/>
          </a:xfrm>
          <a:prstGeom prst="rect">
            <a:avLst/>
          </a:prstGeom>
          <a:noFill/>
          <a:ln/>
        </p:spPr>
        <p:txBody>
          <a:bodyPr wrap="square"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Usuario abre el navegador</a:t>
            </a:r>
            <a:endParaRPr lang="en-US" sz="1200" dirty="0"/>
          </a:p>
        </p:txBody>
      </p:sp>
      <p:sp>
        <p:nvSpPr>
          <p:cNvPr id="9" name="Text 7"/>
          <p:cNvSpPr/>
          <p:nvPr/>
        </p:nvSpPr>
        <p:spPr>
          <a:xfrm>
            <a:off x="758952" y="1298448"/>
            <a:ext cx="3520440" cy="621792"/>
          </a:xfrm>
          <a:prstGeom prst="rect">
            <a:avLst/>
          </a:prstGeom>
          <a:noFill/>
          <a:ln/>
        </p:spPr>
        <p:txBody>
          <a:bodyPr wrap="square"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GET /inventario → llega al Servlet</a:t>
            </a:r>
            <a:endParaRPr lang="en-US" sz="1000" dirty="0"/>
          </a:p>
        </p:txBody>
      </p:sp>
      <p:sp>
        <p:nvSpPr>
          <p:cNvPr id="10" name="Shape 8"/>
          <p:cNvSpPr/>
          <p:nvPr/>
        </p:nvSpPr>
        <p:spPr>
          <a:xfrm>
            <a:off x="4663440" y="822960"/>
            <a:ext cx="4160520" cy="11887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1" name="Shape 9"/>
          <p:cNvSpPr/>
          <p:nvPr/>
        </p:nvSpPr>
        <p:spPr>
          <a:xfrm>
            <a:off x="4663440" y="822960"/>
            <a:ext cx="457200" cy="1188720"/>
          </a:xfrm>
          <a:prstGeom prst="rect">
            <a:avLst/>
          </a:prstGeom>
          <a:solidFill>
            <a:srgbClr val="065A82"/>
          </a:solidFill>
          <a:ln w="12700">
            <a:solidFill>
              <a:srgbClr val="065A82"/>
            </a:solidFill>
            <a:prstDash val="solid"/>
          </a:ln>
        </p:spPr>
      </p:sp>
      <p:sp>
        <p:nvSpPr>
          <p:cNvPr id="12" name="Text 10"/>
          <p:cNvSpPr/>
          <p:nvPr/>
        </p:nvSpPr>
        <p:spPr>
          <a:xfrm>
            <a:off x="4663440" y="822960"/>
            <a:ext cx="457200" cy="1188720"/>
          </a:xfrm>
          <a:prstGeom prst="rect">
            <a:avLst/>
          </a:prstGeom>
          <a:noFill/>
          <a:ln/>
        </p:spPr>
        <p:txBody>
          <a:bodyPr wrap="square" rtlCol="0" anchor="ctr"/>
          <a:lstStyle/>
          <a:p>
            <a:pPr algn="ctr" indent="0" marL="0">
              <a:buNone/>
            </a:pPr>
            <a:r>
              <a:rPr lang="en-US" sz="1800" b="1" dirty="0">
                <a:solidFill>
                  <a:srgbClr val="FFFFFF"/>
                </a:solidFill>
                <a:latin typeface="Calibri Black" pitchFamily="34" charset="0"/>
                <a:ea typeface="Calibri Black" pitchFamily="34" charset="-122"/>
                <a:cs typeface="Calibri Black" pitchFamily="34" charset="-120"/>
              </a:rPr>
              <a:t>2</a:t>
            </a:r>
            <a:endParaRPr lang="en-US" sz="1800" dirty="0"/>
          </a:p>
        </p:txBody>
      </p:sp>
      <p:sp>
        <p:nvSpPr>
          <p:cNvPr id="13" name="Text 11"/>
          <p:cNvSpPr/>
          <p:nvPr/>
        </p:nvSpPr>
        <p:spPr>
          <a:xfrm>
            <a:off x="5193792" y="932688"/>
            <a:ext cx="3520440" cy="347472"/>
          </a:xfrm>
          <a:prstGeom prst="rect">
            <a:avLst/>
          </a:prstGeom>
          <a:noFill/>
          <a:ln/>
        </p:spPr>
        <p:txBody>
          <a:bodyPr wrap="square"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InventarioServlet.doGet()</a:t>
            </a:r>
            <a:endParaRPr lang="en-US" sz="1200" dirty="0"/>
          </a:p>
        </p:txBody>
      </p:sp>
      <p:sp>
        <p:nvSpPr>
          <p:cNvPr id="14" name="Text 12"/>
          <p:cNvSpPr/>
          <p:nvPr/>
        </p:nvSpPr>
        <p:spPr>
          <a:xfrm>
            <a:off x="5193792" y="1298448"/>
            <a:ext cx="3520440" cy="621792"/>
          </a:xfrm>
          <a:prstGeom prst="rect">
            <a:avLst/>
          </a:prstGeom>
          <a:noFill/>
          <a:ln/>
        </p:spPr>
        <p:txBody>
          <a:bodyPr wrap="square"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Controlador recibe la petición HTTP</a:t>
            </a:r>
            <a:endParaRPr lang="en-US" sz="1000" dirty="0"/>
          </a:p>
        </p:txBody>
      </p:sp>
      <p:sp>
        <p:nvSpPr>
          <p:cNvPr id="15" name="Shape 13"/>
          <p:cNvSpPr/>
          <p:nvPr/>
        </p:nvSpPr>
        <p:spPr>
          <a:xfrm>
            <a:off x="228600" y="2121408"/>
            <a:ext cx="4160520" cy="11887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6" name="Shape 14"/>
          <p:cNvSpPr/>
          <p:nvPr/>
        </p:nvSpPr>
        <p:spPr>
          <a:xfrm>
            <a:off x="228600" y="2121408"/>
            <a:ext cx="457200" cy="1188720"/>
          </a:xfrm>
          <a:prstGeom prst="rect">
            <a:avLst/>
          </a:prstGeom>
          <a:solidFill>
            <a:srgbClr val="2D8200"/>
          </a:solidFill>
          <a:ln w="12700">
            <a:solidFill>
              <a:srgbClr val="2D8200"/>
            </a:solidFill>
            <a:prstDash val="solid"/>
          </a:ln>
        </p:spPr>
      </p:sp>
      <p:sp>
        <p:nvSpPr>
          <p:cNvPr id="17" name="Text 15"/>
          <p:cNvSpPr/>
          <p:nvPr/>
        </p:nvSpPr>
        <p:spPr>
          <a:xfrm>
            <a:off x="228600" y="2121408"/>
            <a:ext cx="457200" cy="1188720"/>
          </a:xfrm>
          <a:prstGeom prst="rect">
            <a:avLst/>
          </a:prstGeom>
          <a:noFill/>
          <a:ln/>
        </p:spPr>
        <p:txBody>
          <a:bodyPr wrap="square" rtlCol="0" anchor="ctr"/>
          <a:lstStyle/>
          <a:p>
            <a:pPr algn="ctr" indent="0" marL="0">
              <a:buNone/>
            </a:pPr>
            <a:r>
              <a:rPr lang="en-US" sz="1800" b="1" dirty="0">
                <a:solidFill>
                  <a:srgbClr val="FFFFFF"/>
                </a:solidFill>
                <a:latin typeface="Calibri Black" pitchFamily="34" charset="0"/>
                <a:ea typeface="Calibri Black" pitchFamily="34" charset="-122"/>
                <a:cs typeface="Calibri Black" pitchFamily="34" charset="-120"/>
              </a:rPr>
              <a:t>3</a:t>
            </a:r>
            <a:endParaRPr lang="en-US" sz="1800" dirty="0"/>
          </a:p>
        </p:txBody>
      </p:sp>
      <p:sp>
        <p:nvSpPr>
          <p:cNvPr id="18" name="Text 16"/>
          <p:cNvSpPr/>
          <p:nvPr/>
        </p:nvSpPr>
        <p:spPr>
          <a:xfrm>
            <a:off x="758952" y="2231136"/>
            <a:ext cx="3520440" cy="347472"/>
          </a:xfrm>
          <a:prstGeom prst="rect">
            <a:avLst/>
          </a:prstGeom>
          <a:noFill/>
          <a:ln/>
        </p:spPr>
        <p:txBody>
          <a:bodyPr wrap="square"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Crea el Modelo</a:t>
            </a:r>
            <a:endParaRPr lang="en-US" sz="1200" dirty="0"/>
          </a:p>
        </p:txBody>
      </p:sp>
      <p:sp>
        <p:nvSpPr>
          <p:cNvPr id="19" name="Text 17"/>
          <p:cNvSpPr/>
          <p:nvPr/>
        </p:nvSpPr>
        <p:spPr>
          <a:xfrm>
            <a:off x="758952" y="2596896"/>
            <a:ext cx="3520440" cy="621792"/>
          </a:xfrm>
          <a:prstGeom prst="rect">
            <a:avLst/>
          </a:prstGeom>
          <a:noFill/>
          <a:ln/>
        </p:spPr>
        <p:txBody>
          <a:bodyPr wrap="square"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Producto p = new Producto(...) o consulta BD via DAO</a:t>
            </a:r>
            <a:endParaRPr lang="en-US" sz="1000" dirty="0"/>
          </a:p>
        </p:txBody>
      </p:sp>
      <p:sp>
        <p:nvSpPr>
          <p:cNvPr id="20" name="Shape 18"/>
          <p:cNvSpPr/>
          <p:nvPr/>
        </p:nvSpPr>
        <p:spPr>
          <a:xfrm>
            <a:off x="4663440" y="2121408"/>
            <a:ext cx="4160520" cy="11887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21" name="Shape 19"/>
          <p:cNvSpPr/>
          <p:nvPr/>
        </p:nvSpPr>
        <p:spPr>
          <a:xfrm>
            <a:off x="4663440" y="2121408"/>
            <a:ext cx="457200" cy="1188720"/>
          </a:xfrm>
          <a:prstGeom prst="rect">
            <a:avLst/>
          </a:prstGeom>
          <a:solidFill>
            <a:srgbClr val="2D8200"/>
          </a:solidFill>
          <a:ln w="12700">
            <a:solidFill>
              <a:srgbClr val="2D8200"/>
            </a:solidFill>
            <a:prstDash val="solid"/>
          </a:ln>
        </p:spPr>
      </p:sp>
      <p:sp>
        <p:nvSpPr>
          <p:cNvPr id="22" name="Text 20"/>
          <p:cNvSpPr/>
          <p:nvPr/>
        </p:nvSpPr>
        <p:spPr>
          <a:xfrm>
            <a:off x="4663440" y="2121408"/>
            <a:ext cx="457200" cy="1188720"/>
          </a:xfrm>
          <a:prstGeom prst="rect">
            <a:avLst/>
          </a:prstGeom>
          <a:noFill/>
          <a:ln/>
        </p:spPr>
        <p:txBody>
          <a:bodyPr wrap="square" rtlCol="0" anchor="ctr"/>
          <a:lstStyle/>
          <a:p>
            <a:pPr algn="ctr" indent="0" marL="0">
              <a:buNone/>
            </a:pPr>
            <a:r>
              <a:rPr lang="en-US" sz="1800" b="1" dirty="0">
                <a:solidFill>
                  <a:srgbClr val="FFFFFF"/>
                </a:solidFill>
                <a:latin typeface="Calibri Black" pitchFamily="34" charset="0"/>
                <a:ea typeface="Calibri Black" pitchFamily="34" charset="-122"/>
                <a:cs typeface="Calibri Black" pitchFamily="34" charset="-120"/>
              </a:rPr>
              <a:t>4</a:t>
            </a:r>
            <a:endParaRPr lang="en-US" sz="1800" dirty="0"/>
          </a:p>
        </p:txBody>
      </p:sp>
      <p:sp>
        <p:nvSpPr>
          <p:cNvPr id="23" name="Text 21"/>
          <p:cNvSpPr/>
          <p:nvPr/>
        </p:nvSpPr>
        <p:spPr>
          <a:xfrm>
            <a:off x="5193792" y="2231136"/>
            <a:ext cx="3520440" cy="347472"/>
          </a:xfrm>
          <a:prstGeom prst="rect">
            <a:avLst/>
          </a:prstGeom>
          <a:noFill/>
          <a:ln/>
        </p:spPr>
        <p:txBody>
          <a:bodyPr wrap="square"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Pasa datos a la Vista</a:t>
            </a:r>
            <a:endParaRPr lang="en-US" sz="1200" dirty="0"/>
          </a:p>
        </p:txBody>
      </p:sp>
      <p:sp>
        <p:nvSpPr>
          <p:cNvPr id="24" name="Text 22"/>
          <p:cNvSpPr/>
          <p:nvPr/>
        </p:nvSpPr>
        <p:spPr>
          <a:xfrm>
            <a:off x="5193792" y="2596896"/>
            <a:ext cx="3520440" cy="621792"/>
          </a:xfrm>
          <a:prstGeom prst="rect">
            <a:avLst/>
          </a:prstGeom>
          <a:noFill/>
          <a:ln/>
        </p:spPr>
        <p:txBody>
          <a:bodyPr wrap="square"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request.setAttribute("producto", p)</a:t>
            </a:r>
            <a:endParaRPr lang="en-US" sz="1000" dirty="0"/>
          </a:p>
        </p:txBody>
      </p:sp>
      <p:sp>
        <p:nvSpPr>
          <p:cNvPr id="25" name="Shape 23"/>
          <p:cNvSpPr/>
          <p:nvPr/>
        </p:nvSpPr>
        <p:spPr>
          <a:xfrm>
            <a:off x="228600" y="3419856"/>
            <a:ext cx="4160520" cy="11887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26" name="Shape 24"/>
          <p:cNvSpPr/>
          <p:nvPr/>
        </p:nvSpPr>
        <p:spPr>
          <a:xfrm>
            <a:off x="228600" y="3419856"/>
            <a:ext cx="457200" cy="1188720"/>
          </a:xfrm>
          <a:prstGeom prst="rect">
            <a:avLst/>
          </a:prstGeom>
          <a:solidFill>
            <a:srgbClr val="065A82"/>
          </a:solidFill>
          <a:ln w="12700">
            <a:solidFill>
              <a:srgbClr val="065A82"/>
            </a:solidFill>
            <a:prstDash val="solid"/>
          </a:ln>
        </p:spPr>
      </p:sp>
      <p:sp>
        <p:nvSpPr>
          <p:cNvPr id="27" name="Text 25"/>
          <p:cNvSpPr/>
          <p:nvPr/>
        </p:nvSpPr>
        <p:spPr>
          <a:xfrm>
            <a:off x="228600" y="3419856"/>
            <a:ext cx="457200" cy="1188720"/>
          </a:xfrm>
          <a:prstGeom prst="rect">
            <a:avLst/>
          </a:prstGeom>
          <a:noFill/>
          <a:ln/>
        </p:spPr>
        <p:txBody>
          <a:bodyPr wrap="square" rtlCol="0" anchor="ctr"/>
          <a:lstStyle/>
          <a:p>
            <a:pPr algn="ctr" indent="0" marL="0">
              <a:buNone/>
            </a:pPr>
            <a:r>
              <a:rPr lang="en-US" sz="1800" b="1" dirty="0">
                <a:solidFill>
                  <a:srgbClr val="FFFFFF"/>
                </a:solidFill>
                <a:latin typeface="Calibri Black" pitchFamily="34" charset="0"/>
                <a:ea typeface="Calibri Black" pitchFamily="34" charset="-122"/>
                <a:cs typeface="Calibri Black" pitchFamily="34" charset="-120"/>
              </a:rPr>
              <a:t>5</a:t>
            </a:r>
            <a:endParaRPr lang="en-US" sz="1800" dirty="0"/>
          </a:p>
        </p:txBody>
      </p:sp>
      <p:sp>
        <p:nvSpPr>
          <p:cNvPr id="28" name="Text 26"/>
          <p:cNvSpPr/>
          <p:nvPr/>
        </p:nvSpPr>
        <p:spPr>
          <a:xfrm>
            <a:off x="758952" y="3529584"/>
            <a:ext cx="3520440" cy="347472"/>
          </a:xfrm>
          <a:prstGeom prst="rect">
            <a:avLst/>
          </a:prstGeom>
          <a:noFill/>
          <a:ln/>
        </p:spPr>
        <p:txBody>
          <a:bodyPr wrap="square"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Forward al JSP</a:t>
            </a:r>
            <a:endParaRPr lang="en-US" sz="1200" dirty="0"/>
          </a:p>
        </p:txBody>
      </p:sp>
      <p:sp>
        <p:nvSpPr>
          <p:cNvPr id="29" name="Text 27"/>
          <p:cNvSpPr/>
          <p:nvPr/>
        </p:nvSpPr>
        <p:spPr>
          <a:xfrm>
            <a:off x="758952" y="3895344"/>
            <a:ext cx="3520440" cy="621792"/>
          </a:xfrm>
          <a:prstGeom prst="rect">
            <a:avLst/>
          </a:prstGeom>
          <a:noFill/>
          <a:ln/>
        </p:spPr>
        <p:txBody>
          <a:bodyPr wrap="square"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getRequestDispatcher("inventario.jsp").forward(req, resp)</a:t>
            </a:r>
            <a:endParaRPr lang="en-US" sz="1000" dirty="0"/>
          </a:p>
        </p:txBody>
      </p:sp>
      <p:sp>
        <p:nvSpPr>
          <p:cNvPr id="30" name="Shape 28"/>
          <p:cNvSpPr/>
          <p:nvPr/>
        </p:nvSpPr>
        <p:spPr>
          <a:xfrm>
            <a:off x="4663440" y="3419856"/>
            <a:ext cx="4160520" cy="11887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31" name="Shape 29"/>
          <p:cNvSpPr/>
          <p:nvPr/>
        </p:nvSpPr>
        <p:spPr>
          <a:xfrm>
            <a:off x="4663440" y="3419856"/>
            <a:ext cx="457200" cy="1188720"/>
          </a:xfrm>
          <a:prstGeom prst="rect">
            <a:avLst/>
          </a:prstGeom>
          <a:solidFill>
            <a:srgbClr val="1F3864"/>
          </a:solidFill>
          <a:ln w="12700">
            <a:solidFill>
              <a:srgbClr val="1F3864"/>
            </a:solidFill>
            <a:prstDash val="solid"/>
          </a:ln>
        </p:spPr>
      </p:sp>
      <p:sp>
        <p:nvSpPr>
          <p:cNvPr id="32" name="Text 30"/>
          <p:cNvSpPr/>
          <p:nvPr/>
        </p:nvSpPr>
        <p:spPr>
          <a:xfrm>
            <a:off x="4663440" y="3419856"/>
            <a:ext cx="457200" cy="1188720"/>
          </a:xfrm>
          <a:prstGeom prst="rect">
            <a:avLst/>
          </a:prstGeom>
          <a:noFill/>
          <a:ln/>
        </p:spPr>
        <p:txBody>
          <a:bodyPr wrap="square" rtlCol="0" anchor="ctr"/>
          <a:lstStyle/>
          <a:p>
            <a:pPr algn="ctr" indent="0" marL="0">
              <a:buNone/>
            </a:pPr>
            <a:r>
              <a:rPr lang="en-US" sz="1800" b="1" dirty="0">
                <a:solidFill>
                  <a:srgbClr val="FFFFFF"/>
                </a:solidFill>
                <a:latin typeface="Calibri Black" pitchFamily="34" charset="0"/>
                <a:ea typeface="Calibri Black" pitchFamily="34" charset="-122"/>
                <a:cs typeface="Calibri Black" pitchFamily="34" charset="-120"/>
              </a:rPr>
              <a:t>6</a:t>
            </a:r>
            <a:endParaRPr lang="en-US" sz="1800" dirty="0"/>
          </a:p>
        </p:txBody>
      </p:sp>
      <p:sp>
        <p:nvSpPr>
          <p:cNvPr id="33" name="Text 31"/>
          <p:cNvSpPr/>
          <p:nvPr/>
        </p:nvSpPr>
        <p:spPr>
          <a:xfrm>
            <a:off x="5193792" y="3529584"/>
            <a:ext cx="3520440" cy="347472"/>
          </a:xfrm>
          <a:prstGeom prst="rect">
            <a:avLst/>
          </a:prstGeom>
          <a:noFill/>
          <a:ln/>
        </p:spPr>
        <p:txBody>
          <a:bodyPr wrap="square"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JSP renderiza el HTML</a:t>
            </a:r>
            <a:endParaRPr lang="en-US" sz="1200" dirty="0"/>
          </a:p>
        </p:txBody>
      </p:sp>
      <p:sp>
        <p:nvSpPr>
          <p:cNvPr id="34" name="Text 32"/>
          <p:cNvSpPr/>
          <p:nvPr/>
        </p:nvSpPr>
        <p:spPr>
          <a:xfrm>
            <a:off x="5193792" y="3895344"/>
            <a:ext cx="3520440" cy="621792"/>
          </a:xfrm>
          <a:prstGeom prst="rect">
            <a:avLst/>
          </a:prstGeom>
          <a:noFill/>
          <a:ln/>
        </p:spPr>
        <p:txBody>
          <a:bodyPr wrap="square"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Usa ${producto.nombre}, ${producto.precio} → devuelve HTML al cliente</a:t>
            </a:r>
            <a:endParaRPr lang="en-US" sz="1000" dirty="0"/>
          </a:p>
        </p:txBody>
      </p:sp>
      <p:sp>
        <p:nvSpPr>
          <p:cNvPr id="35" name="Shape 33"/>
          <p:cNvSpPr/>
          <p:nvPr/>
        </p:nvSpPr>
        <p:spPr>
          <a:xfrm>
            <a:off x="0" y="4846320"/>
            <a:ext cx="9144000" cy="297180"/>
          </a:xfrm>
          <a:prstGeom prst="rect">
            <a:avLst/>
          </a:prstGeom>
          <a:solidFill>
            <a:srgbClr val="1F3864"/>
          </a:solidFill>
          <a:ln w="12700">
            <a:solidFill>
              <a:srgbClr val="1F3864"/>
            </a:solidFill>
            <a:prstDash val="solid"/>
          </a:ln>
        </p:spPr>
      </p:sp>
      <p:sp>
        <p:nvSpPr>
          <p:cNvPr id="36" name="Text 34"/>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37" name="Text 35"/>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29/32</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65A82"/>
          </a:solidFill>
          <a:ln w="12700">
            <a:solidFill>
              <a:srgbClr val="065A82"/>
            </a:solidFill>
            <a:prstDash val="solid"/>
          </a:ln>
        </p:spPr>
      </p:sp>
      <p:sp>
        <p:nvSpPr>
          <p:cNvPr id="3" name="Text 1"/>
          <p:cNvSpPr/>
          <p:nvPr/>
        </p:nvSpPr>
        <p:spPr>
          <a:xfrm>
            <a:off x="274320" y="164592"/>
            <a:ext cx="8229600" cy="457200"/>
          </a:xfrm>
          <a:prstGeom prst="rect">
            <a:avLst/>
          </a:prstGeom>
          <a:noFill/>
          <a:ln/>
        </p:spPr>
        <p:txBody>
          <a:bodyPr wrap="square" rtlCol="0" anchor="ctr"/>
          <a:lstStyle/>
          <a:p>
            <a:pPr indent="0" marL="0">
              <a:buNone/>
            </a:pPr>
            <a:r>
              <a:rPr lang="en-US" sz="1800" b="1" dirty="0">
                <a:solidFill>
                  <a:srgbClr val="FFFFFF"/>
                </a:solidFill>
                <a:latin typeface="Calibri Black" pitchFamily="34" charset="0"/>
                <a:ea typeface="Calibri Black" pitchFamily="34" charset="-122"/>
                <a:cs typeface="Calibri Black" pitchFamily="34" charset="-120"/>
              </a:rPr>
              <a:t>MVC — Código Java (Modelo + Controlador simulado)</a:t>
            </a:r>
            <a:endParaRPr lang="en-US" sz="1800" dirty="0"/>
          </a:p>
        </p:txBody>
      </p:sp>
      <p:sp>
        <p:nvSpPr>
          <p:cNvPr id="4" name="Shape 2"/>
          <p:cNvSpPr/>
          <p:nvPr/>
        </p:nvSpPr>
        <p:spPr>
          <a:xfrm>
            <a:off x="182880" y="713232"/>
            <a:ext cx="4343400" cy="3547872"/>
          </a:xfrm>
          <a:prstGeom prst="rect">
            <a:avLst/>
          </a:prstGeom>
          <a:solidFill>
            <a:srgbClr val="0F172A"/>
          </a:solidFill>
          <a:ln w="12700">
            <a:solidFill>
              <a:srgbClr val="334155"/>
            </a:solidFill>
            <a:prstDash val="solid"/>
          </a:ln>
          <a:effectLst>
            <a:outerShdw sx="100000" sy="100000" kx="0" ky="0" algn="bl" rotWithShape="0" blurRad="101600" dist="38100" dir="8100000">
              <a:srgbClr val="000000">
                <a:alpha val="15000"/>
              </a:srgbClr>
            </a:outerShdw>
          </a:effectLst>
        </p:spPr>
      </p:sp>
      <p:sp>
        <p:nvSpPr>
          <p:cNvPr id="5" name="Shape 3"/>
          <p:cNvSpPr/>
          <p:nvPr/>
        </p:nvSpPr>
        <p:spPr>
          <a:xfrm>
            <a:off x="182880" y="713232"/>
            <a:ext cx="4343400" cy="201168"/>
          </a:xfrm>
          <a:prstGeom prst="rect">
            <a:avLst/>
          </a:prstGeom>
          <a:solidFill>
            <a:srgbClr val="1E293B"/>
          </a:solidFill>
          <a:ln w="12700">
            <a:solidFill>
              <a:srgbClr val="334155"/>
            </a:solidFill>
            <a:prstDash val="solid"/>
          </a:ln>
        </p:spPr>
      </p:sp>
      <p:sp>
        <p:nvSpPr>
          <p:cNvPr id="6" name="Text 4"/>
          <p:cNvSpPr/>
          <p:nvPr/>
        </p:nvSpPr>
        <p:spPr>
          <a:xfrm>
            <a:off x="274320" y="722376"/>
            <a:ext cx="4160520" cy="182880"/>
          </a:xfrm>
          <a:prstGeom prst="rect">
            <a:avLst/>
          </a:prstGeom>
          <a:noFill/>
          <a:ln/>
        </p:spPr>
        <p:txBody>
          <a:bodyPr wrap="square"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Java  •  Almacén Don José</a:t>
            </a:r>
            <a:endParaRPr lang="en-US" sz="750" dirty="0"/>
          </a:p>
        </p:txBody>
      </p:sp>
      <p:sp>
        <p:nvSpPr>
          <p:cNvPr id="7" name="Text 5"/>
          <p:cNvSpPr/>
          <p:nvPr/>
        </p:nvSpPr>
        <p:spPr>
          <a:xfrm>
            <a:off x="274320" y="932688"/>
            <a:ext cx="4160520" cy="3273552"/>
          </a:xfrm>
          <a:prstGeom prst="rect">
            <a:avLst/>
          </a:prstGeom>
          <a:noFill/>
          <a:ln/>
        </p:spPr>
        <p:txBody>
          <a:bodyPr wrap="square" rtlCol="0" anchor="t"/>
          <a:lstStyle/>
          <a:p>
            <a:pPr indent="0" marL="0">
              <a:buNone/>
            </a:pPr>
            <a:r>
              <a:rPr lang="en-US" sz="850" dirty="0">
                <a:solidFill>
                  <a:srgbClr val="E2E8F0"/>
                </a:solidFill>
                <a:latin typeface="Consolas" pitchFamily="34" charset="0"/>
                <a:ea typeface="Consolas" pitchFamily="34" charset="-122"/>
                <a:cs typeface="Consolas" pitchFamily="34" charset="-120"/>
              </a:rPr>
              <a:t>// MODELO</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public class Producto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private String nombre;</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private double precio;</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private int    cantidad;</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 getters, setters...</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a:t>
            </a:r>
            <a:endParaRPr lang="en-US" sz="850" dirty="0"/>
          </a:p>
          <a:p>
            <a:pPr indent="0" marL="0">
              <a:buNone/>
            </a:pP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VISTA (simula JSP)</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public class VistaInventario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void mostrarProducto(Producto p)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System.out.println(p.getNombre() + " $" + p.getPrecio());</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void mostrarError(String msg) { ...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a:t>
            </a:r>
            <a:endParaRPr lang="en-US" sz="850" dirty="0"/>
          </a:p>
        </p:txBody>
      </p:sp>
      <p:sp>
        <p:nvSpPr>
          <p:cNvPr id="8" name="Shape 6"/>
          <p:cNvSpPr/>
          <p:nvPr/>
        </p:nvSpPr>
        <p:spPr>
          <a:xfrm>
            <a:off x="4617720" y="713232"/>
            <a:ext cx="4343400" cy="3547872"/>
          </a:xfrm>
          <a:prstGeom prst="rect">
            <a:avLst/>
          </a:prstGeom>
          <a:solidFill>
            <a:srgbClr val="0F172A"/>
          </a:solidFill>
          <a:ln w="12700">
            <a:solidFill>
              <a:srgbClr val="334155"/>
            </a:solidFill>
            <a:prstDash val="solid"/>
          </a:ln>
          <a:effectLst>
            <a:outerShdw sx="100000" sy="100000" kx="0" ky="0" algn="bl" rotWithShape="0" blurRad="101600" dist="38100" dir="8100000">
              <a:srgbClr val="000000">
                <a:alpha val="15000"/>
              </a:srgbClr>
            </a:outerShdw>
          </a:effectLst>
        </p:spPr>
      </p:sp>
      <p:sp>
        <p:nvSpPr>
          <p:cNvPr id="9" name="Shape 7"/>
          <p:cNvSpPr/>
          <p:nvPr/>
        </p:nvSpPr>
        <p:spPr>
          <a:xfrm>
            <a:off x="4617720" y="713232"/>
            <a:ext cx="4343400" cy="201168"/>
          </a:xfrm>
          <a:prstGeom prst="rect">
            <a:avLst/>
          </a:prstGeom>
          <a:solidFill>
            <a:srgbClr val="1E293B"/>
          </a:solidFill>
          <a:ln w="12700">
            <a:solidFill>
              <a:srgbClr val="334155"/>
            </a:solidFill>
            <a:prstDash val="solid"/>
          </a:ln>
        </p:spPr>
      </p:sp>
      <p:sp>
        <p:nvSpPr>
          <p:cNvPr id="10" name="Text 8"/>
          <p:cNvSpPr/>
          <p:nvPr/>
        </p:nvSpPr>
        <p:spPr>
          <a:xfrm>
            <a:off x="4709160" y="722376"/>
            <a:ext cx="4160520" cy="182880"/>
          </a:xfrm>
          <a:prstGeom prst="rect">
            <a:avLst/>
          </a:prstGeom>
          <a:noFill/>
          <a:ln/>
        </p:spPr>
        <p:txBody>
          <a:bodyPr wrap="square" rtlCol="0" anchor="ctr"/>
          <a:lstStyle/>
          <a:p>
            <a:pPr indent="0" marL="0">
              <a:buNone/>
            </a:pPr>
            <a:r>
              <a:rPr lang="en-US" sz="750" dirty="0">
                <a:solidFill>
                  <a:srgbClr val="94A3B8"/>
                </a:solidFill>
                <a:latin typeface="Consolas" pitchFamily="34" charset="0"/>
                <a:ea typeface="Consolas" pitchFamily="34" charset="-122"/>
                <a:cs typeface="Consolas" pitchFamily="34" charset="-120"/>
              </a:rPr>
              <a:t>Java  •  Almacén Don José</a:t>
            </a:r>
            <a:endParaRPr lang="en-US" sz="750" dirty="0"/>
          </a:p>
        </p:txBody>
      </p:sp>
      <p:sp>
        <p:nvSpPr>
          <p:cNvPr id="11" name="Text 9"/>
          <p:cNvSpPr/>
          <p:nvPr/>
        </p:nvSpPr>
        <p:spPr>
          <a:xfrm>
            <a:off x="4709160" y="932688"/>
            <a:ext cx="4160520" cy="3273552"/>
          </a:xfrm>
          <a:prstGeom prst="rect">
            <a:avLst/>
          </a:prstGeom>
          <a:noFill/>
          <a:ln/>
        </p:spPr>
        <p:txBody>
          <a:bodyPr wrap="square" rtlCol="0" anchor="t"/>
          <a:lstStyle/>
          <a:p>
            <a:pPr indent="0" marL="0">
              <a:buNone/>
            </a:pPr>
            <a:r>
              <a:rPr lang="en-US" sz="850" dirty="0">
                <a:solidFill>
                  <a:srgbClr val="E2E8F0"/>
                </a:solidFill>
                <a:latin typeface="Consolas" pitchFamily="34" charset="0"/>
                <a:ea typeface="Consolas" pitchFamily="34" charset="-122"/>
                <a:cs typeface="Consolas" pitchFamily="34" charset="-120"/>
              </a:rPr>
              <a:t>// CONTROLADOR (simula Servlet)</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public class ControladorInventario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private Producto        modelo;</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private VistaInventario vista;</a:t>
            </a:r>
            <a:endParaRPr lang="en-US" sz="850" dirty="0"/>
          </a:p>
          <a:p>
            <a:pPr indent="0" marL="0">
              <a:buNone/>
            </a:pP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 doGet() - consultar</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void consultarInventario()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vista.mostrarProducto(modelo);</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a:t>
            </a:r>
            <a:endParaRPr lang="en-US" sz="850" dirty="0"/>
          </a:p>
          <a:p>
            <a:pPr indent="0" marL="0">
              <a:buNone/>
            </a:pP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 doPost() - vender</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public void procesarVenta(int cantidad)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if (modelo.getCantidad() &gt;= cantidad)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modelo.setCantidad(modelo.getCantidad()-cantidad);</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vista.mostrarMensajeExito("Venta OK");</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 else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vista.mostrarError("Stock insuficiente");</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E2E8F0"/>
                </a:solidFill>
                <a:latin typeface="Consolas" pitchFamily="34" charset="0"/>
                <a:ea typeface="Consolas" pitchFamily="34" charset="-122"/>
                <a:cs typeface="Consolas" pitchFamily="34" charset="-120"/>
              </a:rPr>
              <a:t>}</a:t>
            </a:r>
            <a:endParaRPr lang="en-US" sz="850" dirty="0"/>
          </a:p>
        </p:txBody>
      </p:sp>
      <p:sp>
        <p:nvSpPr>
          <p:cNvPr id="12" name="Shape 10"/>
          <p:cNvSpPr/>
          <p:nvPr/>
        </p:nvSpPr>
        <p:spPr>
          <a:xfrm>
            <a:off x="0" y="4846320"/>
            <a:ext cx="9144000" cy="297180"/>
          </a:xfrm>
          <a:prstGeom prst="rect">
            <a:avLst/>
          </a:prstGeom>
          <a:solidFill>
            <a:srgbClr val="1F3864"/>
          </a:solidFill>
          <a:ln w="12700">
            <a:solidFill>
              <a:srgbClr val="1F3864"/>
            </a:solidFill>
            <a:prstDash val="solid"/>
          </a:ln>
        </p:spPr>
      </p:sp>
      <p:sp>
        <p:nvSpPr>
          <p:cNvPr id="13" name="Text 11"/>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14" name="Text 12"/>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30/32</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65A82"/>
          </a:solidFill>
          <a:ln w="12700">
            <a:solidFill>
              <a:srgbClr val="065A82"/>
            </a:solidFill>
            <a:prstDash val="solid"/>
          </a:ln>
        </p:spPr>
      </p:sp>
      <p:sp>
        <p:nvSpPr>
          <p:cNvPr id="3" name="Shape 1"/>
          <p:cNvSpPr/>
          <p:nvPr/>
        </p:nvSpPr>
        <p:spPr>
          <a:xfrm>
            <a:off x="0" y="109728"/>
            <a:ext cx="73152" cy="5033772"/>
          </a:xfrm>
          <a:prstGeom prst="rect">
            <a:avLst/>
          </a:prstGeom>
          <a:solidFill>
            <a:srgbClr val="065A82"/>
          </a:solidFill>
          <a:ln w="12700">
            <a:solidFill>
              <a:srgbClr val="065A82"/>
            </a:solidFill>
            <a:prstDash val="solid"/>
          </a:ln>
        </p:spPr>
      </p:sp>
      <p:sp>
        <p:nvSpPr>
          <p:cNvPr id="4" name="Text 2"/>
          <p:cNvSpPr/>
          <p:nvPr/>
        </p:nvSpPr>
        <p:spPr>
          <a:xfrm>
            <a:off x="274320" y="182880"/>
            <a:ext cx="8595360" cy="530352"/>
          </a:xfrm>
          <a:prstGeom prst="rect">
            <a:avLst/>
          </a:prstGeom>
          <a:noFill/>
          <a:ln/>
        </p:spPr>
        <p:txBody>
          <a:bodyPr wrap="square" rtlCol="0" anchor="ctr"/>
          <a:lstStyle/>
          <a:p>
            <a:pPr indent="0" marL="0">
              <a:buNone/>
            </a:pPr>
            <a:r>
              <a:rPr lang="en-US" sz="2200" b="1" dirty="0">
                <a:solidFill>
                  <a:srgbClr val="1F3864"/>
                </a:solidFill>
                <a:latin typeface="Calibri Black" pitchFamily="34" charset="0"/>
                <a:ea typeface="Calibri Black" pitchFamily="34" charset="-122"/>
                <a:cs typeface="Calibri Black" pitchFamily="34" charset="-120"/>
              </a:rPr>
              <a:t>MVC — Resumen y Aplicabilidad</a:t>
            </a:r>
            <a:endParaRPr lang="en-US" sz="2200" dirty="0"/>
          </a:p>
        </p:txBody>
      </p:sp>
      <p:sp>
        <p:nvSpPr>
          <p:cNvPr id="5" name="Shape 3"/>
          <p:cNvSpPr/>
          <p:nvPr/>
        </p:nvSpPr>
        <p:spPr>
          <a:xfrm>
            <a:off x="228600" y="822960"/>
            <a:ext cx="4206240" cy="1481328"/>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6" name="Shape 4"/>
          <p:cNvSpPr/>
          <p:nvPr/>
        </p:nvSpPr>
        <p:spPr>
          <a:xfrm>
            <a:off x="228600" y="822960"/>
            <a:ext cx="64008" cy="1481328"/>
          </a:xfrm>
          <a:prstGeom prst="rect">
            <a:avLst/>
          </a:prstGeom>
          <a:solidFill>
            <a:srgbClr val="065A82"/>
          </a:solidFill>
          <a:ln w="12700">
            <a:solidFill>
              <a:srgbClr val="065A82"/>
            </a:solidFill>
            <a:prstDash val="solid"/>
          </a:ln>
        </p:spPr>
      </p:sp>
      <p:sp>
        <p:nvSpPr>
          <p:cNvPr id="7" name="Text 5"/>
          <p:cNvSpPr/>
          <p:nvPr/>
        </p:nvSpPr>
        <p:spPr>
          <a:xfrm>
            <a:off x="365760" y="914400"/>
            <a:ext cx="402336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¿Cuándo usarlo?</a:t>
            </a:r>
            <a:endParaRPr lang="en-US" sz="1100" dirty="0"/>
          </a:p>
        </p:txBody>
      </p:sp>
      <p:sp>
        <p:nvSpPr>
          <p:cNvPr id="8" name="Text 6"/>
          <p:cNvSpPr/>
          <p:nvPr/>
        </p:nvSpPr>
        <p:spPr>
          <a:xfrm>
            <a:off x="365760" y="1152144"/>
            <a:ext cx="4023360" cy="1078992"/>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 Cualquier aplicación web Java con JSP y Servlets</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Proyectos en equipo donde diseñadores y programadores trabajan por separado</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Cuando se quiere cambiar la interfaz sin tocar la lógica de negocio</a:t>
            </a:r>
            <a:endParaRPr lang="en-US" sz="1000" dirty="0"/>
          </a:p>
        </p:txBody>
      </p:sp>
      <p:sp>
        <p:nvSpPr>
          <p:cNvPr id="9" name="Shape 7"/>
          <p:cNvSpPr/>
          <p:nvPr/>
        </p:nvSpPr>
        <p:spPr>
          <a:xfrm>
            <a:off x="228600" y="2377440"/>
            <a:ext cx="4206240" cy="16459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5000"/>
              </a:srgbClr>
            </a:outerShdw>
          </a:effectLst>
        </p:spPr>
      </p:sp>
      <p:sp>
        <p:nvSpPr>
          <p:cNvPr id="10" name="Shape 8"/>
          <p:cNvSpPr/>
          <p:nvPr/>
        </p:nvSpPr>
        <p:spPr>
          <a:xfrm>
            <a:off x="228600" y="2377440"/>
            <a:ext cx="64008" cy="1645920"/>
          </a:xfrm>
          <a:prstGeom prst="rect">
            <a:avLst/>
          </a:prstGeom>
          <a:solidFill>
            <a:srgbClr val="065A82"/>
          </a:solidFill>
          <a:ln w="12700">
            <a:solidFill>
              <a:srgbClr val="065A82"/>
            </a:solidFill>
            <a:prstDash val="solid"/>
          </a:ln>
        </p:spPr>
      </p:sp>
      <p:sp>
        <p:nvSpPr>
          <p:cNvPr id="11" name="Text 9"/>
          <p:cNvSpPr/>
          <p:nvPr/>
        </p:nvSpPr>
        <p:spPr>
          <a:xfrm>
            <a:off x="365760" y="2468880"/>
            <a:ext cx="402336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Ventajas en el Almacén Don José</a:t>
            </a:r>
            <a:endParaRPr lang="en-US" sz="1100" dirty="0"/>
          </a:p>
        </p:txBody>
      </p:sp>
      <p:sp>
        <p:nvSpPr>
          <p:cNvPr id="12" name="Text 10"/>
          <p:cNvSpPr/>
          <p:nvPr/>
        </p:nvSpPr>
        <p:spPr>
          <a:xfrm>
            <a:off x="365760" y="2706624"/>
            <a:ext cx="4023360" cy="1243584"/>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 El diseñador puede modificar inventario.jsp sin tocar código Java</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El programador puede cambiar la lógica de venta sin tocar HTML</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Se pueden hacer pruebas unitarias del Modelo sin la Vista</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 Facilita agregar nuevas funcionalidades</a:t>
            </a:r>
            <a:endParaRPr lang="en-US" sz="1000" dirty="0"/>
          </a:p>
        </p:txBody>
      </p:sp>
      <p:sp>
        <p:nvSpPr>
          <p:cNvPr id="13" name="Shape 11"/>
          <p:cNvSpPr/>
          <p:nvPr/>
        </p:nvSpPr>
        <p:spPr>
          <a:xfrm>
            <a:off x="4617720" y="822960"/>
            <a:ext cx="4297680" cy="3200400"/>
          </a:xfrm>
          <a:prstGeom prst="rect">
            <a:avLst/>
          </a:prstGeom>
          <a:solidFill>
            <a:srgbClr val="1F3864"/>
          </a:solidFill>
          <a:ln w="12700">
            <a:solidFill>
              <a:srgbClr val="1F3864"/>
            </a:solidFill>
            <a:prstDash val="solid"/>
          </a:ln>
          <a:effectLst>
            <a:outerShdw sx="100000" sy="100000" kx="0" ky="0" algn="bl" rotWithShape="0" blurRad="101600" dist="38100" dir="8100000">
              <a:srgbClr val="000000">
                <a:alpha val="15000"/>
              </a:srgbClr>
            </a:outerShdw>
          </a:effectLst>
        </p:spPr>
      </p:sp>
      <p:sp>
        <p:nvSpPr>
          <p:cNvPr id="14" name="Text 12"/>
          <p:cNvSpPr/>
          <p:nvPr/>
        </p:nvSpPr>
        <p:spPr>
          <a:xfrm>
            <a:off x="4709160" y="868680"/>
            <a:ext cx="4114800" cy="32004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Resumen personal</a:t>
            </a:r>
            <a:endParaRPr lang="en-US" sz="1300" dirty="0"/>
          </a:p>
        </p:txBody>
      </p:sp>
      <p:sp>
        <p:nvSpPr>
          <p:cNvPr id="15" name="Shape 13"/>
          <p:cNvSpPr/>
          <p:nvPr/>
        </p:nvSpPr>
        <p:spPr>
          <a:xfrm>
            <a:off x="4709160" y="1216152"/>
            <a:ext cx="4114800" cy="0"/>
          </a:xfrm>
          <a:prstGeom prst="line">
            <a:avLst/>
          </a:prstGeom>
          <a:noFill/>
          <a:ln w="12700">
            <a:solidFill>
              <a:srgbClr val="065A82"/>
            </a:solidFill>
            <a:prstDash val="solid"/>
          </a:ln>
        </p:spPr>
      </p:sp>
      <p:sp>
        <p:nvSpPr>
          <p:cNvPr id="16" name="Text 14"/>
          <p:cNvSpPr/>
          <p:nvPr/>
        </p:nvSpPr>
        <p:spPr>
          <a:xfrm>
            <a:off x="4709160" y="1325880"/>
            <a:ext cx="4114800" cy="2606040"/>
          </a:xfrm>
          <a:prstGeom prst="rect">
            <a:avLst/>
          </a:prstGeom>
          <a:noFill/>
          <a:ln/>
        </p:spPr>
        <p:txBody>
          <a:bodyPr wrap="square" rtlCol="0" anchor="ctr"/>
          <a:lstStyle/>
          <a:p>
            <a:pPr indent="0" marL="0">
              <a:buNone/>
            </a:pPr>
            <a:r>
              <a:rPr lang="en-US" sz="1000" i="1" dirty="0">
                <a:solidFill>
                  <a:srgbClr val="AABBCC"/>
                </a:solidFill>
                <a:latin typeface="Calibri" pitchFamily="34" charset="0"/>
                <a:ea typeface="Calibri" pitchFamily="34" charset="-122"/>
                <a:cs typeface="Calibri" pitchFamily="34" charset="-120"/>
              </a:rPr>
              <a:t>"MVC es el patrón más importante para el desarrollo web. Es como la organización interna del Almacén Don José: el bodeguero maneja el inventario real (Modelo), el vendedor atiende al cliente y toma decisiones (Controlador), y la vitrina muestra los productos atractivamente (Vista). Cada uno hace su trabajo sin meterse en el del otro. En Java web, esta separación nos permite crear aplicaciones profesionales, limpias y escalables."</a:t>
            </a:r>
            <a:endParaRPr lang="en-US" sz="1000" dirty="0"/>
          </a:p>
        </p:txBody>
      </p:sp>
      <p:sp>
        <p:nvSpPr>
          <p:cNvPr id="17" name="Shape 15"/>
          <p:cNvSpPr/>
          <p:nvPr/>
        </p:nvSpPr>
        <p:spPr>
          <a:xfrm>
            <a:off x="0" y="4846320"/>
            <a:ext cx="9144000" cy="297180"/>
          </a:xfrm>
          <a:prstGeom prst="rect">
            <a:avLst/>
          </a:prstGeom>
          <a:solidFill>
            <a:srgbClr val="1F3864"/>
          </a:solidFill>
          <a:ln w="12700">
            <a:solidFill>
              <a:srgbClr val="1F3864"/>
            </a:solidFill>
            <a:prstDash val="solid"/>
          </a:ln>
        </p:spPr>
      </p:sp>
      <p:sp>
        <p:nvSpPr>
          <p:cNvPr id="18" name="Text 16"/>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19" name="Text 17"/>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31/32</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39A900"/>
          </a:solidFill>
          <a:ln w="12700">
            <a:solidFill>
              <a:srgbClr val="39A900"/>
            </a:solidFill>
            <a:prstDash val="solid"/>
          </a:ln>
        </p:spPr>
      </p:sp>
      <p:sp>
        <p:nvSpPr>
          <p:cNvPr id="3" name="Shape 1"/>
          <p:cNvSpPr/>
          <p:nvPr/>
        </p:nvSpPr>
        <p:spPr>
          <a:xfrm>
            <a:off x="6583680" y="109728"/>
            <a:ext cx="2560320" cy="5033772"/>
          </a:xfrm>
          <a:prstGeom prst="rect">
            <a:avLst/>
          </a:prstGeom>
          <a:solidFill>
            <a:srgbClr val="071219"/>
          </a:solidFill>
          <a:ln w="12700">
            <a:solidFill>
              <a:srgbClr val="071219"/>
            </a:solidFill>
            <a:prstDash val="solid"/>
          </a:ln>
        </p:spPr>
      </p:sp>
      <p:sp>
        <p:nvSpPr>
          <p:cNvPr id="4" name="Shape 2"/>
          <p:cNvSpPr/>
          <p:nvPr/>
        </p:nvSpPr>
        <p:spPr>
          <a:xfrm>
            <a:off x="6693408" y="731520"/>
            <a:ext cx="54864" cy="3200400"/>
          </a:xfrm>
          <a:prstGeom prst="rect">
            <a:avLst/>
          </a:prstGeom>
          <a:solidFill>
            <a:srgbClr val="39A900"/>
          </a:solidFill>
          <a:ln w="12700">
            <a:solidFill>
              <a:srgbClr val="39A900"/>
            </a:solidFill>
            <a:prstDash val="solid"/>
          </a:ln>
        </p:spPr>
      </p:sp>
      <p:sp>
        <p:nvSpPr>
          <p:cNvPr id="5" name="Text 3"/>
          <p:cNvSpPr/>
          <p:nvPr/>
        </p:nvSpPr>
        <p:spPr>
          <a:xfrm>
            <a:off x="457200" y="822960"/>
            <a:ext cx="5943600" cy="914400"/>
          </a:xfrm>
          <a:prstGeom prst="rect">
            <a:avLst/>
          </a:prstGeom>
          <a:noFill/>
          <a:ln/>
        </p:spPr>
        <p:txBody>
          <a:bodyPr wrap="square" rtlCol="0" anchor="ctr"/>
          <a:lstStyle/>
          <a:p>
            <a:pPr indent="0" marL="0">
              <a:buNone/>
            </a:pPr>
            <a:r>
              <a:rPr lang="en-US" sz="5400" b="1" dirty="0">
                <a:solidFill>
                  <a:srgbClr val="FFFFFF"/>
                </a:solidFill>
                <a:latin typeface="Calibri Black" pitchFamily="34" charset="0"/>
                <a:ea typeface="Calibri Black" pitchFamily="34" charset="-122"/>
                <a:cs typeface="Calibri Black" pitchFamily="34" charset="-120"/>
              </a:rPr>
              <a:t>Gracias</a:t>
            </a:r>
            <a:endParaRPr lang="en-US" sz="5400" dirty="0"/>
          </a:p>
        </p:txBody>
      </p:sp>
      <p:sp>
        <p:nvSpPr>
          <p:cNvPr id="6" name="Text 4"/>
          <p:cNvSpPr/>
          <p:nvPr/>
        </p:nvSpPr>
        <p:spPr>
          <a:xfrm>
            <a:off x="457200" y="1691640"/>
            <a:ext cx="5943600" cy="685800"/>
          </a:xfrm>
          <a:prstGeom prst="rect">
            <a:avLst/>
          </a:prstGeom>
          <a:noFill/>
          <a:ln/>
        </p:spPr>
        <p:txBody>
          <a:bodyPr wrap="square" rtlCol="0" anchor="ctr"/>
          <a:lstStyle/>
          <a:p>
            <a:pPr indent="0" marL="0">
              <a:buNone/>
            </a:pPr>
            <a:r>
              <a:rPr lang="en-US" sz="3000" b="1" dirty="0">
                <a:solidFill>
                  <a:srgbClr val="39A900"/>
                </a:solidFill>
                <a:latin typeface="Calibri" pitchFamily="34" charset="0"/>
                <a:ea typeface="Calibri" pitchFamily="34" charset="-122"/>
                <a:cs typeface="Calibri" pitchFamily="34" charset="-120"/>
              </a:rPr>
              <a:t>¿Preguntas?</a:t>
            </a:r>
            <a:endParaRPr lang="en-US" sz="3000" dirty="0"/>
          </a:p>
        </p:txBody>
      </p:sp>
      <p:sp>
        <p:nvSpPr>
          <p:cNvPr id="7" name="Shape 5"/>
          <p:cNvSpPr/>
          <p:nvPr/>
        </p:nvSpPr>
        <p:spPr>
          <a:xfrm>
            <a:off x="457200" y="2468880"/>
            <a:ext cx="5943600" cy="0"/>
          </a:xfrm>
          <a:prstGeom prst="line">
            <a:avLst/>
          </a:prstGeom>
          <a:noFill/>
          <a:ln w="25400">
            <a:solidFill>
              <a:srgbClr val="39A900"/>
            </a:solidFill>
            <a:prstDash val="solid"/>
          </a:ln>
        </p:spPr>
      </p:sp>
      <p:sp>
        <p:nvSpPr>
          <p:cNvPr id="8" name="Text 6"/>
          <p:cNvSpPr/>
          <p:nvPr/>
        </p:nvSpPr>
        <p:spPr>
          <a:xfrm>
            <a:off x="457200" y="2606040"/>
            <a:ext cx="5943600" cy="320040"/>
          </a:xfrm>
          <a:prstGeom prst="rect">
            <a:avLst/>
          </a:prstGeom>
          <a:noFill/>
          <a:ln/>
        </p:spPr>
        <p:txBody>
          <a:bodyPr wrap="square" rtlCol="0" anchor="ctr"/>
          <a:lstStyle/>
          <a:p>
            <a:pPr indent="0" marL="0">
              <a:buNone/>
            </a:pPr>
            <a:r>
              <a:rPr lang="en-US" sz="1400" b="1" dirty="0">
                <a:solidFill>
                  <a:srgbClr val="7A9CC0"/>
                </a:solidFill>
                <a:latin typeface="Calibri" pitchFamily="34" charset="0"/>
                <a:ea typeface="Calibri" pitchFamily="34" charset="-122"/>
                <a:cs typeface="Calibri" pitchFamily="34" charset="-120"/>
              </a:rPr>
              <a:t>Patrones expuestos:</a:t>
            </a:r>
            <a:endParaRPr lang="en-US" sz="1400" dirty="0"/>
          </a:p>
        </p:txBody>
      </p:sp>
      <p:sp>
        <p:nvSpPr>
          <p:cNvPr id="9" name="Shape 7"/>
          <p:cNvSpPr/>
          <p:nvPr/>
        </p:nvSpPr>
        <p:spPr>
          <a:xfrm>
            <a:off x="457200" y="2999232"/>
            <a:ext cx="1097280" cy="502920"/>
          </a:xfrm>
          <a:prstGeom prst="rect">
            <a:avLst/>
          </a:prstGeom>
          <a:solidFill>
            <a:srgbClr val="1F3864"/>
          </a:solidFill>
          <a:ln w="12700">
            <a:solidFill>
              <a:srgbClr val="39A900"/>
            </a:solidFill>
            <a:prstDash val="solid"/>
          </a:ln>
        </p:spPr>
      </p:sp>
      <p:sp>
        <p:nvSpPr>
          <p:cNvPr id="10" name="Text 8"/>
          <p:cNvSpPr/>
          <p:nvPr/>
        </p:nvSpPr>
        <p:spPr>
          <a:xfrm>
            <a:off x="457200" y="2999232"/>
            <a:ext cx="1097280" cy="502920"/>
          </a:xfrm>
          <a:prstGeom prst="rect">
            <a:avLst/>
          </a:prstGeom>
          <a:noFill/>
          <a:ln/>
        </p:spPr>
        <p:txBody>
          <a:bodyPr wrap="square"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Factory Method</a:t>
            </a:r>
            <a:endParaRPr lang="en-US" sz="850" dirty="0"/>
          </a:p>
        </p:txBody>
      </p:sp>
      <p:sp>
        <p:nvSpPr>
          <p:cNvPr id="11" name="Shape 9"/>
          <p:cNvSpPr/>
          <p:nvPr/>
        </p:nvSpPr>
        <p:spPr>
          <a:xfrm>
            <a:off x="1627632" y="2999232"/>
            <a:ext cx="1097280" cy="502920"/>
          </a:xfrm>
          <a:prstGeom prst="rect">
            <a:avLst/>
          </a:prstGeom>
          <a:solidFill>
            <a:srgbClr val="1F3864"/>
          </a:solidFill>
          <a:ln w="12700">
            <a:solidFill>
              <a:srgbClr val="39A900"/>
            </a:solidFill>
            <a:prstDash val="solid"/>
          </a:ln>
        </p:spPr>
      </p:sp>
      <p:sp>
        <p:nvSpPr>
          <p:cNvPr id="12" name="Text 10"/>
          <p:cNvSpPr/>
          <p:nvPr/>
        </p:nvSpPr>
        <p:spPr>
          <a:xfrm>
            <a:off x="1627632" y="2999232"/>
            <a:ext cx="1097280" cy="502920"/>
          </a:xfrm>
          <a:prstGeom prst="rect">
            <a:avLst/>
          </a:prstGeom>
          <a:noFill/>
          <a:ln/>
        </p:spPr>
        <p:txBody>
          <a:bodyPr wrap="square"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Abstract Factory</a:t>
            </a:r>
            <a:endParaRPr lang="en-US" sz="850" dirty="0"/>
          </a:p>
        </p:txBody>
      </p:sp>
      <p:sp>
        <p:nvSpPr>
          <p:cNvPr id="13" name="Shape 11"/>
          <p:cNvSpPr/>
          <p:nvPr/>
        </p:nvSpPr>
        <p:spPr>
          <a:xfrm>
            <a:off x="2798064" y="2999232"/>
            <a:ext cx="1097280" cy="502920"/>
          </a:xfrm>
          <a:prstGeom prst="rect">
            <a:avLst/>
          </a:prstGeom>
          <a:solidFill>
            <a:srgbClr val="1F3864"/>
          </a:solidFill>
          <a:ln w="12700">
            <a:solidFill>
              <a:srgbClr val="39A900"/>
            </a:solidFill>
            <a:prstDash val="solid"/>
          </a:ln>
        </p:spPr>
      </p:sp>
      <p:sp>
        <p:nvSpPr>
          <p:cNvPr id="14" name="Text 12"/>
          <p:cNvSpPr/>
          <p:nvPr/>
        </p:nvSpPr>
        <p:spPr>
          <a:xfrm>
            <a:off x="2798064" y="2999232"/>
            <a:ext cx="1097280" cy="502920"/>
          </a:xfrm>
          <a:prstGeom prst="rect">
            <a:avLst/>
          </a:prstGeom>
          <a:noFill/>
          <a:ln/>
        </p:spPr>
        <p:txBody>
          <a:bodyPr wrap="square"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Builder</a:t>
            </a:r>
            <a:endParaRPr lang="en-US" sz="850" dirty="0"/>
          </a:p>
        </p:txBody>
      </p:sp>
      <p:sp>
        <p:nvSpPr>
          <p:cNvPr id="15" name="Shape 13"/>
          <p:cNvSpPr/>
          <p:nvPr/>
        </p:nvSpPr>
        <p:spPr>
          <a:xfrm>
            <a:off x="3968496" y="2999232"/>
            <a:ext cx="1097280" cy="502920"/>
          </a:xfrm>
          <a:prstGeom prst="rect">
            <a:avLst/>
          </a:prstGeom>
          <a:solidFill>
            <a:srgbClr val="1F3864"/>
          </a:solidFill>
          <a:ln w="12700">
            <a:solidFill>
              <a:srgbClr val="39A900"/>
            </a:solidFill>
            <a:prstDash val="solid"/>
          </a:ln>
        </p:spPr>
      </p:sp>
      <p:sp>
        <p:nvSpPr>
          <p:cNvPr id="16" name="Text 14"/>
          <p:cNvSpPr/>
          <p:nvPr/>
        </p:nvSpPr>
        <p:spPr>
          <a:xfrm>
            <a:off x="3968496" y="2999232"/>
            <a:ext cx="1097280" cy="502920"/>
          </a:xfrm>
          <a:prstGeom prst="rect">
            <a:avLst/>
          </a:prstGeom>
          <a:noFill/>
          <a:ln/>
        </p:spPr>
        <p:txBody>
          <a:bodyPr wrap="square"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Singleton</a:t>
            </a:r>
            <a:endParaRPr lang="en-US" sz="850" dirty="0"/>
          </a:p>
        </p:txBody>
      </p:sp>
      <p:sp>
        <p:nvSpPr>
          <p:cNvPr id="17" name="Shape 15"/>
          <p:cNvSpPr/>
          <p:nvPr/>
        </p:nvSpPr>
        <p:spPr>
          <a:xfrm>
            <a:off x="5138928" y="2999232"/>
            <a:ext cx="1097280" cy="502920"/>
          </a:xfrm>
          <a:prstGeom prst="rect">
            <a:avLst/>
          </a:prstGeom>
          <a:solidFill>
            <a:srgbClr val="1F3864"/>
          </a:solidFill>
          <a:ln w="12700">
            <a:solidFill>
              <a:srgbClr val="39A900"/>
            </a:solidFill>
            <a:prstDash val="solid"/>
          </a:ln>
        </p:spPr>
      </p:sp>
      <p:sp>
        <p:nvSpPr>
          <p:cNvPr id="18" name="Text 16"/>
          <p:cNvSpPr/>
          <p:nvPr/>
        </p:nvSpPr>
        <p:spPr>
          <a:xfrm>
            <a:off x="5138928" y="2999232"/>
            <a:ext cx="1097280" cy="502920"/>
          </a:xfrm>
          <a:prstGeom prst="rect">
            <a:avLst/>
          </a:prstGeom>
          <a:noFill/>
          <a:ln/>
        </p:spPr>
        <p:txBody>
          <a:bodyPr wrap="square"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MVC</a:t>
            </a:r>
            <a:endParaRPr lang="en-US" sz="850" dirty="0"/>
          </a:p>
        </p:txBody>
      </p:sp>
      <p:sp>
        <p:nvSpPr>
          <p:cNvPr id="19" name="Text 17"/>
          <p:cNvSpPr/>
          <p:nvPr/>
        </p:nvSpPr>
        <p:spPr>
          <a:xfrm>
            <a:off x="457200" y="3749040"/>
            <a:ext cx="5943600" cy="640080"/>
          </a:xfrm>
          <a:prstGeom prst="rect">
            <a:avLst/>
          </a:prstGeom>
          <a:noFill/>
          <a:ln/>
        </p:spPr>
        <p:txBody>
          <a:bodyPr wrap="square" rtlCol="0" anchor="ctr"/>
          <a:lstStyle/>
          <a:p>
            <a:pPr indent="0" marL="0">
              <a:buNone/>
            </a:pPr>
            <a:r>
              <a:rPr lang="en-US" sz="1200" dirty="0">
                <a:solidFill>
                  <a:srgbClr val="7A9CC0"/>
                </a:solidFill>
                <a:latin typeface="Calibri" pitchFamily="34" charset="0"/>
                <a:ea typeface="Calibri" pitchFamily="34" charset="-122"/>
                <a:cs typeface="Calibri" pitchFamily="34" charset="-120"/>
              </a:rPr>
              <a:t>Grupo 1: Reinaldo  •  Joan  •  Steven</a:t>
            </a:r>
            <a:endParaRPr lang="en-US" sz="1200" dirty="0"/>
          </a:p>
          <a:p>
            <a:pPr indent="0" marL="0">
              <a:buNone/>
            </a:pPr>
            <a:r>
              <a:rPr lang="en-US" sz="1200" dirty="0">
                <a:solidFill>
                  <a:srgbClr val="7A9CC0"/>
                </a:solidFill>
                <a:latin typeface="Calibri" pitchFamily="34" charset="0"/>
                <a:ea typeface="Calibri" pitchFamily="34" charset="-122"/>
                <a:cs typeface="Calibri" pitchFamily="34" charset="-120"/>
              </a:rPr>
              <a:t>Tecnología ADSO  |  Ficha 3171062  |  SENA Boyacá  |  2026</a:t>
            </a:r>
            <a:endParaRPr lang="en-US" sz="1200" dirty="0"/>
          </a:p>
        </p:txBody>
      </p:sp>
      <p:sp>
        <p:nvSpPr>
          <p:cNvPr id="20" name="Shape 18"/>
          <p:cNvSpPr/>
          <p:nvPr/>
        </p:nvSpPr>
        <p:spPr>
          <a:xfrm>
            <a:off x="6812280" y="731520"/>
            <a:ext cx="2148840" cy="658368"/>
          </a:xfrm>
          <a:prstGeom prst="rect">
            <a:avLst/>
          </a:prstGeom>
          <a:solidFill>
            <a:srgbClr val="1F3864">
              <a:alpha val="60000"/>
            </a:srgbClr>
          </a:solidFill>
          <a:ln w="12700">
            <a:solidFill>
              <a:srgbClr val="2A4A6A"/>
            </a:solidFill>
            <a:prstDash val="solid"/>
          </a:ln>
        </p:spPr>
      </p:sp>
      <p:sp>
        <p:nvSpPr>
          <p:cNvPr id="21" name="Text 19"/>
          <p:cNvSpPr/>
          <p:nvPr/>
        </p:nvSpPr>
        <p:spPr>
          <a:xfrm>
            <a:off x="6812280" y="731520"/>
            <a:ext cx="2148840" cy="658368"/>
          </a:xfrm>
          <a:prstGeom prst="rect">
            <a:avLst/>
          </a:prstGeom>
          <a:noFill/>
          <a:ln/>
        </p:spPr>
        <p:txBody>
          <a:bodyPr wrap="square" rtlCol="0" anchor="ctr"/>
          <a:lstStyle/>
          <a:p>
            <a:pPr algn="ctr" indent="0" marL="0">
              <a:buNone/>
            </a:pPr>
            <a:r>
              <a:rPr lang="en-US" sz="1000" dirty="0">
                <a:solidFill>
                  <a:srgbClr val="AABBCC"/>
                </a:solidFill>
                <a:latin typeface="Calibri" pitchFamily="34" charset="0"/>
                <a:ea typeface="Calibri" pitchFamily="34" charset="-122"/>
                <a:cs typeface="Calibri" pitchFamily="34" charset="-120"/>
              </a:rPr>
              <a:t>Factory</a:t>
            </a:r>
            <a:endParaRPr lang="en-US" sz="1000" dirty="0"/>
          </a:p>
          <a:p>
            <a:pPr algn="ctr" indent="0" marL="0">
              <a:buNone/>
            </a:pPr>
            <a:r>
              <a:rPr lang="en-US" sz="1000" dirty="0">
                <a:solidFill>
                  <a:srgbClr val="AABBCC"/>
                </a:solidFill>
                <a:latin typeface="Calibri" pitchFamily="34" charset="0"/>
                <a:ea typeface="Calibri" pitchFamily="34" charset="-122"/>
                <a:cs typeface="Calibri" pitchFamily="34" charset="-120"/>
              </a:rPr>
              <a:t>Method</a:t>
            </a:r>
            <a:endParaRPr lang="en-US" sz="1000" dirty="0"/>
          </a:p>
        </p:txBody>
      </p:sp>
      <p:sp>
        <p:nvSpPr>
          <p:cNvPr id="22" name="Shape 20"/>
          <p:cNvSpPr/>
          <p:nvPr/>
        </p:nvSpPr>
        <p:spPr>
          <a:xfrm>
            <a:off x="6812280" y="1481328"/>
            <a:ext cx="2148840" cy="658368"/>
          </a:xfrm>
          <a:prstGeom prst="rect">
            <a:avLst/>
          </a:prstGeom>
          <a:solidFill>
            <a:srgbClr val="1F3864">
              <a:alpha val="60000"/>
            </a:srgbClr>
          </a:solidFill>
          <a:ln w="12700">
            <a:solidFill>
              <a:srgbClr val="2A4A6A"/>
            </a:solidFill>
            <a:prstDash val="solid"/>
          </a:ln>
        </p:spPr>
      </p:sp>
      <p:sp>
        <p:nvSpPr>
          <p:cNvPr id="23" name="Text 21"/>
          <p:cNvSpPr/>
          <p:nvPr/>
        </p:nvSpPr>
        <p:spPr>
          <a:xfrm>
            <a:off x="6812280" y="1481328"/>
            <a:ext cx="2148840" cy="658368"/>
          </a:xfrm>
          <a:prstGeom prst="rect">
            <a:avLst/>
          </a:prstGeom>
          <a:noFill/>
          <a:ln/>
        </p:spPr>
        <p:txBody>
          <a:bodyPr wrap="square" rtlCol="0" anchor="ctr"/>
          <a:lstStyle/>
          <a:p>
            <a:pPr algn="ctr" indent="0" marL="0">
              <a:buNone/>
            </a:pPr>
            <a:r>
              <a:rPr lang="en-US" sz="1000" dirty="0">
                <a:solidFill>
                  <a:srgbClr val="AABBCC"/>
                </a:solidFill>
                <a:latin typeface="Calibri" pitchFamily="34" charset="0"/>
                <a:ea typeface="Calibri" pitchFamily="34" charset="-122"/>
                <a:cs typeface="Calibri" pitchFamily="34" charset="-120"/>
              </a:rPr>
              <a:t>Abstract</a:t>
            </a:r>
            <a:endParaRPr lang="en-US" sz="1000" dirty="0"/>
          </a:p>
          <a:p>
            <a:pPr algn="ctr" indent="0" marL="0">
              <a:buNone/>
            </a:pPr>
            <a:r>
              <a:rPr lang="en-US" sz="1000" dirty="0">
                <a:solidFill>
                  <a:srgbClr val="AABBCC"/>
                </a:solidFill>
                <a:latin typeface="Calibri" pitchFamily="34" charset="0"/>
                <a:ea typeface="Calibri" pitchFamily="34" charset="-122"/>
                <a:cs typeface="Calibri" pitchFamily="34" charset="-120"/>
              </a:rPr>
              <a:t>Factory</a:t>
            </a:r>
            <a:endParaRPr lang="en-US" sz="1000" dirty="0"/>
          </a:p>
        </p:txBody>
      </p:sp>
      <p:sp>
        <p:nvSpPr>
          <p:cNvPr id="24" name="Shape 22"/>
          <p:cNvSpPr/>
          <p:nvPr/>
        </p:nvSpPr>
        <p:spPr>
          <a:xfrm>
            <a:off x="6812280" y="2231136"/>
            <a:ext cx="2148840" cy="658368"/>
          </a:xfrm>
          <a:prstGeom prst="rect">
            <a:avLst/>
          </a:prstGeom>
          <a:solidFill>
            <a:srgbClr val="1F3864">
              <a:alpha val="60000"/>
            </a:srgbClr>
          </a:solidFill>
          <a:ln w="12700">
            <a:solidFill>
              <a:srgbClr val="2A4A6A"/>
            </a:solidFill>
            <a:prstDash val="solid"/>
          </a:ln>
        </p:spPr>
      </p:sp>
      <p:sp>
        <p:nvSpPr>
          <p:cNvPr id="25" name="Text 23"/>
          <p:cNvSpPr/>
          <p:nvPr/>
        </p:nvSpPr>
        <p:spPr>
          <a:xfrm>
            <a:off x="6812280" y="2231136"/>
            <a:ext cx="2148840" cy="658368"/>
          </a:xfrm>
          <a:prstGeom prst="rect">
            <a:avLst/>
          </a:prstGeom>
          <a:noFill/>
          <a:ln/>
        </p:spPr>
        <p:txBody>
          <a:bodyPr wrap="square" rtlCol="0" anchor="ctr"/>
          <a:lstStyle/>
          <a:p>
            <a:pPr algn="ctr" indent="0" marL="0">
              <a:buNone/>
            </a:pPr>
            <a:r>
              <a:rPr lang="en-US" sz="1000" dirty="0">
                <a:solidFill>
                  <a:srgbClr val="AABBCC"/>
                </a:solidFill>
                <a:latin typeface="Calibri" pitchFamily="34" charset="0"/>
                <a:ea typeface="Calibri" pitchFamily="34" charset="-122"/>
                <a:cs typeface="Calibri" pitchFamily="34" charset="-120"/>
              </a:rPr>
              <a:t>Builder</a:t>
            </a:r>
            <a:endParaRPr lang="en-US" sz="1000" dirty="0"/>
          </a:p>
        </p:txBody>
      </p:sp>
      <p:sp>
        <p:nvSpPr>
          <p:cNvPr id="26" name="Shape 24"/>
          <p:cNvSpPr/>
          <p:nvPr/>
        </p:nvSpPr>
        <p:spPr>
          <a:xfrm>
            <a:off x="6812280" y="2980944"/>
            <a:ext cx="2148840" cy="658368"/>
          </a:xfrm>
          <a:prstGeom prst="rect">
            <a:avLst/>
          </a:prstGeom>
          <a:solidFill>
            <a:srgbClr val="1F3864">
              <a:alpha val="60000"/>
            </a:srgbClr>
          </a:solidFill>
          <a:ln w="12700">
            <a:solidFill>
              <a:srgbClr val="2A4A6A"/>
            </a:solidFill>
            <a:prstDash val="solid"/>
          </a:ln>
        </p:spPr>
      </p:sp>
      <p:sp>
        <p:nvSpPr>
          <p:cNvPr id="27" name="Text 25"/>
          <p:cNvSpPr/>
          <p:nvPr/>
        </p:nvSpPr>
        <p:spPr>
          <a:xfrm>
            <a:off x="6812280" y="2980944"/>
            <a:ext cx="2148840" cy="658368"/>
          </a:xfrm>
          <a:prstGeom prst="rect">
            <a:avLst/>
          </a:prstGeom>
          <a:noFill/>
          <a:ln/>
        </p:spPr>
        <p:txBody>
          <a:bodyPr wrap="square" rtlCol="0" anchor="ctr"/>
          <a:lstStyle/>
          <a:p>
            <a:pPr algn="ctr" indent="0" marL="0">
              <a:buNone/>
            </a:pPr>
            <a:r>
              <a:rPr lang="en-US" sz="1000" dirty="0">
                <a:solidFill>
                  <a:srgbClr val="AABBCC"/>
                </a:solidFill>
                <a:latin typeface="Calibri" pitchFamily="34" charset="0"/>
                <a:ea typeface="Calibri" pitchFamily="34" charset="-122"/>
                <a:cs typeface="Calibri" pitchFamily="34" charset="-120"/>
              </a:rPr>
              <a:t>Singleton</a:t>
            </a:r>
            <a:endParaRPr lang="en-US" sz="1000" dirty="0"/>
          </a:p>
        </p:txBody>
      </p:sp>
      <p:sp>
        <p:nvSpPr>
          <p:cNvPr id="28" name="Shape 26"/>
          <p:cNvSpPr/>
          <p:nvPr/>
        </p:nvSpPr>
        <p:spPr>
          <a:xfrm>
            <a:off x="6812280" y="3730752"/>
            <a:ext cx="2148840" cy="658368"/>
          </a:xfrm>
          <a:prstGeom prst="rect">
            <a:avLst/>
          </a:prstGeom>
          <a:solidFill>
            <a:srgbClr val="1F3864">
              <a:alpha val="60000"/>
            </a:srgbClr>
          </a:solidFill>
          <a:ln w="12700">
            <a:solidFill>
              <a:srgbClr val="2A4A6A"/>
            </a:solidFill>
            <a:prstDash val="solid"/>
          </a:ln>
        </p:spPr>
      </p:sp>
      <p:sp>
        <p:nvSpPr>
          <p:cNvPr id="29" name="Text 27"/>
          <p:cNvSpPr/>
          <p:nvPr/>
        </p:nvSpPr>
        <p:spPr>
          <a:xfrm>
            <a:off x="6812280" y="3730752"/>
            <a:ext cx="2148840" cy="658368"/>
          </a:xfrm>
          <a:prstGeom prst="rect">
            <a:avLst/>
          </a:prstGeom>
          <a:noFill/>
          <a:ln/>
        </p:spPr>
        <p:txBody>
          <a:bodyPr wrap="square" rtlCol="0" anchor="ctr"/>
          <a:lstStyle/>
          <a:p>
            <a:pPr algn="ctr" indent="0" marL="0">
              <a:buNone/>
            </a:pPr>
            <a:r>
              <a:rPr lang="en-US" sz="1000" dirty="0">
                <a:solidFill>
                  <a:srgbClr val="AABBCC"/>
                </a:solidFill>
                <a:latin typeface="Calibri" pitchFamily="34" charset="0"/>
                <a:ea typeface="Calibri" pitchFamily="34" charset="-122"/>
                <a:cs typeface="Calibri" pitchFamily="34" charset="-120"/>
              </a:rPr>
              <a:t>MVC</a:t>
            </a:r>
            <a:endParaRPr lang="en-US" sz="1000" dirty="0"/>
          </a:p>
        </p:txBody>
      </p:sp>
      <p:sp>
        <p:nvSpPr>
          <p:cNvPr id="30" name="Shape 28"/>
          <p:cNvSpPr/>
          <p:nvPr/>
        </p:nvSpPr>
        <p:spPr>
          <a:xfrm>
            <a:off x="0" y="4846320"/>
            <a:ext cx="9144000" cy="297180"/>
          </a:xfrm>
          <a:prstGeom prst="rect">
            <a:avLst/>
          </a:prstGeom>
          <a:solidFill>
            <a:srgbClr val="1F3864"/>
          </a:solidFill>
          <a:ln w="12700">
            <a:solidFill>
              <a:srgbClr val="1F3864"/>
            </a:solidFill>
            <a:prstDash val="solid"/>
          </a:ln>
        </p:spPr>
      </p:sp>
      <p:sp>
        <p:nvSpPr>
          <p:cNvPr id="31" name="Text 29"/>
          <p:cNvSpPr/>
          <p:nvPr/>
        </p:nvSpPr>
        <p:spPr>
          <a:xfrm>
            <a:off x="182880" y="4864608"/>
            <a:ext cx="4572000" cy="256032"/>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Grupo 1: Reinaldo | Joan | Steven</a:t>
            </a:r>
            <a:endParaRPr lang="en-US" sz="900" dirty="0"/>
          </a:p>
        </p:txBody>
      </p:sp>
      <p:sp>
        <p:nvSpPr>
          <p:cNvPr id="32" name="Text 30"/>
          <p:cNvSpPr/>
          <p:nvPr/>
        </p:nvSpPr>
        <p:spPr>
          <a:xfrm>
            <a:off x="4572000" y="4864608"/>
            <a:ext cx="4389120" cy="256032"/>
          </a:xfrm>
          <a:prstGeom prst="rect">
            <a:avLst/>
          </a:prstGeom>
          <a:noFill/>
          <a:ln/>
        </p:spPr>
        <p:txBody>
          <a:bodyPr wrap="square" rtlCol="0" anchor="ctr"/>
          <a:lstStyle/>
          <a:p>
            <a:pPr algn="r" indent="0" marL="0">
              <a:buNone/>
            </a:pPr>
            <a:r>
              <a:rPr lang="en-US" sz="900" dirty="0">
                <a:solidFill>
                  <a:srgbClr val="AABBCC"/>
                </a:solidFill>
                <a:latin typeface="Calibri" pitchFamily="34" charset="0"/>
                <a:ea typeface="Calibri" pitchFamily="34" charset="-122"/>
                <a:cs typeface="Calibri" pitchFamily="34" charset="-120"/>
              </a:rPr>
              <a:t>SENA ADSO – Boyacá  |  32/32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Patrones de Diseño en Java - Grupo 1</dc:title>
  <dc:subject>PptxGenJS Presentation</dc:subject>
  <dc:creator>Grupo 1 ADSO - SENA Boyacá</dc:creator>
  <cp:lastModifiedBy>Grupo 1 ADSO - SENA Boyacá</cp:lastModifiedBy>
  <cp:revision>1</cp:revision>
  <dcterms:created xsi:type="dcterms:W3CDTF">2026-03-09T03:19:37Z</dcterms:created>
  <dcterms:modified xsi:type="dcterms:W3CDTF">2026-03-09T03:19:37Z</dcterms:modified>
</cp:coreProperties>
</file>